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6A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28ECBF-1430-4417-97E4-527559FD6688}" v="13" dt="2025-06-18T09:19:49.3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809"/>
  </p:normalViewPr>
  <p:slideViewPr>
    <p:cSldViewPr snapToGrid="0">
      <p:cViewPr varScale="1">
        <p:scale>
          <a:sx n="98" d="100"/>
          <a:sy n="98" d="100"/>
        </p:scale>
        <p:origin x="990" y="8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Hood (Strategy Unit, hosted by ML)" userId="8780178f-c962-4518-a070-fd8292572a75" providerId="ADAL" clId="{E72D8CBD-7F55-4E73-B78B-87C48FFD91A2}"/>
    <pc:docChg chg="modSld">
      <pc:chgData name="Andrew Hood (Strategy Unit, hosted by ML)" userId="8780178f-c962-4518-a070-fd8292572a75" providerId="ADAL" clId="{E72D8CBD-7F55-4E73-B78B-87C48FFD91A2}" dt="2025-06-11T15:33:16.993" v="5" actId="20577"/>
      <pc:docMkLst>
        <pc:docMk/>
      </pc:docMkLst>
      <pc:sldChg chg="modSp mod">
        <pc:chgData name="Andrew Hood (Strategy Unit, hosted by ML)" userId="8780178f-c962-4518-a070-fd8292572a75" providerId="ADAL" clId="{E72D8CBD-7F55-4E73-B78B-87C48FFD91A2}" dt="2025-06-11T15:33:16.993" v="5" actId="20577"/>
        <pc:sldMkLst>
          <pc:docMk/>
          <pc:sldMk cId="0" sldId="294"/>
        </pc:sldMkLst>
        <pc:spChg chg="mod">
          <ac:chgData name="Andrew Hood (Strategy Unit, hosted by ML)" userId="8780178f-c962-4518-a070-fd8292572a75" providerId="ADAL" clId="{E72D8CBD-7F55-4E73-B78B-87C48FFD91A2}" dt="2025-06-11T15:33:16.993" v="5" actId="20577"/>
          <ac:spMkLst>
            <pc:docMk/>
            <pc:sldMk cId="0" sldId="294"/>
            <ac:spMk id="3" creationId="{00000000-0000-0000-0000-000000000000}"/>
          </ac:spMkLst>
        </pc:spChg>
      </pc:sldChg>
    </pc:docChg>
  </pc:docChgLst>
  <pc:docChgLst>
    <pc:chgData name="Andrew Hood (Strategy Unit, hosted by ML)" userId="8780178f-c962-4518-a070-fd8292572a75" providerId="ADAL" clId="{F128ECBF-1430-4417-97E4-527559FD6688}"/>
    <pc:docChg chg="undo custSel modSld">
      <pc:chgData name="Andrew Hood (Strategy Unit, hosted by ML)" userId="8780178f-c962-4518-a070-fd8292572a75" providerId="ADAL" clId="{F128ECBF-1430-4417-97E4-527559FD6688}" dt="2025-06-18T09:20:51.556" v="630" actId="113"/>
      <pc:docMkLst>
        <pc:docMk/>
      </pc:docMkLst>
      <pc:sldChg chg="modSp mod">
        <pc:chgData name="Andrew Hood (Strategy Unit, hosted by ML)" userId="8780178f-c962-4518-a070-fd8292572a75" providerId="ADAL" clId="{F128ECBF-1430-4417-97E4-527559FD6688}" dt="2025-06-18T08:09:01.704" v="511" actId="20577"/>
        <pc:sldMkLst>
          <pc:docMk/>
          <pc:sldMk cId="0" sldId="258"/>
        </pc:sldMkLst>
        <pc:spChg chg="mod">
          <ac:chgData name="Andrew Hood (Strategy Unit, hosted by ML)" userId="8780178f-c962-4518-a070-fd8292572a75" providerId="ADAL" clId="{F128ECBF-1430-4417-97E4-527559FD6688}" dt="2025-06-18T08:09:01.704" v="511" actId="20577"/>
          <ac:spMkLst>
            <pc:docMk/>
            <pc:sldMk cId="0" sldId="258"/>
            <ac:spMk id="3" creationId="{00000000-0000-0000-0000-000000000000}"/>
          </ac:spMkLst>
        </pc:spChg>
      </pc:sldChg>
      <pc:sldChg chg="modSp mod">
        <pc:chgData name="Andrew Hood (Strategy Unit, hosted by ML)" userId="8780178f-c962-4518-a070-fd8292572a75" providerId="ADAL" clId="{F128ECBF-1430-4417-97E4-527559FD6688}" dt="2025-06-18T08:13:07.879" v="533" actId="6549"/>
        <pc:sldMkLst>
          <pc:docMk/>
          <pc:sldMk cId="0" sldId="259"/>
        </pc:sldMkLst>
        <pc:spChg chg="mod">
          <ac:chgData name="Andrew Hood (Strategy Unit, hosted by ML)" userId="8780178f-c962-4518-a070-fd8292572a75" providerId="ADAL" clId="{F128ECBF-1430-4417-97E4-527559FD6688}" dt="2025-06-18T08:13:07.879" v="533" actId="6549"/>
          <ac:spMkLst>
            <pc:docMk/>
            <pc:sldMk cId="0" sldId="259"/>
            <ac:spMk id="3" creationId="{00000000-0000-0000-0000-000000000000}"/>
          </ac:spMkLst>
        </pc:spChg>
      </pc:sldChg>
      <pc:sldChg chg="modSp mod">
        <pc:chgData name="Andrew Hood (Strategy Unit, hosted by ML)" userId="8780178f-c962-4518-a070-fd8292572a75" providerId="ADAL" clId="{F128ECBF-1430-4417-97E4-527559FD6688}" dt="2025-06-18T09:20:51.556" v="630" actId="113"/>
        <pc:sldMkLst>
          <pc:docMk/>
          <pc:sldMk cId="0" sldId="264"/>
        </pc:sldMkLst>
        <pc:spChg chg="mod">
          <ac:chgData name="Andrew Hood (Strategy Unit, hosted by ML)" userId="8780178f-c962-4518-a070-fd8292572a75" providerId="ADAL" clId="{F128ECBF-1430-4417-97E4-527559FD6688}" dt="2025-06-18T09:20:51.556" v="630" actId="113"/>
          <ac:spMkLst>
            <pc:docMk/>
            <pc:sldMk cId="0" sldId="264"/>
            <ac:spMk id="3" creationId="{00000000-0000-0000-0000-000000000000}"/>
          </ac:spMkLst>
        </pc:spChg>
      </pc:sldChg>
      <pc:sldChg chg="modSp mod">
        <pc:chgData name="Andrew Hood (Strategy Unit, hosted by ML)" userId="8780178f-c962-4518-a070-fd8292572a75" providerId="ADAL" clId="{F128ECBF-1430-4417-97E4-527559FD6688}" dt="2025-06-16T11:01:23.624" v="217" actId="115"/>
        <pc:sldMkLst>
          <pc:docMk/>
          <pc:sldMk cId="0" sldId="265"/>
        </pc:sldMkLst>
        <pc:spChg chg="mod">
          <ac:chgData name="Andrew Hood (Strategy Unit, hosted by ML)" userId="8780178f-c962-4518-a070-fd8292572a75" providerId="ADAL" clId="{F128ECBF-1430-4417-97E4-527559FD6688}" dt="2025-06-16T11:01:23.624" v="217" actId="115"/>
          <ac:spMkLst>
            <pc:docMk/>
            <pc:sldMk cId="0" sldId="265"/>
            <ac:spMk id="7" creationId="{DE622849-4EA7-24AE-DD96-E693EAA81594}"/>
          </ac:spMkLst>
        </pc:spChg>
        <pc:picChg chg="mod">
          <ac:chgData name="Andrew Hood (Strategy Unit, hosted by ML)" userId="8780178f-c962-4518-a070-fd8292572a75" providerId="ADAL" clId="{F128ECBF-1430-4417-97E4-527559FD6688}" dt="2025-06-16T10:56:55.894" v="17" actId="14100"/>
          <ac:picMkLst>
            <pc:docMk/>
            <pc:sldMk cId="0" sldId="265"/>
            <ac:picMk id="3" creationId="{00000000-0000-0000-0000-000000000000}"/>
          </ac:picMkLst>
        </pc:picChg>
      </pc:sldChg>
      <pc:sldChg chg="modSp mod">
        <pc:chgData name="Andrew Hood (Strategy Unit, hosted by ML)" userId="8780178f-c962-4518-a070-fd8292572a75" providerId="ADAL" clId="{F128ECBF-1430-4417-97E4-527559FD6688}" dt="2025-06-16T11:03:34.924" v="252" actId="20577"/>
        <pc:sldMkLst>
          <pc:docMk/>
          <pc:sldMk cId="0" sldId="266"/>
        </pc:sldMkLst>
        <pc:spChg chg="mod">
          <ac:chgData name="Andrew Hood (Strategy Unit, hosted by ML)" userId="8780178f-c962-4518-a070-fd8292572a75" providerId="ADAL" clId="{F128ECBF-1430-4417-97E4-527559FD6688}" dt="2025-06-16T11:03:34.924" v="252" actId="20577"/>
          <ac:spMkLst>
            <pc:docMk/>
            <pc:sldMk cId="0" sldId="266"/>
            <ac:spMk id="3" creationId="{00000000-0000-0000-0000-000000000000}"/>
          </ac:spMkLst>
        </pc:spChg>
      </pc:sldChg>
      <pc:sldChg chg="addSp delSp modSp mod">
        <pc:chgData name="Andrew Hood (Strategy Unit, hosted by ML)" userId="8780178f-c962-4518-a070-fd8292572a75" providerId="ADAL" clId="{F128ECBF-1430-4417-97E4-527559FD6688}" dt="2025-06-18T09:19:51.459" v="592" actId="478"/>
        <pc:sldMkLst>
          <pc:docMk/>
          <pc:sldMk cId="0" sldId="277"/>
        </pc:sldMkLst>
        <pc:picChg chg="del">
          <ac:chgData name="Andrew Hood (Strategy Unit, hosted by ML)" userId="8780178f-c962-4518-a070-fd8292572a75" providerId="ADAL" clId="{F128ECBF-1430-4417-97E4-527559FD6688}" dt="2025-06-18T09:19:51.459" v="592" actId="478"/>
          <ac:picMkLst>
            <pc:docMk/>
            <pc:sldMk cId="0" sldId="277"/>
            <ac:picMk id="4" creationId="{00000000-0000-0000-0000-000000000000}"/>
          </ac:picMkLst>
        </pc:picChg>
        <pc:picChg chg="add mod">
          <ac:chgData name="Andrew Hood (Strategy Unit, hosted by ML)" userId="8780178f-c962-4518-a070-fd8292572a75" providerId="ADAL" clId="{F128ECBF-1430-4417-97E4-527559FD6688}" dt="2025-06-18T09:19:49.375" v="591" actId="167"/>
          <ac:picMkLst>
            <pc:docMk/>
            <pc:sldMk cId="0" sldId="277"/>
            <ac:picMk id="1026" creationId="{94017216-6A6A-9D0E-4C24-AFE34062BE1B}"/>
          </ac:picMkLst>
        </pc:pic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userDrawn="1"/>
        </p:nvSpPr>
        <p:spPr>
          <a:xfrm>
            <a:off x="0" y="0"/>
            <a:ext cx="12192000" cy="4572001"/>
          </a:xfrm>
          <a:prstGeom prst="rect">
            <a:avLst/>
          </a:prstGeom>
          <a:solidFill>
            <a:srgbClr val="046AAA"/>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hasCustomPrompt="1"/>
          </p:nvPr>
        </p:nvSpPr>
        <p:spPr>
          <a:xfrm>
            <a:off x="457198" y="4624736"/>
            <a:ext cx="8406375" cy="1348983"/>
          </a:xfrm>
        </p:spPr>
        <p:txBody>
          <a:bodyPr anchor="ctr">
            <a:normAutofit/>
          </a:bodyPr>
          <a:lstStyle>
            <a:lvl1pPr algn="l">
              <a:defRPr sz="3600" spc="200" baseline="0"/>
            </a:lvl1pPr>
          </a:lstStyle>
          <a:p>
            <a:r>
              <a:rPr lang="en-GB" dirty="0"/>
              <a:t>Click to edit heading</a:t>
            </a:r>
            <a:endParaRPr lang="en-US" dirty="0"/>
          </a:p>
        </p:txBody>
      </p:sp>
      <p:sp>
        <p:nvSpPr>
          <p:cNvPr id="3" name="Subtitle 2"/>
          <p:cNvSpPr>
            <a:spLocks noGrp="1"/>
          </p:cNvSpPr>
          <p:nvPr>
            <p:ph type="subTitle" idx="1" hasCustomPrompt="1"/>
          </p:nvPr>
        </p:nvSpPr>
        <p:spPr>
          <a:xfrm>
            <a:off x="457199" y="6020353"/>
            <a:ext cx="8406374" cy="674129"/>
          </a:xfrm>
          <a:prstGeom prst="rect">
            <a:avLst/>
          </a:prstGeom>
        </p:spPr>
        <p:txBody>
          <a:bodyPr lIns="91440" rIns="91440" anchor="ctr">
            <a:normAutofit/>
          </a:bodyPr>
          <a:lstStyle>
            <a:lvl1pPr marL="0" indent="0" algn="l">
              <a:lnSpc>
                <a:spcPct val="100000"/>
              </a:lnSpc>
              <a:spcBef>
                <a:spcPts val="0"/>
              </a:spcBef>
              <a:buNone/>
              <a:defRPr sz="24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dirty="0"/>
              <a:t>Click to edit subtitle</a:t>
            </a:r>
            <a:endParaRPr lang="en-US" dirty="0"/>
          </a:p>
        </p:txBody>
      </p:sp>
      <p:cxnSp>
        <p:nvCxnSpPr>
          <p:cNvPr id="8" name="Straight Connector 7"/>
          <p:cNvCxnSpPr/>
          <p:nvPr/>
        </p:nvCxnSpPr>
        <p:spPr>
          <a:xfrm flipV="1">
            <a:off x="334673" y="4870528"/>
            <a:ext cx="0" cy="914400"/>
          </a:xfrm>
          <a:prstGeom prst="line">
            <a:avLst/>
          </a:prstGeom>
          <a:ln w="60325">
            <a:solidFill>
              <a:srgbClr val="046AAA"/>
            </a:solidFill>
          </a:ln>
        </p:spPr>
        <p:style>
          <a:lnRef idx="1">
            <a:schemeClr val="accent1"/>
          </a:lnRef>
          <a:fillRef idx="0">
            <a:schemeClr val="accent1"/>
          </a:fillRef>
          <a:effectRef idx="0">
            <a:schemeClr val="accent1"/>
          </a:effectRef>
          <a:fontRef idx="minor">
            <a:schemeClr val="tx1"/>
          </a:fontRef>
        </p:style>
      </p:cxnSp>
      <p:pic>
        <p:nvPicPr>
          <p:cNvPr id="9" name="Picture 8" descr="Diagram, engineering drawing&#10;&#10;Description automatically generated">
            <a:extLst>
              <a:ext uri="{FF2B5EF4-FFF2-40B4-BE49-F238E27FC236}">
                <a16:creationId xmlns:a16="http://schemas.microsoft.com/office/drawing/2014/main" id="{AEC535E7-05A1-3106-03CA-FE81CE89F91B}"/>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l="14541" r="6031"/>
          <a:stretch/>
        </p:blipFill>
        <p:spPr>
          <a:xfrm>
            <a:off x="0" y="18784"/>
            <a:ext cx="12192000" cy="4572000"/>
          </a:xfrm>
          <a:prstGeom prst="rect">
            <a:avLst/>
          </a:prstGeom>
        </p:spPr>
      </p:pic>
      <p:pic>
        <p:nvPicPr>
          <p:cNvPr id="4" name="Picture 3" descr="A blue and white logo&#10;&#10;Description automatically generated">
            <a:extLst>
              <a:ext uri="{FF2B5EF4-FFF2-40B4-BE49-F238E27FC236}">
                <a16:creationId xmlns:a16="http://schemas.microsoft.com/office/drawing/2014/main" id="{E20BC1E3-5F30-6B91-A98C-EEDFAD08A1B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375648" y="5001144"/>
            <a:ext cx="2237233" cy="1348984"/>
          </a:xfrm>
          <a:prstGeom prst="rect">
            <a:avLst/>
          </a:prstGeom>
        </p:spPr>
      </p:pic>
    </p:spTree>
    <p:extLst>
      <p:ext uri="{BB962C8B-B14F-4D97-AF65-F5344CB8AC3E}">
        <p14:creationId xmlns:p14="http://schemas.microsoft.com/office/powerpoint/2010/main" val="2708386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10" name="Rectangle 9"/>
          <p:cNvSpPr/>
          <p:nvPr userDrawn="1"/>
        </p:nvSpPr>
        <p:spPr>
          <a:xfrm>
            <a:off x="0" y="0"/>
            <a:ext cx="12192000" cy="4572001"/>
          </a:xfrm>
          <a:prstGeom prst="rect">
            <a:avLst/>
          </a:prstGeom>
          <a:solidFill>
            <a:srgbClr val="046AAA"/>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hasCustomPrompt="1"/>
          </p:nvPr>
        </p:nvSpPr>
        <p:spPr>
          <a:xfrm>
            <a:off x="457199" y="4665306"/>
            <a:ext cx="7772400" cy="1308413"/>
          </a:xfrm>
        </p:spPr>
        <p:txBody>
          <a:bodyPr anchor="ctr">
            <a:normAutofit/>
          </a:bodyPr>
          <a:lstStyle>
            <a:lvl1pPr algn="l">
              <a:defRPr sz="3600" spc="200" baseline="0"/>
            </a:lvl1pPr>
          </a:lstStyle>
          <a:p>
            <a:r>
              <a:rPr lang="en-GB" dirty="0"/>
              <a:t>Click to edit heading</a:t>
            </a:r>
            <a:endParaRPr lang="en-US" dirty="0"/>
          </a:p>
        </p:txBody>
      </p:sp>
      <p:sp>
        <p:nvSpPr>
          <p:cNvPr id="3" name="Subtitle 2"/>
          <p:cNvSpPr>
            <a:spLocks noGrp="1"/>
          </p:cNvSpPr>
          <p:nvPr>
            <p:ph type="subTitle" idx="1" hasCustomPrompt="1"/>
          </p:nvPr>
        </p:nvSpPr>
        <p:spPr>
          <a:xfrm>
            <a:off x="457199" y="6020353"/>
            <a:ext cx="7772399" cy="674129"/>
          </a:xfrm>
          <a:prstGeom prst="rect">
            <a:avLst/>
          </a:prstGeom>
        </p:spPr>
        <p:txBody>
          <a:bodyPr lIns="91440" rIns="91440" anchor="ctr">
            <a:normAutofit/>
          </a:bodyPr>
          <a:lstStyle>
            <a:lvl1pPr marL="0" indent="0" algn="l">
              <a:lnSpc>
                <a:spcPct val="100000"/>
              </a:lnSpc>
              <a:spcBef>
                <a:spcPts val="0"/>
              </a:spcBef>
              <a:buNone/>
              <a:defRPr sz="24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dirty="0"/>
              <a:t>Click to edit subtitle</a:t>
            </a:r>
            <a:endParaRPr lang="en-US" dirty="0"/>
          </a:p>
        </p:txBody>
      </p:sp>
      <p:cxnSp>
        <p:nvCxnSpPr>
          <p:cNvPr id="8" name="Straight Connector 7"/>
          <p:cNvCxnSpPr/>
          <p:nvPr/>
        </p:nvCxnSpPr>
        <p:spPr>
          <a:xfrm flipV="1">
            <a:off x="228348" y="4870528"/>
            <a:ext cx="0" cy="914400"/>
          </a:xfrm>
          <a:prstGeom prst="line">
            <a:avLst/>
          </a:prstGeom>
          <a:ln w="44450">
            <a:solidFill>
              <a:srgbClr val="046AAA"/>
            </a:solidFill>
          </a:ln>
        </p:spPr>
        <p:style>
          <a:lnRef idx="1">
            <a:schemeClr val="accent1"/>
          </a:lnRef>
          <a:fillRef idx="0">
            <a:schemeClr val="accent1"/>
          </a:fillRef>
          <a:effectRef idx="0">
            <a:schemeClr val="accent1"/>
          </a:effectRef>
          <a:fontRef idx="minor">
            <a:schemeClr val="tx1"/>
          </a:fontRef>
        </p:style>
      </p:cxnSp>
      <p:pic>
        <p:nvPicPr>
          <p:cNvPr id="12" name="Picture 11" descr="A blue and white logo&#10;&#10;Description automatically generated">
            <a:extLst>
              <a:ext uri="{FF2B5EF4-FFF2-40B4-BE49-F238E27FC236}">
                <a16:creationId xmlns:a16="http://schemas.microsoft.com/office/drawing/2014/main" id="{73FDA91B-6B8D-6C56-06AE-FDAAB237A5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67670" y="4870528"/>
            <a:ext cx="2472059" cy="1490577"/>
          </a:xfrm>
          <a:prstGeom prst="rect">
            <a:avLst/>
          </a:prstGeom>
        </p:spPr>
      </p:pic>
    </p:spTree>
    <p:extLst>
      <p:ext uri="{BB962C8B-B14F-4D97-AF65-F5344CB8AC3E}">
        <p14:creationId xmlns:p14="http://schemas.microsoft.com/office/powerpoint/2010/main" val="2868002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9352" y="419100"/>
            <a:ext cx="9720072" cy="933450"/>
          </a:xfrm>
        </p:spPr>
        <p:txBody>
          <a:bodyPr>
            <a:normAutofit/>
          </a:bodyPr>
          <a:lstStyle>
            <a:lvl1pPr>
              <a:defRPr sz="3600"/>
            </a:lvl1pPr>
          </a:lstStyle>
          <a:p>
            <a:r>
              <a:rPr lang="en-GB" dirty="0"/>
              <a:t>Click to edit Master title style</a:t>
            </a:r>
            <a:endParaRPr lang="en-US" dirty="0"/>
          </a:p>
        </p:txBody>
      </p:sp>
      <p:sp>
        <p:nvSpPr>
          <p:cNvPr id="5" name="Slide Number Placeholder 5">
            <a:extLst>
              <a:ext uri="{FF2B5EF4-FFF2-40B4-BE49-F238E27FC236}">
                <a16:creationId xmlns:a16="http://schemas.microsoft.com/office/drawing/2014/main" id="{9EB7D868-2676-D940-84A9-1D62048C5842}"/>
              </a:ext>
            </a:extLst>
          </p:cNvPr>
          <p:cNvSpPr txBox="1">
            <a:spLocks/>
          </p:cNvSpPr>
          <p:nvPr userDrawn="1"/>
        </p:nvSpPr>
        <p:spPr>
          <a:xfrm>
            <a:off x="5926093" y="6358128"/>
            <a:ext cx="338137" cy="274320"/>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95000"/>
                    <a:lumOff val="5000"/>
                  </a:schemeClr>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20FAE58-AEA8-F047-B98D-7B2B3D014012}" type="slidenum">
              <a:rPr lang="en-US" sz="900" smtClean="0">
                <a:latin typeface="Arial" panose="020B0604020202020204" pitchFamily="34" charset="0"/>
                <a:cs typeface="Arial" panose="020B0604020202020204" pitchFamily="34" charset="0"/>
              </a:rPr>
              <a:pPr/>
              <a:t>‹#›</a:t>
            </a:fld>
            <a:endParaRPr lang="en-US" sz="9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2592819-5C80-B996-F823-F8B9F9EAD6C9}"/>
              </a:ext>
            </a:extLst>
          </p:cNvPr>
          <p:cNvSpPr>
            <a:spLocks noGrp="1"/>
          </p:cNvSpPr>
          <p:nvPr>
            <p:ph idx="10"/>
          </p:nvPr>
        </p:nvSpPr>
        <p:spPr>
          <a:xfrm>
            <a:off x="909829" y="1619249"/>
            <a:ext cx="5046518" cy="4233439"/>
          </a:xfrm>
          <a:prstGeom prst="rect">
            <a:avLst/>
          </a:prstGeo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2">
            <a:extLst>
              <a:ext uri="{FF2B5EF4-FFF2-40B4-BE49-F238E27FC236}">
                <a16:creationId xmlns:a16="http://schemas.microsoft.com/office/drawing/2014/main" id="{D1BAB7DA-EC53-0103-E362-83F86BDB6BC4}"/>
              </a:ext>
            </a:extLst>
          </p:cNvPr>
          <p:cNvSpPr>
            <a:spLocks noGrp="1"/>
          </p:cNvSpPr>
          <p:nvPr>
            <p:ph idx="11"/>
          </p:nvPr>
        </p:nvSpPr>
        <p:spPr>
          <a:xfrm>
            <a:off x="6235653" y="1619248"/>
            <a:ext cx="5046518" cy="4233439"/>
          </a:xfrm>
          <a:prstGeom prst="rect">
            <a:avLst/>
          </a:prstGeo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385444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603747" y="1619250"/>
            <a:ext cx="5678424" cy="4233439"/>
          </a:xfrm>
          <a:prstGeom prst="rect">
            <a:avLst/>
          </a:prstGeom>
        </p:spPr>
        <p:txBody>
          <a:bodyPr anchor="ct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9" name="Title 9">
            <a:extLst>
              <a:ext uri="{FF2B5EF4-FFF2-40B4-BE49-F238E27FC236}">
                <a16:creationId xmlns:a16="http://schemas.microsoft.com/office/drawing/2014/main" id="{576BF1A0-1B30-B080-929D-2D4F0124B1B7}"/>
              </a:ext>
            </a:extLst>
          </p:cNvPr>
          <p:cNvSpPr>
            <a:spLocks noGrp="1"/>
          </p:cNvSpPr>
          <p:nvPr>
            <p:ph type="title" hasCustomPrompt="1"/>
          </p:nvPr>
        </p:nvSpPr>
        <p:spPr>
          <a:xfrm>
            <a:off x="909829" y="428624"/>
            <a:ext cx="8434196" cy="914401"/>
          </a:xfrm>
        </p:spPr>
        <p:txBody>
          <a:bodyPr>
            <a:normAutofit/>
          </a:bodyPr>
          <a:lstStyle>
            <a:lvl1pPr>
              <a:defRPr sz="3600"/>
            </a:lvl1pPr>
          </a:lstStyle>
          <a:p>
            <a:r>
              <a:rPr lang="en-GB" dirty="0"/>
              <a:t>Click to edit title</a:t>
            </a:r>
            <a:endParaRPr lang="en-US" dirty="0"/>
          </a:p>
        </p:txBody>
      </p:sp>
      <p:sp>
        <p:nvSpPr>
          <p:cNvPr id="5" name="Slide Number Placeholder 5">
            <a:extLst>
              <a:ext uri="{FF2B5EF4-FFF2-40B4-BE49-F238E27FC236}">
                <a16:creationId xmlns:a16="http://schemas.microsoft.com/office/drawing/2014/main" id="{0BD18B8C-3B03-E70C-8B8E-166B7859E097}"/>
              </a:ext>
            </a:extLst>
          </p:cNvPr>
          <p:cNvSpPr txBox="1">
            <a:spLocks/>
          </p:cNvSpPr>
          <p:nvPr userDrawn="1"/>
        </p:nvSpPr>
        <p:spPr>
          <a:xfrm>
            <a:off x="5926093" y="6358128"/>
            <a:ext cx="338137" cy="274320"/>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95000"/>
                    <a:lumOff val="5000"/>
                  </a:schemeClr>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20FAE58-AEA8-F047-B98D-7B2B3D014012}" type="slidenum">
              <a:rPr lang="en-US" sz="900" smtClean="0">
                <a:latin typeface="Arial" panose="020B0604020202020204" pitchFamily="34" charset="0"/>
                <a:cs typeface="Arial" panose="020B0604020202020204" pitchFamily="34" charset="0"/>
              </a:rPr>
              <a:pPr/>
              <a:t>‹#›</a:t>
            </a:fld>
            <a:endParaRPr lang="en-US" sz="900" dirty="0">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DF61A5FC-3684-1BAC-1114-63C491ABAD76}"/>
              </a:ext>
            </a:extLst>
          </p:cNvPr>
          <p:cNvSpPr>
            <a:spLocks noGrp="1"/>
          </p:cNvSpPr>
          <p:nvPr>
            <p:ph idx="10"/>
          </p:nvPr>
        </p:nvSpPr>
        <p:spPr>
          <a:xfrm>
            <a:off x="909829" y="1619249"/>
            <a:ext cx="4405121" cy="4233439"/>
          </a:xfrm>
          <a:prstGeom prst="rect">
            <a:avLst/>
          </a:prstGeom>
        </p:spPr>
        <p:txBody>
          <a:bodyPr anchor="ct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161346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38150"/>
            <a:ext cx="8434196" cy="914400"/>
          </a:xfrm>
        </p:spPr>
        <p:txBody>
          <a:bodyPr>
            <a:normAutofit/>
          </a:bodyPr>
          <a:lstStyle>
            <a:lvl1pPr>
              <a:defRPr sz="3600"/>
            </a:lvl1pPr>
          </a:lstStyle>
          <a:p>
            <a:r>
              <a:rPr lang="en-GB" dirty="0"/>
              <a:t>Click to edit title</a:t>
            </a:r>
            <a:endParaRPr lang="en-US" dirty="0"/>
          </a:p>
        </p:txBody>
      </p:sp>
      <p:sp>
        <p:nvSpPr>
          <p:cNvPr id="5" name="Footer Placeholder 4"/>
          <p:cNvSpPr>
            <a:spLocks noGrp="1"/>
          </p:cNvSpPr>
          <p:nvPr>
            <p:ph type="ftr" sz="quarter" idx="11"/>
          </p:nvPr>
        </p:nvSpPr>
        <p:spPr>
          <a:xfrm>
            <a:off x="1571093" y="6583680"/>
            <a:ext cx="9023755" cy="274320"/>
          </a:xfrm>
        </p:spPr>
        <p:txBody>
          <a:bodyPr/>
          <a:lstStyle/>
          <a:p>
            <a:r>
              <a:rPr lang="en-US" dirty="0"/>
              <a:t>Add sensitivity if needed</a:t>
            </a:r>
          </a:p>
        </p:txBody>
      </p:sp>
      <p:sp>
        <p:nvSpPr>
          <p:cNvPr id="6" name="Slide Number Placeholder 5">
            <a:extLst>
              <a:ext uri="{FF2B5EF4-FFF2-40B4-BE49-F238E27FC236}">
                <a16:creationId xmlns:a16="http://schemas.microsoft.com/office/drawing/2014/main" id="{21A0837A-E153-BAFA-B6F8-647E5E476D7B}"/>
              </a:ext>
            </a:extLst>
          </p:cNvPr>
          <p:cNvSpPr txBox="1">
            <a:spLocks/>
          </p:cNvSpPr>
          <p:nvPr userDrawn="1"/>
        </p:nvSpPr>
        <p:spPr>
          <a:xfrm>
            <a:off x="5926093" y="6358128"/>
            <a:ext cx="338137" cy="274320"/>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95000"/>
                    <a:lumOff val="5000"/>
                  </a:schemeClr>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20FAE58-AEA8-F047-B98D-7B2B3D014012}" type="slidenum">
              <a:rPr lang="en-US" sz="900" smtClean="0"/>
              <a:pPr/>
              <a:t>‹#›</a:t>
            </a:fld>
            <a:endParaRPr lang="en-US" sz="900" dirty="0"/>
          </a:p>
        </p:txBody>
      </p:sp>
      <p:sp>
        <p:nvSpPr>
          <p:cNvPr id="8" name="Content Placeholder 7">
            <a:extLst>
              <a:ext uri="{FF2B5EF4-FFF2-40B4-BE49-F238E27FC236}">
                <a16:creationId xmlns:a16="http://schemas.microsoft.com/office/drawing/2014/main" id="{E661F691-68A2-ACF8-5D27-3F5571B6FD79}"/>
              </a:ext>
            </a:extLst>
          </p:cNvPr>
          <p:cNvSpPr>
            <a:spLocks noGrp="1"/>
          </p:cNvSpPr>
          <p:nvPr>
            <p:ph sz="quarter" idx="12"/>
          </p:nvPr>
        </p:nvSpPr>
        <p:spPr>
          <a:xfrm>
            <a:off x="4138613" y="1550608"/>
            <a:ext cx="7015162" cy="4263106"/>
          </a:xfrm>
          <a:prstGeom prst="rect">
            <a:avLst/>
          </a:prstGeom>
        </p:spPr>
        <p:txBody>
          <a:bodyPr anchor="ct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6">
            <a:extLst>
              <a:ext uri="{FF2B5EF4-FFF2-40B4-BE49-F238E27FC236}">
                <a16:creationId xmlns:a16="http://schemas.microsoft.com/office/drawing/2014/main" id="{DE622849-4EA7-24AE-DD96-E693EAA81594}"/>
              </a:ext>
            </a:extLst>
          </p:cNvPr>
          <p:cNvSpPr>
            <a:spLocks noGrp="1"/>
          </p:cNvSpPr>
          <p:nvPr>
            <p:ph type="body" sz="quarter" idx="13"/>
          </p:nvPr>
        </p:nvSpPr>
        <p:spPr>
          <a:xfrm>
            <a:off x="909638" y="1550988"/>
            <a:ext cx="2997200" cy="4262437"/>
          </a:xfrm>
        </p:spPr>
        <p:txBody>
          <a:bodyPr anchor="ct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40479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72376C-BD00-0C21-7B68-8BAE977B9504}"/>
              </a:ext>
            </a:extLst>
          </p:cNvPr>
          <p:cNvSpPr>
            <a:spLocks noGrp="1"/>
          </p:cNvSpPr>
          <p:nvPr>
            <p:ph type="dt" sz="half" idx="10"/>
          </p:nvPr>
        </p:nvSpPr>
        <p:spPr/>
        <p:txBody>
          <a:bodyPr/>
          <a:lstStyle/>
          <a:p>
            <a:fld id="{0EB35C0E-E263-0848-A698-EE526CA39358}" type="datetimeFigureOut">
              <a:rPr lang="en-US" smtClean="0"/>
              <a:t>6/18/2025</a:t>
            </a:fld>
            <a:endParaRPr lang="en-US" dirty="0"/>
          </a:p>
        </p:txBody>
      </p:sp>
      <p:sp>
        <p:nvSpPr>
          <p:cNvPr id="3" name="Footer Placeholder 2">
            <a:extLst>
              <a:ext uri="{FF2B5EF4-FFF2-40B4-BE49-F238E27FC236}">
                <a16:creationId xmlns:a16="http://schemas.microsoft.com/office/drawing/2014/main" id="{E1864193-C369-71B1-B4FE-84F03344DB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C2168E-40A1-A3C5-5A84-C324B159CB54}"/>
              </a:ext>
            </a:extLst>
          </p:cNvPr>
          <p:cNvSpPr>
            <a:spLocks noGrp="1"/>
          </p:cNvSpPr>
          <p:nvPr>
            <p:ph type="sldNum" sz="quarter" idx="12"/>
          </p:nvPr>
        </p:nvSpPr>
        <p:spPr/>
        <p:txBody>
          <a:bodyPr/>
          <a:lstStyle/>
          <a:p>
            <a:fld id="{E3393662-164E-B74F-8D60-B4DF4EEC9759}" type="slidenum">
              <a:rPr lang="en-US" smtClean="0"/>
              <a:t>‹#›</a:t>
            </a:fld>
            <a:endParaRPr lang="en-US"/>
          </a:p>
        </p:txBody>
      </p:sp>
    </p:spTree>
    <p:extLst>
      <p:ext uri="{BB962C8B-B14F-4D97-AF65-F5344CB8AC3E}">
        <p14:creationId xmlns:p14="http://schemas.microsoft.com/office/powerpoint/2010/main" val="3850935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03765"/>
            <a:ext cx="8434196" cy="976056"/>
          </a:xfrm>
        </p:spPr>
        <p:txBody>
          <a:bodyPr>
            <a:normAutofit/>
          </a:bodyPr>
          <a:lstStyle>
            <a:lvl1pPr>
              <a:defRPr sz="3600"/>
            </a:lvl1pPr>
          </a:lstStyle>
          <a:p>
            <a:r>
              <a:rPr lang="en-GB" dirty="0"/>
              <a:t>Click to edit title</a:t>
            </a:r>
            <a:endParaRPr lang="en-US" dirty="0"/>
          </a:p>
        </p:txBody>
      </p:sp>
      <p:sp>
        <p:nvSpPr>
          <p:cNvPr id="3" name="Content Placeholder 2"/>
          <p:cNvSpPr>
            <a:spLocks noGrp="1"/>
          </p:cNvSpPr>
          <p:nvPr>
            <p:ph idx="1"/>
          </p:nvPr>
        </p:nvSpPr>
        <p:spPr>
          <a:xfrm>
            <a:off x="909828" y="1737360"/>
            <a:ext cx="10420160" cy="4089281"/>
          </a:xfrm>
          <a:prstGeom prst="rect">
            <a:avLst/>
          </a:prstGeom>
        </p:spPr>
        <p:txBody>
          <a:bodyPr>
            <a:normAutofit/>
          </a:bodyPr>
          <a:lstStyle>
            <a:lvl1pPr>
              <a:defRPr sz="1800"/>
            </a:lvl1pPr>
            <a:lvl2pPr>
              <a:defRPr sz="1800"/>
            </a:lvl2pPr>
            <a:lvl3pPr>
              <a:defRPr sz="1800"/>
            </a:lvl3pPr>
            <a:lvl4pPr>
              <a:defRPr sz="1800"/>
            </a:lvl4pPr>
            <a:lvl5pP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9" name="Slide Number Placeholder 5">
            <a:extLst>
              <a:ext uri="{FF2B5EF4-FFF2-40B4-BE49-F238E27FC236}">
                <a16:creationId xmlns:a16="http://schemas.microsoft.com/office/drawing/2014/main" id="{EF6E56E1-9EDB-5EE5-A17D-D1CA9626D67B}"/>
              </a:ext>
            </a:extLst>
          </p:cNvPr>
          <p:cNvSpPr txBox="1">
            <a:spLocks/>
          </p:cNvSpPr>
          <p:nvPr userDrawn="1"/>
        </p:nvSpPr>
        <p:spPr>
          <a:xfrm>
            <a:off x="5926093" y="6358128"/>
            <a:ext cx="338137" cy="274320"/>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95000"/>
                    <a:lumOff val="5000"/>
                  </a:schemeClr>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20FAE58-AEA8-F047-B98D-7B2B3D014012}" type="slidenum">
              <a:rPr lang="en-US" sz="900" smtClean="0">
                <a:latin typeface="Arial" panose="020B0604020202020204" pitchFamily="34" charset="0"/>
                <a:cs typeface="Arial" panose="020B0604020202020204" pitchFamily="34" charset="0"/>
              </a:rPr>
              <a:pPr/>
              <a:t>‹#›</a:t>
            </a:fld>
            <a:endParaRPr lang="en-US" sz="9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AE104E18-8379-D7A8-EB57-3A892E5A1EC5}"/>
              </a:ext>
            </a:extLst>
          </p:cNvPr>
          <p:cNvSpPr/>
          <p:nvPr userDrawn="1"/>
        </p:nvSpPr>
        <p:spPr>
          <a:xfrm>
            <a:off x="9818655" y="237744"/>
            <a:ext cx="2043115" cy="14996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white logo&#10;&#10;Description automatically generated">
            <a:extLst>
              <a:ext uri="{FF2B5EF4-FFF2-40B4-BE49-F238E27FC236}">
                <a16:creationId xmlns:a16="http://schemas.microsoft.com/office/drawing/2014/main" id="{F56D429E-DF34-7BA9-913A-6A66F93118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15575" y="403765"/>
            <a:ext cx="1478709" cy="891617"/>
          </a:xfrm>
          <a:prstGeom prst="rect">
            <a:avLst/>
          </a:prstGeom>
        </p:spPr>
      </p:pic>
    </p:spTree>
    <p:extLst>
      <p:ext uri="{BB962C8B-B14F-4D97-AF65-F5344CB8AC3E}">
        <p14:creationId xmlns:p14="http://schemas.microsoft.com/office/powerpoint/2010/main" val="2468326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456AE61C-CB53-A51B-2E3D-419A782B4757}"/>
              </a:ext>
            </a:extLst>
          </p:cNvPr>
          <p:cNvSpPr txBox="1">
            <a:spLocks/>
          </p:cNvSpPr>
          <p:nvPr userDrawn="1"/>
        </p:nvSpPr>
        <p:spPr>
          <a:xfrm>
            <a:off x="909828" y="1619249"/>
            <a:ext cx="10420159" cy="4233439"/>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1800" kern="1200">
                <a:solidFill>
                  <a:schemeClr val="tx1"/>
                </a:solidFill>
                <a:latin typeface="Aptos" panose="020B0004020202020204" pitchFamily="34" charset="0"/>
                <a:ea typeface="+mn-ea"/>
                <a:cs typeface="Arial" panose="020B0604020202020204" pitchFamily="34" charset="0"/>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Aptos" panose="020B0004020202020204" pitchFamily="34" charset="0"/>
                <a:ea typeface="+mn-ea"/>
                <a:cs typeface="Arial" panose="020B0604020202020204" pitchFamily="34" charset="0"/>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Aptos" panose="020B0004020202020204" pitchFamily="34" charset="0"/>
                <a:ea typeface="+mn-ea"/>
                <a:cs typeface="Arial" panose="020B0604020202020204" pitchFamily="34" charset="0"/>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Aptos" panose="020B0004020202020204" pitchFamily="34" charset="0"/>
                <a:ea typeface="+mn-ea"/>
                <a:cs typeface="Arial" panose="020B0604020202020204" pitchFamily="34" charset="0"/>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Aptos" panose="020B0004020202020204" pitchFamily="34" charset="0"/>
                <a:ea typeface="+mn-ea"/>
                <a:cs typeface="Arial" panose="020B0604020202020204" pitchFamily="34" charset="0"/>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9pPr>
          </a:lstStyle>
          <a:p>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8" name="Picture 7" descr="A blue line with a white background">
            <a:extLst>
              <a:ext uri="{FF2B5EF4-FFF2-40B4-BE49-F238E27FC236}">
                <a16:creationId xmlns:a16="http://schemas.microsoft.com/office/drawing/2014/main" id="{F5E63812-AC84-AA97-7086-F862611574A6}"/>
              </a:ext>
            </a:extLst>
          </p:cNvPr>
          <p:cNvPicPr>
            <a:picLocks noChangeAspect="1"/>
          </p:cNvPicPr>
          <p:nvPr userDrawn="1"/>
        </p:nvPicPr>
        <p:blipFill rotWithShape="1">
          <a:blip r:embed="rId9"/>
          <a:srcRect r="942"/>
          <a:stretch/>
        </p:blipFill>
        <p:spPr>
          <a:xfrm>
            <a:off x="11875" y="11875"/>
            <a:ext cx="12259269" cy="6858000"/>
          </a:xfrm>
          <a:prstGeom prst="rect">
            <a:avLst/>
          </a:prstGeom>
        </p:spPr>
      </p:pic>
      <p:sp>
        <p:nvSpPr>
          <p:cNvPr id="2" name="Title Placeholder 1"/>
          <p:cNvSpPr>
            <a:spLocks noGrp="1"/>
          </p:cNvSpPr>
          <p:nvPr>
            <p:ph type="title"/>
          </p:nvPr>
        </p:nvSpPr>
        <p:spPr>
          <a:xfrm>
            <a:off x="909829" y="429900"/>
            <a:ext cx="8434196" cy="914400"/>
          </a:xfrm>
          <a:prstGeom prst="rect">
            <a:avLst/>
          </a:prstGeom>
        </p:spPr>
        <p:txBody>
          <a:bodyPr vert="horz" lIns="91440" tIns="45720" rIns="91440" bIns="45720" rtlCol="0" anchor="ctr">
            <a:normAutofit/>
          </a:bodyPr>
          <a:lstStyle/>
          <a:p>
            <a:r>
              <a:rPr lang="en-GB" dirty="0"/>
              <a:t>Click to edit title</a:t>
            </a:r>
            <a:endParaRPr lang="en-US" dirty="0"/>
          </a:p>
        </p:txBody>
      </p:sp>
      <p:sp>
        <p:nvSpPr>
          <p:cNvPr id="3" name="Text Placeholder 2"/>
          <p:cNvSpPr>
            <a:spLocks noGrp="1"/>
          </p:cNvSpPr>
          <p:nvPr>
            <p:ph type="body" idx="1"/>
          </p:nvPr>
        </p:nvSpPr>
        <p:spPr>
          <a:xfrm>
            <a:off x="909828" y="1695450"/>
            <a:ext cx="10420160" cy="4033838"/>
          </a:xfrm>
          <a:prstGeom prst="rect">
            <a:avLst/>
          </a:prstGeom>
        </p:spPr>
        <p:txBody>
          <a:bodyPr vert="horz" lIns="45720" tIns="45720" rIns="4572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p:cNvSpPr>
            <a:spLocks noGrp="1"/>
          </p:cNvSpPr>
          <p:nvPr>
            <p:ph type="ftr" sz="quarter" idx="3"/>
          </p:nvPr>
        </p:nvSpPr>
        <p:spPr>
          <a:xfrm>
            <a:off x="1571093" y="6583680"/>
            <a:ext cx="8430155" cy="274320"/>
          </a:xfrm>
          <a:prstGeom prst="rect">
            <a:avLst/>
          </a:prstGeom>
        </p:spPr>
        <p:txBody>
          <a:bodyPr vert="horz" lIns="91440" tIns="45720" rIns="91440" bIns="45720" rtlCol="0" anchor="ctr"/>
          <a:lstStyle>
            <a:lvl1pPr algn="ctr">
              <a:defRPr sz="1000" cap="none" baseline="0">
                <a:solidFill>
                  <a:schemeClr val="tx1"/>
                </a:solidFill>
                <a:latin typeface="Calibri" panose="020F0502020204030204" pitchFamily="34" charset="0"/>
                <a:cs typeface="Calibri" panose="020F0502020204030204" pitchFamily="34" charset="0"/>
              </a:defRPr>
            </a:lvl1pPr>
          </a:lstStyle>
          <a:p>
            <a:r>
              <a:rPr lang="en-US" dirty="0"/>
              <a:t>Add sensitivity level here if required</a:t>
            </a:r>
          </a:p>
        </p:txBody>
      </p:sp>
      <p:sp>
        <p:nvSpPr>
          <p:cNvPr id="6" name="Slide Number Placeholder 5"/>
          <p:cNvSpPr>
            <a:spLocks noGrp="1"/>
          </p:cNvSpPr>
          <p:nvPr>
            <p:ph type="sldNum" sz="quarter" idx="4"/>
          </p:nvPr>
        </p:nvSpPr>
        <p:spPr>
          <a:xfrm>
            <a:off x="5740641" y="6309360"/>
            <a:ext cx="338137" cy="274320"/>
          </a:xfrm>
          <a:prstGeom prst="rect">
            <a:avLst/>
          </a:prstGeom>
        </p:spPr>
        <p:txBody>
          <a:bodyPr vert="horz" lIns="91440" tIns="45720" rIns="91440" bIns="45720" rtlCol="0" anchor="ctr"/>
          <a:lstStyle>
            <a:lvl1pPr algn="l">
              <a:defRPr sz="900">
                <a:solidFill>
                  <a:schemeClr val="tx1">
                    <a:lumMod val="95000"/>
                    <a:lumOff val="5000"/>
                  </a:schemeClr>
                </a:solidFill>
                <a:latin typeface="Arial" panose="020B0604020202020204" pitchFamily="34" charset="0"/>
                <a:cs typeface="Arial" panose="020B0604020202020204" pitchFamily="34" charset="0"/>
              </a:defRPr>
            </a:lvl1pPr>
          </a:lstStyle>
          <a:p>
            <a:fld id="{520FAE58-AEA8-F047-B98D-7B2B3D014012}" type="slidenum">
              <a:rPr lang="en-US" smtClean="0"/>
              <a:pPr/>
              <a:t>‹#›</a:t>
            </a:fld>
            <a:endParaRPr lang="en-US" dirty="0"/>
          </a:p>
        </p:txBody>
      </p:sp>
      <p:cxnSp>
        <p:nvCxnSpPr>
          <p:cNvPr id="7" name="Straight Connector 6"/>
          <p:cNvCxnSpPr/>
          <p:nvPr/>
        </p:nvCxnSpPr>
        <p:spPr>
          <a:xfrm flipV="1">
            <a:off x="539373" y="429900"/>
            <a:ext cx="0" cy="914400"/>
          </a:xfrm>
          <a:prstGeom prst="line">
            <a:avLst/>
          </a:prstGeom>
          <a:ln w="44450">
            <a:solidFill>
              <a:srgbClr val="046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0655971"/>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64" r:id="rId3"/>
    <p:sldLayoutId id="2147483668" r:id="rId4"/>
    <p:sldLayoutId id="2147483673" r:id="rId5"/>
    <p:sldLayoutId id="2147483736" r:id="rId6"/>
    <p:sldLayoutId id="2147483662" r:id="rId7"/>
  </p:sldLayoutIdLst>
  <p:txStyles>
    <p:titleStyle>
      <a:lvl1pPr algn="l" defTabSz="914400" rtl="0" eaLnBrk="1" latinLnBrk="0" hangingPunct="1">
        <a:lnSpc>
          <a:spcPct val="80000"/>
        </a:lnSpc>
        <a:spcBef>
          <a:spcPct val="0"/>
        </a:spcBef>
        <a:buNone/>
        <a:defRPr sz="3600" b="1" kern="1200" cap="none" spc="100" baseline="0">
          <a:solidFill>
            <a:schemeClr val="tx1">
              <a:lumMod val="95000"/>
              <a:lumOff val="5000"/>
            </a:schemeClr>
          </a:solidFill>
          <a:latin typeface="Aptos ExtraBold" panose="020F0502020204030204" pitchFamily="34" charset="0"/>
          <a:ea typeface="+mj-ea"/>
          <a:cs typeface="Arial" panose="020B0604020202020204" pitchFamily="34" charset="0"/>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Aptos" panose="020B0004020202020204" pitchFamily="34" charset="0"/>
          <a:ea typeface="+mn-ea"/>
          <a:cs typeface="Arial" panose="020B0604020202020204" pitchFamily="34" charset="0"/>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Aptos" panose="020B0004020202020204" pitchFamily="34" charset="0"/>
          <a:ea typeface="+mn-ea"/>
          <a:cs typeface="Arial" panose="020B0604020202020204" pitchFamily="34" charset="0"/>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Arial" panose="020B0604020202020204" pitchFamily="34" charset="0"/>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Arial" panose="020B0604020202020204" pitchFamily="34" charset="0"/>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Arial" panose="020B0604020202020204" pitchFamily="34" charset="0"/>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198" y="4624736"/>
            <a:ext cx="8406375" cy="1348983"/>
          </a:xfrm>
        </p:spPr>
        <p:txBody>
          <a:bodyPr>
            <a:normAutofit fontScale="90000"/>
          </a:bodyPr>
          <a:lstStyle/>
          <a:p>
            <a:pPr marL="0" lvl="0" indent="0">
              <a:buNone/>
            </a:pPr>
            <a:r>
              <a:t>Quantifying the impacts of hospitals increasing single bed room provision</a:t>
            </a:r>
          </a:p>
        </p:txBody>
      </p:sp>
      <p:sp>
        <p:nvSpPr>
          <p:cNvPr id="3" name="Subtitle 2"/>
          <p:cNvSpPr>
            <a:spLocks noGrp="1"/>
          </p:cNvSpPr>
          <p:nvPr>
            <p:ph type="subTitle" idx="1" hasCustomPrompt="1"/>
          </p:nvPr>
        </p:nvSpPr>
        <p:spPr>
          <a:xfrm>
            <a:off x="457199" y="6020353"/>
            <a:ext cx="8406374" cy="674129"/>
          </a:xfrm>
          <a:prstGeom prst="rect">
            <a:avLst/>
          </a:prstGeom>
        </p:spPr>
        <p:txBody>
          <a:bodyPr>
            <a:normAutofit/>
          </a:bodyPr>
          <a:lstStyle/>
          <a:p>
            <a:pPr marL="0" lvl="0" indent="0">
              <a:buNone/>
            </a:pPr>
            <a:r>
              <a:rPr dirty="0"/>
              <a:t>Andy Hood | Analytics Manager | Strategy Unit | May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199" y="4665306"/>
            <a:ext cx="7772400" cy="1308413"/>
          </a:xfrm>
        </p:spPr>
        <p:txBody>
          <a:bodyPr/>
          <a:lstStyle/>
          <a:p>
            <a:pPr marL="0" lvl="0" indent="0">
              <a:buNone/>
            </a:pPr>
            <a:r>
              <a:t>1. Executive Summary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03765"/>
            <a:ext cx="8434196" cy="976056"/>
          </a:xfrm>
        </p:spPr>
        <p:txBody>
          <a:bodyPr/>
          <a:lstStyle/>
          <a:p>
            <a:pPr marL="0" lvl="0" indent="0">
              <a:buNone/>
            </a:pPr>
            <a:r>
              <a:t>1.1 (1)</a:t>
            </a:r>
          </a:p>
        </p:txBody>
      </p:sp>
      <p:sp>
        <p:nvSpPr>
          <p:cNvPr id="3" name="Content Placeholder 2"/>
          <p:cNvSpPr>
            <a:spLocks noGrp="1"/>
          </p:cNvSpPr>
          <p:nvPr>
            <p:ph idx="1"/>
          </p:nvPr>
        </p:nvSpPr>
        <p:spPr/>
        <p:txBody>
          <a:bodyPr/>
          <a:lstStyle/>
          <a:p>
            <a:pPr lvl="0"/>
            <a:r>
              <a:rPr dirty="0"/>
              <a:t>The NHP program advocates for a majority single-bedded inpatient room (SBR) design for new hospitals.</a:t>
            </a:r>
          </a:p>
          <a:p>
            <a:pPr lvl="0"/>
            <a:r>
              <a:rPr dirty="0"/>
              <a:t>There is a planning assumption that doing so will reduce average inpatient lengths of stay (circa 12%).</a:t>
            </a:r>
          </a:p>
          <a:p>
            <a:pPr lvl="0"/>
            <a:r>
              <a:rPr dirty="0"/>
              <a:t>Given the absence of strong and consistent evidence to support this, our challenge was to quantify changes in </a:t>
            </a:r>
            <a:r>
              <a:rPr dirty="0" err="1"/>
              <a:t>LoS</a:t>
            </a:r>
            <a:r>
              <a:rPr dirty="0"/>
              <a:t> and a range of other potential impacts for 7 natural experiments in SBR between 2010 and 2022.</a:t>
            </a:r>
          </a:p>
          <a:p>
            <a:pPr lvl="0"/>
            <a:r>
              <a:rPr dirty="0"/>
              <a:t>We have identified 12 impact measures from routinely collected or published data to assess for pre-post effects.</a:t>
            </a:r>
          </a:p>
          <a:p>
            <a:pPr lvl="0"/>
            <a:r>
              <a:rPr dirty="0"/>
              <a:t>We used an </a:t>
            </a:r>
            <a:r>
              <a:rPr lang="en-GB" dirty="0"/>
              <a:t>analytical </a:t>
            </a:r>
            <a:r>
              <a:rPr dirty="0"/>
              <a:t>approach called Causal Impact Analysis (CIA) to detect and quantify those pre-post changes in trend.</a:t>
            </a:r>
          </a:p>
          <a:p>
            <a:pPr lvl="0"/>
            <a:r>
              <a:rPr dirty="0"/>
              <a:t>The results of our analysis, much like the published literature, are mixed.</a:t>
            </a:r>
            <a:r>
              <a:rPr lang="en-GB" dirty="0"/>
              <a:t> A recent qualitative lookback exercise with (many of the same) hospitals also confirmed on-the-ground feelings of both positive patient impacts and operational challenges and risks related to SBR switches.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03765"/>
            <a:ext cx="8434196" cy="976056"/>
          </a:xfrm>
        </p:spPr>
        <p:txBody>
          <a:bodyPr/>
          <a:lstStyle/>
          <a:p>
            <a:pPr marL="0" lvl="0" indent="0">
              <a:buNone/>
            </a:pPr>
            <a:r>
              <a:t>1.2 (2)</a:t>
            </a:r>
          </a:p>
        </p:txBody>
      </p:sp>
      <p:sp>
        <p:nvSpPr>
          <p:cNvPr id="3" name="Content Placeholder 2"/>
          <p:cNvSpPr>
            <a:spLocks noGrp="1"/>
          </p:cNvSpPr>
          <p:nvPr>
            <p:ph idx="1"/>
          </p:nvPr>
        </p:nvSpPr>
        <p:spPr/>
        <p:txBody>
          <a:bodyPr/>
          <a:lstStyle/>
          <a:p>
            <a:pPr marL="0" lvl="0" indent="0">
              <a:buNone/>
            </a:pPr>
            <a:r>
              <a:rPr dirty="0"/>
              <a:t>There were no overall significant findings in relation to impacts of changes to SBR provision, although there were instances of significant impact on some measures at individual sites. There are contextual factors not accounted for within our analysis which will likely have exacerbated or mitigated the effects.</a:t>
            </a:r>
          </a:p>
          <a:p>
            <a:pPr marL="0" lvl="0" indent="0">
              <a:buNone/>
            </a:pPr>
            <a:r>
              <a:rPr dirty="0"/>
              <a:t>For bed occupancy, emergency readmissions, cleaning costs and all health and safety measures there were either positive effects or no significant change. </a:t>
            </a:r>
            <a:r>
              <a:rPr lang="en-GB" dirty="0"/>
              <a:t>A mixture of</a:t>
            </a:r>
            <a:r>
              <a:rPr dirty="0"/>
              <a:t> positive</a:t>
            </a:r>
            <a:r>
              <a:rPr lang="en-GB" dirty="0"/>
              <a:t> and</a:t>
            </a:r>
            <a:r>
              <a:rPr dirty="0"/>
              <a:t> negative effects were seen for length of stay, waiting time, patient experience, and staff experience measures. Where there were immediate positive or negative impacts on a metric, these often regressed back towards prior levels over the longer-term (2 years).</a:t>
            </a:r>
          </a:p>
          <a:p>
            <a:pPr marL="0" lvl="0" indent="0">
              <a:buNone/>
            </a:pPr>
            <a:r>
              <a:rPr dirty="0"/>
              <a:t>Reduced length of stay could potentially help offset additional costs associated with single room hospitals, however, at general acute hospitals there was no significant change in length of stay (7% reduction (-17% to 2% 95% CI)). At general acute hospitals the proportion of staff recommending their trust as a place to work significantly decreased by 15% (-23% to -6% 95% CI) and staff sickness absences increased by 6% (1% to 12% 95% CI).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03765"/>
            <a:ext cx="8434196" cy="976056"/>
          </a:xfrm>
        </p:spPr>
        <p:txBody>
          <a:bodyPr/>
          <a:lstStyle/>
          <a:p>
            <a:pPr marL="0" lvl="0" indent="0">
              <a:buNone/>
            </a:pPr>
            <a:r>
              <a:t>1.3 (3)</a:t>
            </a:r>
          </a:p>
        </p:txBody>
      </p:sp>
      <p:sp>
        <p:nvSpPr>
          <p:cNvPr id="3" name="Content Placeholder 2"/>
          <p:cNvSpPr>
            <a:spLocks noGrp="1"/>
          </p:cNvSpPr>
          <p:nvPr>
            <p:ph idx="1"/>
          </p:nvPr>
        </p:nvSpPr>
        <p:spPr/>
        <p:txBody>
          <a:bodyPr/>
          <a:lstStyle/>
          <a:p>
            <a:pPr marL="0" lvl="0" indent="0">
              <a:buNone/>
            </a:pPr>
            <a:r>
              <a:t>For planning purposes, the NHP may want to take a more conservative approach to modelling the impact on LoS of SBR but also consider other potential efficiency gains i.e. reduced waiting times, reduction in falls/injuries and infections. Additionally, acknowledging the potential adverse impacts on staff experiences, qualitative monitoring of impacts would aid in implementation and mitigation strategies.</a:t>
            </a:r>
          </a:p>
          <a:p>
            <a:pPr marL="0" lvl="0" indent="0">
              <a:buNone/>
            </a:pPr>
            <a:r>
              <a:t>For both SBR impacts and broader programme evaluation, a prospective monitoring framework of these indicators and more would support and develop the evidence-base for hospital design and builds in the future.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199" y="4665306"/>
            <a:ext cx="7772400" cy="1308413"/>
          </a:xfrm>
        </p:spPr>
        <p:txBody>
          <a:bodyPr/>
          <a:lstStyle/>
          <a:p>
            <a:pPr marL="0" lvl="0" indent="0">
              <a:buNone/>
            </a:pPr>
            <a:r>
              <a:t>2. Introduction, approach, summary and recommendations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352" y="419100"/>
            <a:ext cx="9720072" cy="933450"/>
          </a:xfrm>
        </p:spPr>
        <p:txBody>
          <a:bodyPr/>
          <a:lstStyle/>
          <a:p>
            <a:pPr marL="0" lvl="0" indent="0">
              <a:buNone/>
            </a:pPr>
            <a:r>
              <a:t>2.1 Introduction</a:t>
            </a:r>
          </a:p>
        </p:txBody>
      </p:sp>
      <p:sp>
        <p:nvSpPr>
          <p:cNvPr id="3" name="Content Placeholder 2">
            <a:extLst>
              <a:ext uri="{FF2B5EF4-FFF2-40B4-BE49-F238E27FC236}">
                <a16:creationId xmlns:a16="http://schemas.microsoft.com/office/drawing/2014/main" id="{D2592819-5C80-B996-F823-F8B9F9EAD6C9}"/>
              </a:ext>
            </a:extLst>
          </p:cNvPr>
          <p:cNvSpPr>
            <a:spLocks noGrp="1"/>
          </p:cNvSpPr>
          <p:nvPr>
            <p:ph idx="10"/>
          </p:nvPr>
        </p:nvSpPr>
        <p:spPr/>
        <p:txBody>
          <a:bodyPr/>
          <a:lstStyle/>
          <a:p>
            <a:pPr marL="0" lvl="0" indent="0">
              <a:buNone/>
            </a:pPr>
            <a:r>
              <a:t>Since it’s inception, the New Hospital Programme (NHP) has advocated for single bedded inpatient rooms (SBR). The grounds for this are based on a range of guidance, evidence and previous policy statements of intent. Whilst that position is unequivocal, there is uncertainty around the quantification of impacts of such a change and thus the assumptions that feed into demand and capacity models and economic business cases for current and future new hospital developments.</a:t>
            </a:r>
          </a:p>
        </p:txBody>
      </p:sp>
      <p:sp>
        <p:nvSpPr>
          <p:cNvPr id="4" name="Content Placeholder 2">
            <a:extLst>
              <a:ext uri="{FF2B5EF4-FFF2-40B4-BE49-F238E27FC236}">
                <a16:creationId xmlns:a16="http://schemas.microsoft.com/office/drawing/2014/main" id="{D1BAB7DA-EC53-0103-E362-83F86BDB6BC4}"/>
              </a:ext>
            </a:extLst>
          </p:cNvPr>
          <p:cNvSpPr>
            <a:spLocks noGrp="1"/>
          </p:cNvSpPr>
          <p:nvPr>
            <p:ph idx="11"/>
          </p:nvPr>
        </p:nvSpPr>
        <p:spPr/>
        <p:txBody>
          <a:bodyPr/>
          <a:lstStyle/>
          <a:p>
            <a:pPr marL="0" lvl="0" indent="0">
              <a:buNone/>
            </a:pPr>
            <a:r>
              <a:t>Specifically, a starting assumption was that a length of stay reduction of 12% was likely for all new SBR facilities compared to prior trends. This assumption was criticised by the national audit office (NAO) (Office 2023) in the face of a mixed evidence base.</a:t>
            </a:r>
          </a:p>
          <a:p>
            <a:pPr marL="0" lvl="0" indent="0">
              <a:buNone/>
            </a:pPr>
            <a:r>
              <a:t>It is the express aim of this analysis therefore to quantify the range of likely impacts for length of stay and a basket of other measures across patient &amp; staff experience, productivity and health &amp; safety.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352" y="419100"/>
            <a:ext cx="9720072" cy="933450"/>
          </a:xfrm>
        </p:spPr>
        <p:txBody>
          <a:bodyPr/>
          <a:lstStyle/>
          <a:p>
            <a:pPr marL="0" lvl="0" indent="0">
              <a:buNone/>
            </a:pPr>
            <a:r>
              <a:t>2.2 Approach</a:t>
            </a:r>
          </a:p>
        </p:txBody>
      </p:sp>
      <p:sp>
        <p:nvSpPr>
          <p:cNvPr id="3" name="Content Placeholder 2">
            <a:extLst>
              <a:ext uri="{FF2B5EF4-FFF2-40B4-BE49-F238E27FC236}">
                <a16:creationId xmlns:a16="http://schemas.microsoft.com/office/drawing/2014/main" id="{D2592819-5C80-B996-F823-F8B9F9EAD6C9}"/>
              </a:ext>
            </a:extLst>
          </p:cNvPr>
          <p:cNvSpPr>
            <a:spLocks noGrp="1"/>
          </p:cNvSpPr>
          <p:nvPr>
            <p:ph idx="10"/>
          </p:nvPr>
        </p:nvSpPr>
        <p:spPr/>
        <p:txBody>
          <a:bodyPr/>
          <a:lstStyle/>
          <a:p>
            <a:pPr lvl="0"/>
            <a:r>
              <a:t>Previous literature reviews and general searches were undertaken to identify potential impact factors.</a:t>
            </a:r>
          </a:p>
          <a:p>
            <a:pPr lvl="0"/>
            <a:r>
              <a:t>Identified relevant measures or proxy measures from publicly available data and routine data sources.</a:t>
            </a:r>
          </a:p>
          <a:p>
            <a:pPr lvl="0"/>
            <a:r>
              <a:t>Included only those with sufficient time series and of acceptable data quality into final impact framework.</a:t>
            </a:r>
          </a:p>
          <a:p>
            <a:pPr lvl="0"/>
            <a:r>
              <a:t>Cleansed and compiled all the data into time series format.</a:t>
            </a:r>
          </a:p>
        </p:txBody>
      </p:sp>
      <p:sp>
        <p:nvSpPr>
          <p:cNvPr id="4" name="Content Placeholder 2">
            <a:extLst>
              <a:ext uri="{FF2B5EF4-FFF2-40B4-BE49-F238E27FC236}">
                <a16:creationId xmlns:a16="http://schemas.microsoft.com/office/drawing/2014/main" id="{D1BAB7DA-EC53-0103-E362-83F86BDB6BC4}"/>
              </a:ext>
            </a:extLst>
          </p:cNvPr>
          <p:cNvSpPr>
            <a:spLocks noGrp="1"/>
          </p:cNvSpPr>
          <p:nvPr>
            <p:ph idx="11"/>
          </p:nvPr>
        </p:nvSpPr>
        <p:spPr/>
        <p:txBody>
          <a:bodyPr/>
          <a:lstStyle/>
          <a:p>
            <a:pPr lvl="0"/>
            <a:r>
              <a:t>Identified ‘control’ sites and providers to compare to our natural experiment sites - matching according to hospital function, size, case-mix and admission ratio’s.</a:t>
            </a:r>
          </a:p>
          <a:p>
            <a:pPr lvl="0"/>
            <a:r>
              <a:t>Performed causal impact analysis on the pre and post intervention periods to detect the nature and scale of impacts for each natural experiment.</a:t>
            </a:r>
          </a:p>
          <a:p>
            <a:pPr lvl="0"/>
            <a:r>
              <a:t>Aggregated findings for the non-specialist hospitals.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03765"/>
            <a:ext cx="8434196" cy="976056"/>
          </a:xfrm>
        </p:spPr>
        <p:txBody>
          <a:bodyPr/>
          <a:lstStyle/>
          <a:p>
            <a:pPr marL="0" lvl="0" indent="0">
              <a:buNone/>
            </a:pPr>
            <a:r>
              <a:t>2.3 Summary of key findings (1)</a:t>
            </a:r>
          </a:p>
        </p:txBody>
      </p:sp>
      <p:sp>
        <p:nvSpPr>
          <p:cNvPr id="3" name="Content Placeholder 2"/>
          <p:cNvSpPr>
            <a:spLocks noGrp="1"/>
          </p:cNvSpPr>
          <p:nvPr>
            <p:ph idx="1"/>
          </p:nvPr>
        </p:nvSpPr>
        <p:spPr/>
        <p:txBody>
          <a:bodyPr/>
          <a:lstStyle/>
          <a:p>
            <a:pPr marL="0" lvl="0" indent="0">
              <a:buNone/>
            </a:pPr>
            <a:r>
              <a:rPr dirty="0"/>
              <a:t>Our results are generally not consistent within indicators and across hospital sites. This inconsistency is reflective of the findings from published literature. Only one impact measure moved in the same direction across all (eligible) sites - </a:t>
            </a:r>
            <a:r>
              <a:rPr b="1" dirty="0"/>
              <a:t>staff turnover decreasing</a:t>
            </a:r>
            <a:r>
              <a:rPr dirty="0"/>
              <a:t> </a:t>
            </a:r>
            <a:r>
              <a:rPr lang="en-GB" dirty="0"/>
              <a:t>– though no site results were significant, </a:t>
            </a:r>
            <a:r>
              <a:rPr dirty="0"/>
              <a:t>and </a:t>
            </a:r>
            <a:r>
              <a:rPr lang="en-GB" dirty="0"/>
              <a:t>three</a:t>
            </a:r>
            <a:r>
              <a:rPr dirty="0"/>
              <a:t> measures were significant at the pooled general-acute hospital level </a:t>
            </a:r>
            <a:r>
              <a:rPr lang="en-GB" dirty="0"/>
              <a:t>–</a:t>
            </a:r>
            <a:r>
              <a:rPr dirty="0"/>
              <a:t> </a:t>
            </a:r>
            <a:r>
              <a:rPr lang="en-GB" b="1" dirty="0"/>
              <a:t>patient experience increasing</a:t>
            </a:r>
            <a:r>
              <a:rPr lang="en-GB" dirty="0"/>
              <a:t>, </a:t>
            </a:r>
            <a:r>
              <a:rPr b="1" dirty="0"/>
              <a:t>staff sickness increasing</a:t>
            </a:r>
            <a:r>
              <a:rPr dirty="0"/>
              <a:t> and </a:t>
            </a:r>
            <a:r>
              <a:rPr b="1" dirty="0"/>
              <a:t>staff satisfaction decreasing</a:t>
            </a:r>
            <a:r>
              <a:rPr dirty="0"/>
              <a:t>.</a:t>
            </a:r>
          </a:p>
          <a:p>
            <a:pPr marL="0" lvl="0" indent="0">
              <a:buNone/>
            </a:pPr>
            <a:r>
              <a:rPr dirty="0"/>
              <a:t>This suggests that there are many factors in the hospital design, systems, policies and cultures that are important. Switching to single bedroom hospitals without considering these other factors would not necessarily have a positive effect on outcomes nor mitigate any likely risks.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38150"/>
            <a:ext cx="8434196" cy="914400"/>
          </a:xfrm>
        </p:spPr>
        <p:txBody>
          <a:bodyPr/>
          <a:lstStyle/>
          <a:p>
            <a:pPr marL="0" lvl="0" indent="0">
              <a:buNone/>
            </a:pPr>
            <a:r>
              <a:t>2.4 Summary of key findings (2)</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type="body" sz="quarter" idx="13"/>
          </p:nvPr>
        </p:nvSpPr>
        <p:spPr/>
        <p:txBody>
          <a:bodyPr anchor="t"/>
          <a:lstStyle/>
          <a:p>
            <a:pPr marL="0" lvl="0" indent="0">
              <a:buNone/>
            </a:pPr>
            <a:r>
              <a:rPr dirty="0"/>
              <a:t>The table across demonstrates the range of impacts across all new hospital sites for each impact measure as well as point estimates for pooled general acute sites.</a:t>
            </a:r>
            <a:endParaRPr lang="en-GB" dirty="0"/>
          </a:p>
          <a:p>
            <a:pPr marL="0" lvl="0" indent="0">
              <a:buNone/>
            </a:pPr>
            <a:endParaRPr lang="en-GB" dirty="0"/>
          </a:p>
          <a:p>
            <a:pPr marL="0" lvl="0" indent="0">
              <a:buNone/>
            </a:pPr>
            <a:endParaRPr lang="en-GB" dirty="0"/>
          </a:p>
          <a:p>
            <a:pPr marL="0" lvl="0" indent="0">
              <a:buNone/>
            </a:pPr>
            <a:endParaRPr lang="en-GB" dirty="0"/>
          </a:p>
          <a:p>
            <a:pPr marL="0" lvl="0" indent="0">
              <a:buNone/>
            </a:pPr>
            <a:r>
              <a:rPr lang="en-GB" sz="1200" b="1" dirty="0"/>
              <a:t>^ </a:t>
            </a:r>
            <a:r>
              <a:rPr lang="en-GB" sz="1200" b="1" u="sng" dirty="0"/>
              <a:t>Point estimate </a:t>
            </a:r>
            <a:r>
              <a:rPr lang="en-GB" sz="1200" b="1" dirty="0"/>
              <a:t>of impacts for all study sites were the same side of no effect.</a:t>
            </a:r>
          </a:p>
          <a:p>
            <a:pPr marL="0" lvl="0" indent="0">
              <a:buNone/>
            </a:pPr>
            <a:r>
              <a:rPr lang="en-GB" sz="1200" b="1" dirty="0"/>
              <a:t>* The pooled (general acute sites) impact was significantly different to no effect.</a:t>
            </a:r>
            <a:endParaRPr sz="1200" b="1" dirty="0"/>
          </a:p>
        </p:txBody>
      </p:sp>
      <p:pic>
        <p:nvPicPr>
          <p:cNvPr id="3" name="Picture 1"/>
          <p:cNvPicPr>
            <a:picLocks noGrp="1" noChangeAspect="1"/>
          </p:cNvPicPr>
          <p:nvPr/>
        </p:nvPicPr>
        <p:blipFill>
          <a:blip r:embed="rId2"/>
          <a:srcRect/>
          <a:stretch/>
        </p:blipFill>
        <p:spPr bwMode="auto">
          <a:xfrm>
            <a:off x="4250901" y="1550987"/>
            <a:ext cx="7180085" cy="3838135"/>
          </a:xfrm>
          <a:prstGeom prst="rect">
            <a:avLst/>
          </a:prstGeom>
          <a:noFill/>
          <a:ln w="9525">
            <a:noFill/>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03765"/>
            <a:ext cx="8434196" cy="976056"/>
          </a:xfrm>
        </p:spPr>
        <p:txBody>
          <a:bodyPr/>
          <a:lstStyle/>
          <a:p>
            <a:pPr marL="0" lvl="0" indent="0">
              <a:buNone/>
            </a:pPr>
            <a:r>
              <a:t>2.5 Limitations</a:t>
            </a:r>
          </a:p>
        </p:txBody>
      </p:sp>
      <p:sp>
        <p:nvSpPr>
          <p:cNvPr id="3" name="Content Placeholder 2"/>
          <p:cNvSpPr>
            <a:spLocks noGrp="1"/>
          </p:cNvSpPr>
          <p:nvPr>
            <p:ph idx="1"/>
          </p:nvPr>
        </p:nvSpPr>
        <p:spPr/>
        <p:txBody>
          <a:bodyPr/>
          <a:lstStyle/>
          <a:p>
            <a:pPr marL="360363" lvl="0" indent="-273050">
              <a:buFont typeface="Arial" panose="020B0604020202020204" pitchFamily="34" charset="0"/>
              <a:buChar char="•"/>
            </a:pPr>
            <a:r>
              <a:rPr dirty="0"/>
              <a:t>Data quality and consistency issues over time</a:t>
            </a:r>
          </a:p>
          <a:p>
            <a:pPr marL="360363" lvl="0" indent="-273050">
              <a:buFont typeface="Arial" panose="020B0604020202020204" pitchFamily="34" charset="0"/>
              <a:buChar char="•"/>
            </a:pPr>
            <a:r>
              <a:rPr dirty="0"/>
              <a:t>No below site-level analysis possible (e.g. treatment specialty/service)</a:t>
            </a:r>
          </a:p>
          <a:p>
            <a:pPr marL="360363" lvl="0" indent="-273050">
              <a:buFont typeface="Arial" panose="020B0604020202020204" pitchFamily="34" charset="0"/>
              <a:buChar char="•"/>
            </a:pPr>
            <a:r>
              <a:rPr dirty="0"/>
              <a:t>Poor sensitivity/specificity of some of </a:t>
            </a:r>
            <a:r>
              <a:rPr lang="en-GB" dirty="0"/>
              <a:t>our</a:t>
            </a:r>
            <a:r>
              <a:rPr dirty="0"/>
              <a:t> proxy measures</a:t>
            </a:r>
          </a:p>
          <a:p>
            <a:pPr marL="360363" lvl="0" indent="-273050">
              <a:buFont typeface="Arial" panose="020B0604020202020204" pitchFamily="34" charset="0"/>
              <a:buChar char="•"/>
            </a:pPr>
            <a:r>
              <a:rPr dirty="0"/>
              <a:t>Dose-response effects are not possible to ascertain (e.g. an x% change in SBR leads to a y% change in impact A)</a:t>
            </a:r>
          </a:p>
          <a:p>
            <a:pPr marL="360363" lvl="0" indent="-273050">
              <a:buFont typeface="Arial" panose="020B0604020202020204" pitchFamily="34" charset="0"/>
              <a:buChar char="•"/>
            </a:pPr>
            <a:r>
              <a:rPr dirty="0"/>
              <a:t>Covid 19 bias in some of the pre and post trends</a:t>
            </a:r>
            <a:r>
              <a:rPr lang="en-GB" dirty="0"/>
              <a:t> at certain sites</a:t>
            </a:r>
            <a:endParaRPr dirty="0"/>
          </a:p>
          <a:p>
            <a:pPr marL="360363" lvl="0" indent="-273050">
              <a:buFont typeface="Arial" panose="020B0604020202020204" pitchFamily="34" charset="0"/>
              <a:buChar char="•"/>
            </a:pPr>
            <a:r>
              <a:rPr dirty="0"/>
              <a:t>Small pool of control sites and lack of comparability (specialist sites)</a:t>
            </a:r>
          </a:p>
          <a:p>
            <a:pPr marL="360363" lvl="0" indent="-273050">
              <a:buFont typeface="Arial" panose="020B0604020202020204" pitchFamily="34" charset="0"/>
              <a:buChar char="•"/>
            </a:pPr>
            <a:r>
              <a:rPr dirty="0"/>
              <a:t>Model fit and large credible intervals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03765"/>
            <a:ext cx="8434196" cy="976056"/>
          </a:xfrm>
        </p:spPr>
        <p:txBody>
          <a:bodyPr/>
          <a:lstStyle/>
          <a:p>
            <a:pPr marL="0" lvl="0" indent="0">
              <a:buNone/>
            </a:pPr>
            <a:r>
              <a:t>2.6 Recommendations</a:t>
            </a:r>
          </a:p>
        </p:txBody>
      </p:sp>
      <p:sp>
        <p:nvSpPr>
          <p:cNvPr id="3" name="Content Placeholder 2"/>
          <p:cNvSpPr>
            <a:spLocks noGrp="1"/>
          </p:cNvSpPr>
          <p:nvPr>
            <p:ph idx="1"/>
          </p:nvPr>
        </p:nvSpPr>
        <p:spPr/>
        <p:txBody>
          <a:bodyPr>
            <a:normAutofit lnSpcReduction="10000"/>
          </a:bodyPr>
          <a:lstStyle/>
          <a:p>
            <a:pPr marL="360363" lvl="0" indent="-273050">
              <a:buFont typeface="Arial" panose="020B0604020202020204" pitchFamily="34" charset="0"/>
              <a:buChar char="•"/>
            </a:pPr>
            <a:r>
              <a:rPr dirty="0"/>
              <a:t>Exercise caution when accounting for these impacts in business planning - use a range and suitable benchmark.</a:t>
            </a:r>
          </a:p>
          <a:p>
            <a:pPr marL="360363" lvl="0" indent="-273050">
              <a:buFont typeface="Arial" panose="020B0604020202020204" pitchFamily="34" charset="0"/>
              <a:buChar char="•"/>
            </a:pPr>
            <a:r>
              <a:rPr dirty="0"/>
              <a:t>Develop an evaluation framework from (some of) these measures, process indicators and wider evidence (logic model).</a:t>
            </a:r>
          </a:p>
          <a:p>
            <a:pPr marL="360363" lvl="0" indent="-273050">
              <a:buFont typeface="Arial" panose="020B0604020202020204" pitchFamily="34" charset="0"/>
              <a:buChar char="•"/>
            </a:pPr>
            <a:r>
              <a:rPr dirty="0"/>
              <a:t>Include qualitative survey measures for patients and staff (free text for thematic analysis)</a:t>
            </a:r>
            <a:r>
              <a:rPr lang="en-GB" dirty="0"/>
              <a:t> to support ongoing mitigation</a:t>
            </a:r>
            <a:r>
              <a:rPr dirty="0"/>
              <a:t>.</a:t>
            </a:r>
          </a:p>
          <a:p>
            <a:pPr marL="360363" lvl="0" indent="-273050">
              <a:buFont typeface="Arial" panose="020B0604020202020204" pitchFamily="34" charset="0"/>
              <a:buChar char="•"/>
            </a:pPr>
            <a:r>
              <a:rPr dirty="0"/>
              <a:t>Capture information on design, systemic and cultural factors that may also have bearing on these impacts.</a:t>
            </a:r>
          </a:p>
          <a:p>
            <a:pPr marL="360363" lvl="0" indent="-273050">
              <a:buFont typeface="Arial" panose="020B0604020202020204" pitchFamily="34" charset="0"/>
              <a:buChar char="•"/>
            </a:pPr>
            <a:r>
              <a:rPr dirty="0"/>
              <a:t>Start collecting data well before the change in bed provision and at least monthly</a:t>
            </a:r>
            <a:r>
              <a:rPr lang="en-GB" dirty="0"/>
              <a:t>.</a:t>
            </a:r>
            <a:endParaRPr dirty="0"/>
          </a:p>
          <a:p>
            <a:pPr marL="360363" lvl="0" indent="-273050">
              <a:buFont typeface="Arial" panose="020B0604020202020204" pitchFamily="34" charset="0"/>
              <a:buChar char="•"/>
            </a:pPr>
            <a:r>
              <a:rPr dirty="0"/>
              <a:t>System dynamics modelling </a:t>
            </a:r>
            <a:r>
              <a:rPr lang="en-GB" dirty="0"/>
              <a:t>c</a:t>
            </a:r>
            <a:r>
              <a:rPr dirty="0" err="1"/>
              <a:t>ould</a:t>
            </a:r>
            <a:r>
              <a:rPr dirty="0"/>
              <a:t> aid understanding of multi-factorial productivity impacts (i.e. waiting lists, length of stay and bed occupancy).</a:t>
            </a:r>
          </a:p>
          <a:p>
            <a:pPr marL="360363" lvl="0" indent="-273050">
              <a:buFont typeface="Arial" panose="020B0604020202020204" pitchFamily="34" charset="0"/>
              <a:buChar char="•"/>
            </a:pPr>
            <a:r>
              <a:rPr dirty="0"/>
              <a:t>Undertake length of stay sub-group analysis i.e. by clinical and patient groups.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199" y="4665306"/>
            <a:ext cx="7772400" cy="1308413"/>
          </a:xfrm>
        </p:spPr>
        <p:txBody>
          <a:bodyPr/>
          <a:lstStyle/>
          <a:p>
            <a:pPr marL="0" lvl="0" indent="0">
              <a:buNone/>
            </a:pPr>
            <a:r>
              <a:t>3. The impact framework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03765"/>
            <a:ext cx="8434196" cy="976056"/>
          </a:xfrm>
        </p:spPr>
        <p:txBody>
          <a:bodyPr/>
          <a:lstStyle/>
          <a:p>
            <a:pPr marL="0" lvl="0" indent="0">
              <a:buNone/>
            </a:pPr>
            <a:r>
              <a:t>3.1 Overview</a:t>
            </a:r>
          </a:p>
        </p:txBody>
      </p:sp>
      <p:pic>
        <p:nvPicPr>
          <p:cNvPr id="3" name="Picture 1" descr="images/indicators.jpeg"/>
          <p:cNvPicPr>
            <a:picLocks noGrp="1" noChangeAspect="1"/>
          </p:cNvPicPr>
          <p:nvPr/>
        </p:nvPicPr>
        <p:blipFill>
          <a:blip r:embed="rId2"/>
          <a:stretch>
            <a:fillRect/>
          </a:stretch>
        </p:blipFill>
        <p:spPr bwMode="auto">
          <a:xfrm>
            <a:off x="901700" y="2032000"/>
            <a:ext cx="10414000" cy="3454400"/>
          </a:xfrm>
          <a:prstGeom prst="rect">
            <a:avLst/>
          </a:prstGeom>
          <a:noFill/>
          <a:ln w="9525">
            <a:noFill/>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03765"/>
            <a:ext cx="8434196" cy="976056"/>
          </a:xfrm>
        </p:spPr>
        <p:txBody>
          <a:bodyPr>
            <a:normAutofit fontScale="90000"/>
          </a:bodyPr>
          <a:lstStyle/>
          <a:p>
            <a:pPr marL="0" lvl="0" indent="0">
              <a:buNone/>
            </a:pPr>
            <a:r>
              <a:t>3.2 Indicator availability and time of SBR changes by site</a:t>
            </a:r>
          </a:p>
        </p:txBody>
      </p:sp>
      <p:pic>
        <p:nvPicPr>
          <p:cNvPr id="3" name="Picture 1" descr="NHP_SBR-impacts_2024_summaryfinal_files/figure-pptx/ind_timeline-1.png"/>
          <p:cNvPicPr>
            <a:picLocks noGrp="1" noChangeAspect="1"/>
          </p:cNvPicPr>
          <p:nvPr/>
        </p:nvPicPr>
        <p:blipFill>
          <a:blip r:embed="rId2"/>
          <a:stretch>
            <a:fillRect/>
          </a:stretch>
        </p:blipFill>
        <p:spPr bwMode="auto">
          <a:xfrm>
            <a:off x="2032000" y="1727200"/>
            <a:ext cx="8153400" cy="4076700"/>
          </a:xfrm>
          <a:prstGeom prst="rect">
            <a:avLst/>
          </a:prstGeom>
          <a:noFill/>
          <a:ln w="9525">
            <a:noFill/>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199" y="4665306"/>
            <a:ext cx="7772400" cy="1308413"/>
          </a:xfrm>
        </p:spPr>
        <p:txBody>
          <a:bodyPr/>
          <a:lstStyle/>
          <a:p>
            <a:pPr marL="0" lvl="0" indent="0">
              <a:buNone/>
            </a:pPr>
            <a:r>
              <a:t>4. The hospitals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38150"/>
            <a:ext cx="8434196" cy="914400"/>
          </a:xfrm>
        </p:spPr>
        <p:txBody>
          <a:bodyPr/>
          <a:lstStyle/>
          <a:p>
            <a:pPr marL="0" lvl="0" indent="0">
              <a:buNone/>
            </a:pPr>
            <a:r>
              <a:t>4.1 Seven natural experiments</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type="body" sz="quarter" idx="13"/>
          </p:nvPr>
        </p:nvSpPr>
        <p:spPr/>
        <p:txBody>
          <a:bodyPr>
            <a:normAutofit lnSpcReduction="10000"/>
          </a:bodyPr>
          <a:lstStyle/>
          <a:p>
            <a:pPr lvl="0"/>
            <a:r>
              <a:t>Royal Liverpool (Oct 2022)</a:t>
            </a:r>
          </a:p>
          <a:p>
            <a:pPr lvl="0"/>
            <a:r>
              <a:t>Clatterbridge Cancer Centre (June 2020)</a:t>
            </a:r>
          </a:p>
          <a:p>
            <a:pPr lvl="0"/>
            <a:r>
              <a:t>Royal Papworth Hospital (May 2019)</a:t>
            </a:r>
          </a:p>
          <a:p>
            <a:pPr lvl="0"/>
            <a:r>
              <a:t>Chase Farm Hospital (Sept 2018)</a:t>
            </a:r>
          </a:p>
          <a:p>
            <a:pPr lvl="0"/>
            <a:r>
              <a:t>Southmead Hospital (May 2014)</a:t>
            </a:r>
          </a:p>
          <a:p>
            <a:pPr lvl="0"/>
            <a:r>
              <a:t>Tunbridge Wells (Jan/Sept 2011)</a:t>
            </a:r>
          </a:p>
          <a:p>
            <a:pPr lvl="0"/>
            <a:r>
              <a:t>Peterborough Hospital (Nov 2010)</a:t>
            </a:r>
          </a:p>
        </p:txBody>
      </p:sp>
      <p:pic>
        <p:nvPicPr>
          <p:cNvPr id="3" name="Picture 1" descr="images/hospitals_map.png"/>
          <p:cNvPicPr>
            <a:picLocks noGrp="1" noChangeAspect="1"/>
          </p:cNvPicPr>
          <p:nvPr/>
        </p:nvPicPr>
        <p:blipFill>
          <a:blip r:embed="rId2"/>
          <a:stretch>
            <a:fillRect/>
          </a:stretch>
        </p:blipFill>
        <p:spPr bwMode="auto">
          <a:xfrm>
            <a:off x="4406900" y="1549400"/>
            <a:ext cx="6438900" cy="4254500"/>
          </a:xfrm>
          <a:prstGeom prst="rect">
            <a:avLst/>
          </a:prstGeom>
          <a:noFill/>
          <a:ln w="9525">
            <a:noFill/>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03765"/>
            <a:ext cx="8434196" cy="976056"/>
          </a:xfrm>
        </p:spPr>
        <p:txBody>
          <a:bodyPr/>
          <a:lstStyle/>
          <a:p>
            <a:pPr marL="0" lvl="0" indent="0">
              <a:buNone/>
            </a:pPr>
            <a:r>
              <a:t>4.2 Heterogeneity</a:t>
            </a:r>
          </a:p>
        </p:txBody>
      </p:sp>
      <p:sp>
        <p:nvSpPr>
          <p:cNvPr id="3" name="Content Placeholder 2"/>
          <p:cNvSpPr>
            <a:spLocks noGrp="1"/>
          </p:cNvSpPr>
          <p:nvPr>
            <p:ph idx="1"/>
          </p:nvPr>
        </p:nvSpPr>
        <p:spPr/>
        <p:txBody>
          <a:bodyPr/>
          <a:lstStyle/>
          <a:p>
            <a:pPr marL="0" lvl="0" indent="0">
              <a:buNone/>
            </a:pPr>
            <a:r>
              <a:t>No hospital site is the same as another. This is no more true than for our 7 natural experiments. The sites are a mixture of general acute hospitals and specialist ones. They vary in size and function and there are many possible confounding factors in the input-output logic model for our impacts that we can not identify nor account for.</a:t>
            </a:r>
          </a:p>
          <a:p>
            <a:pPr marL="0" lvl="0" indent="0">
              <a:buNone/>
            </a:pPr>
            <a:r>
              <a:t>In aggregating some of the findings in this analysis, we have grouped the general acute sites together for indicative purposes. However; the nature of those hospital systems and the social and cultural circumstance should be considerations when both interpreting our findings and also in considering single-bed provision within new hospital developments.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199" y="4665306"/>
            <a:ext cx="7772400" cy="1308413"/>
          </a:xfrm>
        </p:spPr>
        <p:txBody>
          <a:bodyPr/>
          <a:lstStyle/>
          <a:p>
            <a:pPr marL="0" lvl="0" indent="0">
              <a:buNone/>
            </a:pPr>
            <a:r>
              <a:t>5. Summary of methods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352" y="419100"/>
            <a:ext cx="9720072" cy="933450"/>
          </a:xfrm>
        </p:spPr>
        <p:txBody>
          <a:bodyPr/>
          <a:lstStyle/>
          <a:p>
            <a:pPr marL="0" lvl="0" indent="0">
              <a:buNone/>
            </a:pPr>
            <a:r>
              <a:t>5.1 Selecting control sites</a:t>
            </a:r>
          </a:p>
        </p:txBody>
      </p:sp>
      <p:sp>
        <p:nvSpPr>
          <p:cNvPr id="3" name="Content Placeholder 2">
            <a:extLst>
              <a:ext uri="{FF2B5EF4-FFF2-40B4-BE49-F238E27FC236}">
                <a16:creationId xmlns:a16="http://schemas.microsoft.com/office/drawing/2014/main" id="{D2592819-5C80-B996-F823-F8B9F9EAD6C9}"/>
              </a:ext>
            </a:extLst>
          </p:cNvPr>
          <p:cNvSpPr>
            <a:spLocks noGrp="1"/>
          </p:cNvSpPr>
          <p:nvPr>
            <p:ph idx="10"/>
          </p:nvPr>
        </p:nvSpPr>
        <p:spPr/>
        <p:txBody>
          <a:bodyPr>
            <a:normAutofit lnSpcReduction="10000"/>
          </a:bodyPr>
          <a:lstStyle/>
          <a:p>
            <a:pPr marL="0" lvl="0" indent="0">
              <a:buNone/>
            </a:pPr>
            <a:r>
              <a:t>Before including control sites into the calculation of the post-intervention counterfactual, we must ensure they’re similar to the site under study. We do this in several consecutive steps:</a:t>
            </a:r>
          </a:p>
          <a:p>
            <a:pPr marL="457200" lvl="0" indent="-457200">
              <a:buAutoNum type="arabicPeriod"/>
            </a:pPr>
            <a:r>
              <a:t>Filter on similar site types e.g. General Acute, Tertiary Centre</a:t>
            </a:r>
          </a:p>
          <a:p>
            <a:pPr marL="457200" lvl="0" indent="-457200">
              <a:buAutoNum type="arabicPeriod"/>
            </a:pPr>
            <a:r>
              <a:t>Exclude those with dissimilar single bed %‘s at the point of ’intervention’</a:t>
            </a:r>
          </a:p>
          <a:p>
            <a:pPr marL="457200" lvl="0" indent="-457200">
              <a:buAutoNum type="arabicPeriod"/>
            </a:pPr>
            <a:r>
              <a:t>Match (on the closest 20) according to the following variables:</a:t>
            </a:r>
          </a:p>
          <a:p>
            <a:pPr lvl="0"/>
            <a:r>
              <a:t>Hospital size (m2)</a:t>
            </a:r>
          </a:p>
          <a:p>
            <a:pPr lvl="0"/>
            <a:r>
              <a:t>Patient case-mix (median age)</a:t>
            </a:r>
          </a:p>
          <a:p>
            <a:pPr lvl="0"/>
            <a:r>
              <a:t>Elective:Non-elective spell ratio</a:t>
            </a:r>
          </a:p>
        </p:txBody>
      </p:sp>
      <p:pic>
        <p:nvPicPr>
          <p:cNvPr id="4" name="Picture 1" descr="images/control_flowchart.png"/>
          <p:cNvPicPr>
            <a:picLocks noGrp="1" noChangeAspect="1"/>
          </p:cNvPicPr>
          <p:nvPr/>
        </p:nvPicPr>
        <p:blipFill>
          <a:blip r:embed="rId2"/>
          <a:stretch>
            <a:fillRect/>
          </a:stretch>
        </p:blipFill>
        <p:spPr bwMode="auto">
          <a:xfrm>
            <a:off x="6223000" y="1993900"/>
            <a:ext cx="5041900" cy="3467100"/>
          </a:xfrm>
          <a:prstGeom prst="rect">
            <a:avLst/>
          </a:prstGeom>
          <a:noFill/>
          <a:ln w="9525">
            <a:noFill/>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352" y="419100"/>
            <a:ext cx="9720072" cy="933450"/>
          </a:xfrm>
        </p:spPr>
        <p:txBody>
          <a:bodyPr/>
          <a:lstStyle/>
          <a:p>
            <a:pPr marL="0" lvl="0" indent="0">
              <a:buNone/>
            </a:pPr>
            <a:r>
              <a:t>5.2 Causal Impact Analysis</a:t>
            </a:r>
          </a:p>
        </p:txBody>
      </p:sp>
      <p:sp>
        <p:nvSpPr>
          <p:cNvPr id="3" name="Content Placeholder 2">
            <a:extLst>
              <a:ext uri="{FF2B5EF4-FFF2-40B4-BE49-F238E27FC236}">
                <a16:creationId xmlns:a16="http://schemas.microsoft.com/office/drawing/2014/main" id="{D2592819-5C80-B996-F823-F8B9F9EAD6C9}"/>
              </a:ext>
            </a:extLst>
          </p:cNvPr>
          <p:cNvSpPr>
            <a:spLocks noGrp="1"/>
          </p:cNvSpPr>
          <p:nvPr>
            <p:ph idx="10"/>
          </p:nvPr>
        </p:nvSpPr>
        <p:spPr/>
        <p:txBody>
          <a:bodyPr/>
          <a:lstStyle/>
          <a:p>
            <a:pPr marL="0" lvl="0" indent="0">
              <a:buNone/>
            </a:pPr>
            <a:r>
              <a:t>Causal Impact Analysis (CIA), developed by K. Broderson in 2014, explicitly uses prior trends and ‘market-matched’ control analysis to predict a future time series. The observed values for the study site are compared to this prediction to determine the direction, magnitude and significance of impacts as a result of the intervention.</a:t>
            </a:r>
          </a:p>
          <a:p>
            <a:pPr marL="0" lvl="0" indent="0">
              <a:buNone/>
            </a:pPr>
            <a:r>
              <a:t>All our analysis has been performed in R software (v4.3.2+) with the following packages - CausalImpact, MarketMatching, dtw, metafor.</a:t>
            </a:r>
          </a:p>
        </p:txBody>
      </p:sp>
      <p:pic>
        <p:nvPicPr>
          <p:cNvPr id="4" name="Picture 1" descr="fig:  images/cia_example.png"/>
          <p:cNvPicPr>
            <a:picLocks noGrp="1" noChangeAspect="1"/>
          </p:cNvPicPr>
          <p:nvPr/>
        </p:nvPicPr>
        <p:blipFill>
          <a:blip r:embed="rId2"/>
          <a:stretch>
            <a:fillRect/>
          </a:stretch>
        </p:blipFill>
        <p:spPr bwMode="auto">
          <a:xfrm>
            <a:off x="7188200" y="1612900"/>
            <a:ext cx="3098800" cy="3721100"/>
          </a:xfrm>
          <a:prstGeom prst="rect">
            <a:avLst/>
          </a:prstGeom>
          <a:noFill/>
          <a:ln w="9525">
            <a:noFill/>
            <a:headEnd/>
            <a:tailEnd/>
          </a:ln>
        </p:spPr>
      </p:pic>
      <p:sp>
        <p:nvSpPr>
          <p:cNvPr id="5" name="TextBox 3"/>
          <p:cNvSpPr txBox="1"/>
          <p:nvPr/>
        </p:nvSpPr>
        <p:spPr>
          <a:xfrm>
            <a:off x="6223000" y="5334000"/>
            <a:ext cx="5041900" cy="508000"/>
          </a:xfrm>
          <a:prstGeom prst="rect">
            <a:avLst/>
          </a:prstGeom>
          <a:noFill/>
        </p:spPr>
        <p:txBody>
          <a:bodyPr/>
          <a:lstStyle/>
          <a:p>
            <a:pPr marL="0" lvl="0" indent="0" algn="ctr">
              <a:buNone/>
            </a:pPr>
            <a:r>
              <a:t>Example of CIA analysis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4017216-6A6A-9D0E-4C24-AFE34062BE1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200" t="15744" b="12638"/>
          <a:stretch>
            <a:fillRect/>
          </a:stretch>
        </p:blipFill>
        <p:spPr bwMode="auto">
          <a:xfrm>
            <a:off x="6223000" y="2743200"/>
            <a:ext cx="5041900" cy="1447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919352" y="419100"/>
            <a:ext cx="9720072" cy="933450"/>
          </a:xfrm>
        </p:spPr>
        <p:txBody>
          <a:bodyPr/>
          <a:lstStyle/>
          <a:p>
            <a:pPr marL="0" lvl="0" indent="0">
              <a:buNone/>
            </a:pPr>
            <a:r>
              <a:t>5.3 Aggregating impacts</a:t>
            </a:r>
          </a:p>
        </p:txBody>
      </p:sp>
      <p:sp>
        <p:nvSpPr>
          <p:cNvPr id="3" name="Content Placeholder 2">
            <a:extLst>
              <a:ext uri="{FF2B5EF4-FFF2-40B4-BE49-F238E27FC236}">
                <a16:creationId xmlns:a16="http://schemas.microsoft.com/office/drawing/2014/main" id="{D2592819-5C80-B996-F823-F8B9F9EAD6C9}"/>
              </a:ext>
            </a:extLst>
          </p:cNvPr>
          <p:cNvSpPr>
            <a:spLocks noGrp="1"/>
          </p:cNvSpPr>
          <p:nvPr>
            <p:ph idx="10"/>
          </p:nvPr>
        </p:nvSpPr>
        <p:spPr/>
        <p:txBody>
          <a:bodyPr/>
          <a:lstStyle/>
          <a:p>
            <a:pPr marL="0" lvl="0" indent="0">
              <a:buNone/>
            </a:pPr>
            <a:r>
              <a:t>Where for each impact measure there were 2 or more general and acute hospitals, a meta-analysis was conducted. The specialist hospital sites were excluded from this analysis as it is felt the effects at these sites may not be generalisable when considering future building of general acute hospitals.</a:t>
            </a:r>
          </a:p>
          <a:p>
            <a:pPr marL="0" lvl="0" indent="0">
              <a:buNone/>
            </a:pPr>
            <a:r>
              <a:t>A random-effects meta-analysis was conducted using the metafor R package (Viechtbauer 2024) and with the relative effects for each site weighted using the inverse variance, as used for meta-analysis of causal impact models by Schmitt et al. (Schmitt, Tull, and Atwater 2017).</a:t>
            </a:r>
          </a:p>
        </p:txBody>
      </p:sp>
      <p:sp>
        <p:nvSpPr>
          <p:cNvPr id="5" name="TextBox 3"/>
          <p:cNvSpPr txBox="1"/>
          <p:nvPr/>
        </p:nvSpPr>
        <p:spPr>
          <a:xfrm>
            <a:off x="6223000" y="5334000"/>
            <a:ext cx="5041900" cy="508000"/>
          </a:xfrm>
          <a:prstGeom prst="rect">
            <a:avLst/>
          </a:prstGeom>
          <a:noFill/>
        </p:spPr>
        <p:txBody>
          <a:bodyPr/>
          <a:lstStyle/>
          <a:p>
            <a:pPr marL="0" lvl="0" indent="0" algn="ctr">
              <a:buNone/>
            </a:pPr>
            <a:r>
              <a:t>Example of meta-analysis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199" y="4665306"/>
            <a:ext cx="7772400" cy="1308413"/>
          </a:xfrm>
        </p:spPr>
        <p:txBody>
          <a:bodyPr/>
          <a:lstStyle/>
          <a:p>
            <a:pPr marL="0" lvl="0" indent="0">
              <a:buNone/>
            </a:pPr>
            <a:r>
              <a:t>6. Main results - Productivity and Efficiency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38150"/>
            <a:ext cx="8434196" cy="914400"/>
          </a:xfrm>
        </p:spPr>
        <p:txBody>
          <a:bodyPr/>
          <a:lstStyle/>
          <a:p>
            <a:pPr marL="0" lvl="0" indent="0">
              <a:buNone/>
            </a:pPr>
            <a:r>
              <a:t>6.1 Length of stay</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type="body" sz="quarter" idx="13"/>
          </p:nvPr>
        </p:nvSpPr>
        <p:spPr/>
        <p:txBody>
          <a:bodyPr/>
          <a:lstStyle/>
          <a:p>
            <a:pPr marL="0" lvl="0" indent="0">
              <a:buNone/>
            </a:pPr>
            <a:r>
              <a:t>This </a:t>
            </a:r>
            <a:r>
              <a:rPr b="1"/>
              <a:t>monthly</a:t>
            </a:r>
            <a:r>
              <a:t> data at </a:t>
            </a:r>
            <a:r>
              <a:rPr b="1"/>
              <a:t>site level</a:t>
            </a:r>
            <a:r>
              <a:t> is derived from the Secondary Uses Service (SUS) admitted patients care spells.</a:t>
            </a:r>
          </a:p>
          <a:p>
            <a:pPr marL="0" lvl="0" indent="0">
              <a:buNone/>
            </a:pPr>
            <a:r>
              <a:t>Mean length of stay (in days) significantly decreased at 3/6 sites (Southmead, Peterborough and Chase Farm), was unchanged at 2/6 sites (Royal Liverpool and Tunbridge Wells), but significantly increased at Clatterbridge.</a:t>
            </a:r>
          </a:p>
        </p:txBody>
      </p:sp>
      <p:pic>
        <p:nvPicPr>
          <p:cNvPr id="3" name="Picture 1" descr="NHP_SBR-impacts_2024_summaryfinal_files/figure-pptx/cia_los-1.png"/>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38150"/>
            <a:ext cx="8434196" cy="914400"/>
          </a:xfrm>
        </p:spPr>
        <p:txBody>
          <a:bodyPr/>
          <a:lstStyle/>
          <a:p>
            <a:pPr marL="0" lvl="0" indent="0">
              <a:buNone/>
            </a:pPr>
            <a:r>
              <a:t>6.2 Waiting times</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type="body" sz="quarter" idx="13"/>
          </p:nvPr>
        </p:nvSpPr>
        <p:spPr/>
        <p:txBody>
          <a:bodyPr/>
          <a:lstStyle/>
          <a:p>
            <a:pPr marL="0" lvl="0" indent="0">
              <a:buNone/>
            </a:pPr>
            <a:r>
              <a:t>This </a:t>
            </a:r>
            <a:r>
              <a:rPr b="1"/>
              <a:t>monthly</a:t>
            </a:r>
            <a:r>
              <a:t> data at </a:t>
            </a:r>
            <a:r>
              <a:rPr b="1"/>
              <a:t>provider level</a:t>
            </a:r>
            <a:r>
              <a:t> is from published RTT waiting times dataset (via UDAL).</a:t>
            </a:r>
          </a:p>
          <a:p>
            <a:pPr marL="0" lvl="0" indent="0">
              <a:buNone/>
            </a:pPr>
            <a:r>
              <a:t>The median referral to treatment waiting time (in weeks) significantly decreased at 2/5 sites (Royal Liverpool and Peterborough) and was unchanged at 2/5 sites (Papworth and Clatterbridge) and increased at Tunbridge Wells.</a:t>
            </a:r>
          </a:p>
        </p:txBody>
      </p:sp>
      <p:pic>
        <p:nvPicPr>
          <p:cNvPr id="3" name="Picture 1" descr="NHP_SBR-impacts_2024_summaryfinal_files/figure-pptx/cia_wait-1.png"/>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38150"/>
            <a:ext cx="8434196" cy="914400"/>
          </a:xfrm>
        </p:spPr>
        <p:txBody>
          <a:bodyPr/>
          <a:lstStyle/>
          <a:p>
            <a:pPr marL="0" lvl="0" indent="0">
              <a:buNone/>
            </a:pPr>
            <a:r>
              <a:t>6.3 Bed Occupancy</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type="body" sz="quarter" idx="13"/>
          </p:nvPr>
        </p:nvSpPr>
        <p:spPr/>
        <p:txBody>
          <a:bodyPr/>
          <a:lstStyle/>
          <a:p>
            <a:pPr marL="0" lvl="0" indent="0">
              <a:buNone/>
            </a:pPr>
            <a:r>
              <a:t>This </a:t>
            </a:r>
            <a:r>
              <a:rPr b="1"/>
              <a:t>quarterly</a:t>
            </a:r>
            <a:r>
              <a:t> data at </a:t>
            </a:r>
            <a:r>
              <a:rPr b="1"/>
              <a:t>provider level</a:t>
            </a:r>
            <a:r>
              <a:t> is from published KH03 bed returns (via UDAL).</a:t>
            </a:r>
          </a:p>
          <a:p>
            <a:pPr marL="0" lvl="0" indent="0">
              <a:buNone/>
            </a:pPr>
            <a:r>
              <a:t>Bed occupancy is measured quarterly and is only available at a Provider level. The percentage of available beds occupied significantly increased at 2/4 sites (Clatterbridge and Southmead) and was unchanged at 2/4 (Royal Liverpool and and Chase Farm).</a:t>
            </a:r>
          </a:p>
        </p:txBody>
      </p:sp>
      <p:pic>
        <p:nvPicPr>
          <p:cNvPr id="3" name="Picture 1" descr="NHP_SBR-impacts_2024_summaryfinal_files/figure-pptx/cia_bedocc-1.png"/>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38150"/>
            <a:ext cx="8434196" cy="914400"/>
          </a:xfrm>
        </p:spPr>
        <p:txBody>
          <a:bodyPr/>
          <a:lstStyle/>
          <a:p>
            <a:pPr marL="0" lvl="0" indent="0">
              <a:buNone/>
            </a:pPr>
            <a:r>
              <a:t>6.4 Emergency readmissions</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type="body" sz="quarter" idx="13"/>
          </p:nvPr>
        </p:nvSpPr>
        <p:spPr/>
        <p:txBody>
          <a:bodyPr/>
          <a:lstStyle/>
          <a:p>
            <a:pPr marL="0" lvl="0" indent="0">
              <a:buNone/>
            </a:pPr>
            <a:r>
              <a:t>This </a:t>
            </a:r>
            <a:r>
              <a:rPr b="1"/>
              <a:t>monthly</a:t>
            </a:r>
            <a:r>
              <a:t> data at </a:t>
            </a:r>
            <a:r>
              <a:rPr b="1"/>
              <a:t>site level</a:t>
            </a:r>
            <a:r>
              <a:t> is derived from SUS admitted patient care records.</a:t>
            </a:r>
          </a:p>
          <a:p>
            <a:pPr marL="0" lvl="0" indent="0">
              <a:buNone/>
            </a:pPr>
            <a:r>
              <a:t>The percentage of admissions that are emergency readmissions &lt; 30 days of discharge significantly decreased at 3/7 sites (Tunbridge Wells, Peterborough and Clatterbridge) and was unchanged at the remaining 4/7 sites.</a:t>
            </a:r>
          </a:p>
        </p:txBody>
      </p:sp>
      <p:pic>
        <p:nvPicPr>
          <p:cNvPr id="3" name="Picture 1" descr="NHP_SBR-impacts_2024_summaryfinal_files/figure-pptx/cia_emergreadm-1.png"/>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38150"/>
            <a:ext cx="8434196" cy="914400"/>
          </a:xfrm>
        </p:spPr>
        <p:txBody>
          <a:bodyPr/>
          <a:lstStyle/>
          <a:p>
            <a:pPr marL="0" lvl="0" indent="0">
              <a:buNone/>
            </a:pPr>
            <a:r>
              <a:t>6.5 Cleaning costs</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type="body" sz="quarter" idx="13"/>
          </p:nvPr>
        </p:nvSpPr>
        <p:spPr/>
        <p:txBody>
          <a:bodyPr/>
          <a:lstStyle/>
          <a:p>
            <a:pPr marL="0" lvl="0" indent="0">
              <a:buNone/>
            </a:pPr>
            <a:r>
              <a:t>This </a:t>
            </a:r>
            <a:r>
              <a:rPr b="1"/>
              <a:t>annual</a:t>
            </a:r>
            <a:r>
              <a:t> data at </a:t>
            </a:r>
            <a:r>
              <a:rPr b="1"/>
              <a:t>site level</a:t>
            </a:r>
            <a:r>
              <a:t> is taken from published Estates Return Information Collection (ERIC) datasets.</a:t>
            </a:r>
          </a:p>
          <a:p>
            <a:pPr marL="0" lvl="0" indent="0">
              <a:buNone/>
            </a:pPr>
            <a:r>
              <a:t>The cleaning costs (in £) per square metre of occupied floor space significantly increased at 1/3 sites (Royal Liverpool) but decreased at 2/3 sites (Clatterbridge and Papworth).</a:t>
            </a:r>
          </a:p>
        </p:txBody>
      </p:sp>
      <p:pic>
        <p:nvPicPr>
          <p:cNvPr id="3" name="Picture 1" descr="NHP_SBR-impacts_2024_summaryfinal_files/figure-pptx/cia_cleaning-1.png"/>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199" y="4665306"/>
            <a:ext cx="7772400" cy="1308413"/>
          </a:xfrm>
        </p:spPr>
        <p:txBody>
          <a:bodyPr/>
          <a:lstStyle/>
          <a:p>
            <a:pPr marL="0" lvl="0" indent="0">
              <a:buNone/>
            </a:pPr>
            <a:r>
              <a:t>7. Main results - Health and Safety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38150"/>
            <a:ext cx="8434196" cy="914400"/>
          </a:xfrm>
        </p:spPr>
        <p:txBody>
          <a:bodyPr/>
          <a:lstStyle/>
          <a:p>
            <a:pPr marL="0" lvl="0" indent="0">
              <a:buNone/>
            </a:pPr>
            <a:r>
              <a:t>7.1 In-hospital deaths</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type="body" sz="quarter" idx="13"/>
          </p:nvPr>
        </p:nvSpPr>
        <p:spPr/>
        <p:txBody>
          <a:bodyPr/>
          <a:lstStyle/>
          <a:p>
            <a:pPr marL="0" lvl="0" indent="0">
              <a:buNone/>
            </a:pPr>
            <a:r>
              <a:t>This </a:t>
            </a:r>
            <a:r>
              <a:rPr b="1"/>
              <a:t>monthly</a:t>
            </a:r>
            <a:r>
              <a:t> data at </a:t>
            </a:r>
            <a:r>
              <a:rPr b="1"/>
              <a:t>site level</a:t>
            </a:r>
            <a:r>
              <a:t> is derived from SUS admitted patient care records.</a:t>
            </a:r>
          </a:p>
          <a:p>
            <a:pPr marL="0" lvl="0" indent="0">
              <a:buNone/>
            </a:pPr>
            <a:r>
              <a:t>The rate of in-hospital deaths (number per 1,000 discharges) significantly decreased at 1/5 sites (Peterborough), and was unchanged at 4/5 sites (Royal Liverpool, Tunbridge Wells, Clatterbridge and Southmead).</a:t>
            </a:r>
          </a:p>
        </p:txBody>
      </p:sp>
      <p:pic>
        <p:nvPicPr>
          <p:cNvPr id="3" name="Picture 1" descr="NHP_SBR-impacts_2024_summaryfinal_files/figure-pptx/cia_mort-1.png"/>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38150"/>
            <a:ext cx="8434196" cy="914400"/>
          </a:xfrm>
        </p:spPr>
        <p:txBody>
          <a:bodyPr/>
          <a:lstStyle/>
          <a:p>
            <a:pPr marL="0" lvl="0" indent="0">
              <a:buNone/>
            </a:pPr>
            <a:r>
              <a:t>7.2 In-hospital falls and injuries</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type="body" sz="quarter" idx="13"/>
          </p:nvPr>
        </p:nvSpPr>
        <p:spPr/>
        <p:txBody>
          <a:bodyPr/>
          <a:lstStyle/>
          <a:p>
            <a:pPr marL="0" lvl="0" indent="0">
              <a:buNone/>
            </a:pPr>
            <a:r>
              <a:t>This </a:t>
            </a:r>
            <a:r>
              <a:rPr b="1"/>
              <a:t>monthly</a:t>
            </a:r>
            <a:r>
              <a:t> data at </a:t>
            </a:r>
            <a:r>
              <a:rPr b="1"/>
              <a:t>site level</a:t>
            </a:r>
            <a:r>
              <a:t> is derived from SUS admitted patient care records.</a:t>
            </a:r>
          </a:p>
          <a:p>
            <a:pPr marL="0" lvl="0" indent="0">
              <a:buNone/>
            </a:pPr>
            <a:r>
              <a:t>The rate of in-hospital falls and injuries (% of spells) significantly decreased at 1/4 sites (Peterborough), and was unchanged at 3/4 sites (Royal Liverpool, Tunbridge Wells and Southmead).</a:t>
            </a:r>
          </a:p>
        </p:txBody>
      </p:sp>
      <p:pic>
        <p:nvPicPr>
          <p:cNvPr id="3" name="Picture 1" descr="NHP_SBR-impacts_2024_summaryfinal_files/figure-pptx/cia_falls-1.png"/>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38150"/>
            <a:ext cx="8434196" cy="914400"/>
          </a:xfrm>
        </p:spPr>
        <p:txBody>
          <a:bodyPr>
            <a:normAutofit fontScale="90000"/>
          </a:bodyPr>
          <a:lstStyle/>
          <a:p>
            <a:pPr marL="0" lvl="0" indent="0">
              <a:buNone/>
            </a:pPr>
            <a:r>
              <a:t>7.3 Healthcare Acquired Infections (HCAI) - clostridium dificile</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type="body" sz="quarter" idx="13"/>
          </p:nvPr>
        </p:nvSpPr>
        <p:spPr/>
        <p:txBody>
          <a:bodyPr/>
          <a:lstStyle/>
          <a:p>
            <a:pPr marL="0" lvl="0" indent="0">
              <a:buNone/>
            </a:pPr>
            <a:r>
              <a:t>This </a:t>
            </a:r>
            <a:r>
              <a:rPr b="1"/>
              <a:t>monthly</a:t>
            </a:r>
            <a:r>
              <a:t> data at </a:t>
            </a:r>
            <a:r>
              <a:rPr b="1"/>
              <a:t>provider level</a:t>
            </a:r>
            <a:r>
              <a:t> is taken from published UKHSA surveillance data (via UDAL).</a:t>
            </a:r>
          </a:p>
          <a:p>
            <a:pPr marL="0" lvl="0" indent="0">
              <a:buNone/>
            </a:pPr>
            <a:r>
              <a:t>The rate of healthcare acquired C. difficile infections (cases per 10,000 bed days) decreased at 2/3 sites (Chase Farm and Southmead) but was unchanged at Royal Liverpool.</a:t>
            </a:r>
          </a:p>
        </p:txBody>
      </p:sp>
      <p:pic>
        <p:nvPicPr>
          <p:cNvPr id="3" name="Picture 1" descr="NHP_SBR-impacts_2024_summaryfinal_files/figure-pptx/cia_hcai-1.png"/>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199" y="4665306"/>
            <a:ext cx="7772400" cy="1308413"/>
          </a:xfrm>
        </p:spPr>
        <p:txBody>
          <a:bodyPr/>
          <a:lstStyle/>
          <a:p>
            <a:pPr marL="0" lvl="0" indent="0">
              <a:buNone/>
            </a:pPr>
            <a:r>
              <a:t>8. Main results - Patient and Staff Experience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38150"/>
            <a:ext cx="8434196" cy="914400"/>
          </a:xfrm>
        </p:spPr>
        <p:txBody>
          <a:bodyPr/>
          <a:lstStyle/>
          <a:p>
            <a:pPr marL="0" lvl="0" indent="0">
              <a:buNone/>
            </a:pPr>
            <a:r>
              <a:t>8.1 Family and Friends test</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type="body" sz="quarter" idx="13"/>
          </p:nvPr>
        </p:nvSpPr>
        <p:spPr/>
        <p:txBody>
          <a:bodyPr/>
          <a:lstStyle/>
          <a:p>
            <a:pPr marL="0" lvl="0" indent="0">
              <a:buNone/>
            </a:pPr>
            <a:r>
              <a:t>This </a:t>
            </a:r>
            <a:r>
              <a:rPr b="1"/>
              <a:t>monthly</a:t>
            </a:r>
            <a:r>
              <a:t> data at </a:t>
            </a:r>
            <a:r>
              <a:rPr b="1"/>
              <a:t>site level</a:t>
            </a:r>
            <a:r>
              <a:t> is taken from published NHS England data (via UDAL).</a:t>
            </a:r>
          </a:p>
          <a:p>
            <a:pPr marL="0" lvl="0" indent="0">
              <a:buNone/>
            </a:pPr>
            <a:r>
              <a:t>The percentage of positive responses significantly decreased at 1/5 sites (Clatterbridge), increased at 1/5 sites (Papworth) and was unchanged at the other 3/5 sites (Royal Liverpool, Southmead and Chase Farm).</a:t>
            </a:r>
          </a:p>
        </p:txBody>
      </p:sp>
      <p:pic>
        <p:nvPicPr>
          <p:cNvPr id="3" name="Picture 1" descr="NHP_SBR-impacts_2024_summaryfinal_files/figure-pptx/cia_famfriend-1.png"/>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38150"/>
            <a:ext cx="8434196" cy="914400"/>
          </a:xfrm>
        </p:spPr>
        <p:txBody>
          <a:bodyPr/>
          <a:lstStyle/>
          <a:p>
            <a:pPr marL="0" lvl="0" indent="0">
              <a:buNone/>
            </a:pPr>
            <a:r>
              <a:t>8.2 Staff sickness absence</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type="body" sz="quarter" idx="13"/>
          </p:nvPr>
        </p:nvSpPr>
        <p:spPr/>
        <p:txBody>
          <a:bodyPr/>
          <a:lstStyle/>
          <a:p>
            <a:pPr marL="0" lvl="0" indent="0">
              <a:buNone/>
            </a:pPr>
            <a:r>
              <a:t>This </a:t>
            </a:r>
            <a:r>
              <a:rPr b="1"/>
              <a:t>monthly</a:t>
            </a:r>
            <a:r>
              <a:t> data at </a:t>
            </a:r>
            <a:r>
              <a:rPr b="1"/>
              <a:t>provider level</a:t>
            </a:r>
            <a:r>
              <a:t> is taken from published NHS England data (via UDAL).</a:t>
            </a:r>
          </a:p>
          <a:p>
            <a:pPr marL="0" lvl="0" indent="0">
              <a:buNone/>
            </a:pPr>
            <a:r>
              <a:t>The percentage of available days taken off sick by staff significantly increased at 2/7 sites (Southmead and Tunbridge Wells) and was unchanged at the remaining 5 sites.</a:t>
            </a:r>
          </a:p>
        </p:txBody>
      </p:sp>
      <p:pic>
        <p:nvPicPr>
          <p:cNvPr id="3" name="Picture 1" descr="NHP_SBR-impacts_2024_summaryfinal_files/figure-pptx/cia_sick-1.png"/>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38150"/>
            <a:ext cx="8434196" cy="914400"/>
          </a:xfrm>
        </p:spPr>
        <p:txBody>
          <a:bodyPr/>
          <a:lstStyle/>
          <a:p>
            <a:pPr marL="0" lvl="0" indent="0">
              <a:buNone/>
            </a:pPr>
            <a:r>
              <a:t>8.3 Staff turnover</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type="body" sz="quarter" idx="13"/>
          </p:nvPr>
        </p:nvSpPr>
        <p:spPr/>
        <p:txBody>
          <a:bodyPr/>
          <a:lstStyle/>
          <a:p>
            <a:pPr marL="0" lvl="0" indent="0">
              <a:buNone/>
            </a:pPr>
            <a:r>
              <a:t>This </a:t>
            </a:r>
            <a:r>
              <a:rPr b="1"/>
              <a:t>monthly</a:t>
            </a:r>
            <a:r>
              <a:t> data at </a:t>
            </a:r>
            <a:r>
              <a:rPr b="1"/>
              <a:t>provider level</a:t>
            </a:r>
            <a:r>
              <a:t> is taken from published NHS England data (via UDAL).</a:t>
            </a:r>
          </a:p>
          <a:p>
            <a:pPr marL="0" lvl="0" indent="0">
              <a:buNone/>
            </a:pPr>
            <a:r>
              <a:t>Staff turnover measured as percentage of staff leaving was not significantly changed at any of the 3 sites where data was available.</a:t>
            </a:r>
          </a:p>
        </p:txBody>
      </p:sp>
      <p:pic>
        <p:nvPicPr>
          <p:cNvPr id="3" name="Picture 1" descr="NHP_SBR-impacts_2024_summaryfinal_files/figure-pptx/cia_turnover-1.png"/>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38150"/>
            <a:ext cx="8434196" cy="914400"/>
          </a:xfrm>
        </p:spPr>
        <p:txBody>
          <a:bodyPr>
            <a:normAutofit fontScale="90000"/>
          </a:bodyPr>
          <a:lstStyle/>
          <a:p>
            <a:pPr marL="0" lvl="0" indent="0">
              <a:buNone/>
            </a:pPr>
            <a:r>
              <a:t>8.4 Staff survey - recommending place to work</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type="body" sz="quarter" idx="13"/>
          </p:nvPr>
        </p:nvSpPr>
        <p:spPr/>
        <p:txBody>
          <a:bodyPr>
            <a:normAutofit lnSpcReduction="10000"/>
          </a:bodyPr>
          <a:lstStyle/>
          <a:p>
            <a:pPr marL="0" lvl="0" indent="0">
              <a:buNone/>
            </a:pPr>
            <a:r>
              <a:t>This </a:t>
            </a:r>
            <a:r>
              <a:rPr b="1"/>
              <a:t>monthly</a:t>
            </a:r>
            <a:r>
              <a:t> data at </a:t>
            </a:r>
            <a:r>
              <a:rPr b="1"/>
              <a:t>provider level</a:t>
            </a:r>
            <a:r>
              <a:t> is taken from published NHS England data (via UDAL).</a:t>
            </a:r>
          </a:p>
          <a:p>
            <a:pPr marL="0" lvl="0" indent="0">
              <a:buNone/>
            </a:pPr>
            <a:r>
              <a:t>The percentage of staff that would recommend their trust as a place to work significantly increased at 1/6 sites (Papworth), and was unchanged at 3/6 (Chase Farm, Royal Liverpool and Tunbridge Wells). At 2/6 sites (Southmead and Clatterbridge) there was a significant decrease in the percentage that would recommend their trust as a place to work.</a:t>
            </a:r>
          </a:p>
        </p:txBody>
      </p:sp>
      <p:pic>
        <p:nvPicPr>
          <p:cNvPr id="3" name="Picture 1" descr="NHP_SBR-impacts_2024_summaryfinal_files/figure-pptx/cia_survey-1.png"/>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199" y="4665306"/>
            <a:ext cx="7772400" cy="1308413"/>
          </a:xfrm>
        </p:spPr>
        <p:txBody>
          <a:bodyPr/>
          <a:lstStyle/>
          <a:p>
            <a:pPr marL="0" lvl="0" indent="0">
              <a:buNone/>
            </a:pPr>
            <a:r>
              <a:t>9. Next steps and actions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03765"/>
            <a:ext cx="8434196" cy="976056"/>
          </a:xfrm>
        </p:spPr>
        <p:txBody>
          <a:bodyPr/>
          <a:lstStyle/>
          <a:p>
            <a:pPr marL="0" lvl="0" indent="0">
              <a:buNone/>
            </a:pPr>
            <a:r>
              <a:t>9.1 Ongoing and related activities</a:t>
            </a:r>
          </a:p>
        </p:txBody>
      </p:sp>
      <p:sp>
        <p:nvSpPr>
          <p:cNvPr id="3" name="Content Placeholder 2"/>
          <p:cNvSpPr>
            <a:spLocks noGrp="1"/>
          </p:cNvSpPr>
          <p:nvPr>
            <p:ph idx="1"/>
          </p:nvPr>
        </p:nvSpPr>
        <p:spPr/>
        <p:txBody>
          <a:bodyPr/>
          <a:lstStyle/>
          <a:p>
            <a:pPr marL="360363" lvl="0" indent="-273050">
              <a:buFont typeface="Arial" panose="020B0604020202020204" pitchFamily="34" charset="0"/>
              <a:buChar char="•"/>
            </a:pPr>
            <a:r>
              <a:rPr dirty="0"/>
              <a:t>Discussing the NHP response to these findings (today’s session)</a:t>
            </a:r>
          </a:p>
          <a:p>
            <a:pPr marL="360363" lvl="0" indent="-273050">
              <a:buFont typeface="Arial" panose="020B0604020202020204" pitchFamily="34" charset="0"/>
              <a:buChar char="•"/>
            </a:pPr>
            <a:r>
              <a:rPr dirty="0"/>
              <a:t>NHP planning and modelling teams consider findings for inclusion in assumptions and demand &amp; capacity inflation and mitigation.</a:t>
            </a:r>
          </a:p>
          <a:p>
            <a:pPr marL="360363" lvl="0" indent="-273050">
              <a:buFont typeface="Arial" panose="020B0604020202020204" pitchFamily="34" charset="0"/>
              <a:buChar char="•"/>
            </a:pPr>
            <a:r>
              <a:rPr dirty="0"/>
              <a:t>Supporting development of monitoring and evaluation framework for NHP/SBR.</a:t>
            </a:r>
          </a:p>
          <a:p>
            <a:pPr marL="360363" lvl="0" indent="-273050">
              <a:buFont typeface="Arial" panose="020B0604020202020204" pitchFamily="34" charset="0"/>
              <a:buChar char="•"/>
            </a:pPr>
            <a:r>
              <a:rPr dirty="0"/>
              <a:t>Engage with the 7 providers in the study in terms of sharing of these findings in the public domain?</a:t>
            </a:r>
            <a:endParaRPr lang="en-GB" dirty="0"/>
          </a:p>
          <a:p>
            <a:pPr marL="360363" lvl="0" indent="-273050">
              <a:buFont typeface="Arial" panose="020B0604020202020204" pitchFamily="34" charset="0"/>
              <a:buChar char="•"/>
            </a:pPr>
            <a:r>
              <a:rPr lang="en-GB" dirty="0"/>
              <a:t>Consider regular (annual?) update of impact analysis for key indicators and inclusion of Midlands Met in retrospective review.</a:t>
            </a: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199" y="4665306"/>
            <a:ext cx="7772400" cy="1308413"/>
          </a:xfrm>
        </p:spPr>
        <p:txBody>
          <a:bodyPr/>
          <a:lstStyle/>
          <a:p>
            <a:pPr marL="0" lvl="0" indent="0">
              <a:buNone/>
            </a:pPr>
            <a:r>
              <a:t>10. Acknowledgements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03765"/>
            <a:ext cx="8434196" cy="976056"/>
          </a:xfrm>
        </p:spPr>
        <p:txBody>
          <a:bodyPr/>
          <a:lstStyle/>
          <a:p>
            <a:pPr marL="0" lvl="0" indent="0">
              <a:buNone/>
            </a:pPr>
            <a:r>
              <a:t>10.1 Acknowledgements</a:t>
            </a:r>
          </a:p>
        </p:txBody>
      </p:sp>
      <p:sp>
        <p:nvSpPr>
          <p:cNvPr id="3" name="Content Placeholder 2"/>
          <p:cNvSpPr>
            <a:spLocks noGrp="1"/>
          </p:cNvSpPr>
          <p:nvPr>
            <p:ph idx="1"/>
          </p:nvPr>
        </p:nvSpPr>
        <p:spPr/>
        <p:txBody>
          <a:bodyPr/>
          <a:lstStyle/>
          <a:p>
            <a:pPr marL="0" lvl="0" indent="0">
              <a:buNone/>
            </a:pPr>
            <a:r>
              <a:rPr b="1"/>
              <a:t>NHP programme</a:t>
            </a:r>
            <a:r>
              <a:t>: Cheryl Riotto, Anne White, Joanna Wood, Carolyn Akyil, Michael Weinbren</a:t>
            </a:r>
          </a:p>
          <a:p>
            <a:pPr marL="0" lvl="0" indent="0">
              <a:buNone/>
            </a:pPr>
            <a:r>
              <a:rPr b="1"/>
              <a:t>NHS England</a:t>
            </a:r>
            <a:r>
              <a:t>: Joshua Igbineweka, Paul Smith</a:t>
            </a:r>
          </a:p>
          <a:p>
            <a:pPr marL="0" lvl="0" indent="0">
              <a:buNone/>
            </a:pPr>
            <a:r>
              <a:rPr b="1"/>
              <a:t>Strategy Unit</a:t>
            </a:r>
            <a:r>
              <a:t>: Andy Hood, Sarah Lucas, Anya Ferguson, Peter Spilsbury, Simon Bourne, Jennifer Wood</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NHP Colour Theme">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FEFFFE"/>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otalTime>314</TotalTime>
  <Words>2612</Words>
  <Application>Microsoft Office PowerPoint</Application>
  <PresentationFormat>Widescreen</PresentationFormat>
  <Paragraphs>139</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Aptos</vt:lpstr>
      <vt:lpstr>Aptos ExtraBold</vt:lpstr>
      <vt:lpstr>Arial</vt:lpstr>
      <vt:lpstr>Calibri</vt:lpstr>
      <vt:lpstr>Tw Cen MT</vt:lpstr>
      <vt:lpstr>Wingdings 3</vt:lpstr>
      <vt:lpstr>Integral</vt:lpstr>
      <vt:lpstr>Quantifying the impacts of hospitals increasing single bed room provision</vt:lpstr>
      <vt:lpstr>1. Executive Summary</vt:lpstr>
      <vt:lpstr>1.1 (1)</vt:lpstr>
      <vt:lpstr>1.2 (2)</vt:lpstr>
      <vt:lpstr>1.3 (3)</vt:lpstr>
      <vt:lpstr>2. Introduction, approach, summary and recommendations</vt:lpstr>
      <vt:lpstr>2.1 Introduction</vt:lpstr>
      <vt:lpstr>2.2 Approach</vt:lpstr>
      <vt:lpstr>2.3 Summary of key findings (1)</vt:lpstr>
      <vt:lpstr>2.4 Summary of key findings (2)</vt:lpstr>
      <vt:lpstr>2.5 Limitations</vt:lpstr>
      <vt:lpstr>2.6 Recommendations</vt:lpstr>
      <vt:lpstr>3. The impact framework</vt:lpstr>
      <vt:lpstr>3.1 Overview</vt:lpstr>
      <vt:lpstr>3.2 Indicator availability and time of SBR changes by site</vt:lpstr>
      <vt:lpstr>4. The hospitals</vt:lpstr>
      <vt:lpstr>4.1 Seven natural experiments</vt:lpstr>
      <vt:lpstr>4.2 Heterogeneity</vt:lpstr>
      <vt:lpstr>5. Summary of methods</vt:lpstr>
      <vt:lpstr>5.1 Selecting control sites</vt:lpstr>
      <vt:lpstr>5.2 Causal Impact Analysis</vt:lpstr>
      <vt:lpstr>5.3 Aggregating impacts</vt:lpstr>
      <vt:lpstr>6. Main results - Productivity and Efficiency</vt:lpstr>
      <vt:lpstr>6.1 Length of stay</vt:lpstr>
      <vt:lpstr>6.2 Waiting times</vt:lpstr>
      <vt:lpstr>6.3 Bed Occupancy</vt:lpstr>
      <vt:lpstr>6.4 Emergency readmissions</vt:lpstr>
      <vt:lpstr>6.5 Cleaning costs</vt:lpstr>
      <vt:lpstr>7. Main results - Health and Safety</vt:lpstr>
      <vt:lpstr>7.1 In-hospital deaths</vt:lpstr>
      <vt:lpstr>7.2 In-hospital falls and injuries</vt:lpstr>
      <vt:lpstr>7.3 Healthcare Acquired Infections (HCAI) - clostridium dificile</vt:lpstr>
      <vt:lpstr>8. Main results - Patient and Staff Experience</vt:lpstr>
      <vt:lpstr>8.1 Family and Friends test</vt:lpstr>
      <vt:lpstr>8.2 Staff sickness absence</vt:lpstr>
      <vt:lpstr>8.3 Staff turnover</vt:lpstr>
      <vt:lpstr>8.4 Staff survey - recommending place to work</vt:lpstr>
      <vt:lpstr>9. Next steps and actions</vt:lpstr>
      <vt:lpstr>9.1 Ongoing and related activities</vt:lpstr>
      <vt:lpstr>10. Acknowledgements</vt:lpstr>
      <vt:lpstr>10.1 Acknowledgements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{8C70326D-9F1C-1842-B973-7199098CBC5F}tf10001061</Template>
  <TotalTime>162</TotalTime>
  <Words>471</Words>
  <Application>Microsoft Office PowerPoint</Application>
  <PresentationFormat>Widescreen</PresentationFormat>
  <Paragraphs>58</Paragraphs>
  <Slides>13</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Aptos ExtraBold</vt:lpstr>
      <vt:lpstr>Arial</vt:lpstr>
      <vt:lpstr>Calibri</vt:lpstr>
      <vt:lpstr>Calibri Light</vt:lpstr>
      <vt:lpstr>Tw Cen MT</vt:lpstr>
      <vt:lpstr>Wingdings 3</vt:lpstr>
      <vt:lpstr>Integral</vt:lpstr>
      <vt:lpstr>All decks should start with this slide</vt:lpstr>
      <vt:lpstr>PowerPoint Presentation</vt:lpstr>
      <vt:lpstr>Content slide with picture</vt:lpstr>
      <vt:lpstr>Content slide with picture</vt:lpstr>
      <vt:lpstr>Alternative divider slide</vt:lpstr>
      <vt:lpstr>PowerPoint Presentation</vt:lpstr>
      <vt:lpstr>PowerPoint Presentation</vt:lpstr>
      <vt:lpstr>PowerPoint Presentation</vt:lpstr>
      <vt:lpstr>Useful slides / graphics</vt:lpstr>
      <vt:lpstr> Health and Social Care Planning: Update </vt:lpstr>
      <vt:lpstr>[Example]</vt:lpstr>
      <vt:lpstr>The New Hospital Programme</vt:lpstr>
      <vt:lpstr>Useful icons / graphics  (copy &amp; paste)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Quantifying the impacts of hospitals increasing single bed room provision</dc:title>
  <dc:creator>Andy Hood | Analytics Manager | Strategy Unit | May 2025</dc:creator>
  <cp:keywords/>
  <cp:lastModifiedBy>HOOD, Andrew (NHS MIDLANDS AND LANCASHIRE COMMISSIONING SUPPORT UNIT)</cp:lastModifiedBy>
  <cp:revision>1</cp:revision>
  <dcterms:created xsi:type="dcterms:W3CDTF">2025-06-10T14:47:53Z</dcterms:created>
  <dcterms:modified xsi:type="dcterms:W3CDTF">2025-06-18T09:20:59Z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source</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oc-title">
    <vt:lpwstr>Table of contents</vt:lpwstr>
  </property>
</Properties>
</file>