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4" r:id="rId5"/>
  </p:sldMasterIdLst>
  <p:notesMasterIdLst>
    <p:notesMasterId r:id="rId19"/>
  </p:notesMasterIdLst>
  <p:sldIdLst>
    <p:sldId id="2147479338" r:id="rId6"/>
    <p:sldId id="2147479348" r:id="rId7"/>
    <p:sldId id="2147479344" r:id="rId8"/>
    <p:sldId id="2147479346" r:id="rId9"/>
    <p:sldId id="2147479342" r:id="rId10"/>
    <p:sldId id="257" r:id="rId11"/>
    <p:sldId id="260" r:id="rId12"/>
    <p:sldId id="258" r:id="rId13"/>
    <p:sldId id="2147479340" r:id="rId14"/>
    <p:sldId id="256" r:id="rId15"/>
    <p:sldId id="2147479345" r:id="rId16"/>
    <p:sldId id="2147479337" r:id="rId17"/>
    <p:sldId id="214747933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5653D0-1951-FF86-5E86-CE48A718C62C}" v="2" dt="2024-05-14T14:20:05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41"/>
    <p:restoredTop sz="95809"/>
  </p:normalViewPr>
  <p:slideViewPr>
    <p:cSldViewPr snapToGrid="0">
      <p:cViewPr varScale="1">
        <p:scale>
          <a:sx n="67" d="100"/>
          <a:sy n="67" d="100"/>
        </p:scale>
        <p:origin x="1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Hood (Strategy Unit, hosted by ML)" userId="8780178f-c962-4518-a070-fd8292572a75" providerId="ADAL" clId="{F7BFCCB5-6F60-4B4C-8F2B-82E3B95F8D19}"/>
    <pc:docChg chg="modMainMaster">
      <pc:chgData name="Andrew Hood (Strategy Unit, hosted by ML)" userId="8780178f-c962-4518-a070-fd8292572a75" providerId="ADAL" clId="{F7BFCCB5-6F60-4B4C-8F2B-82E3B95F8D19}" dt="2024-05-14T14:35:09.931" v="24" actId="6014"/>
      <pc:docMkLst>
        <pc:docMk/>
      </pc:docMkLst>
      <pc:sldMasterChg chg="modSldLayout sldLayoutOrd">
        <pc:chgData name="Andrew Hood (Strategy Unit, hosted by ML)" userId="8780178f-c962-4518-a070-fd8292572a75" providerId="ADAL" clId="{F7BFCCB5-6F60-4B4C-8F2B-82E3B95F8D19}" dt="2024-05-14T14:35:09.931" v="24" actId="6014"/>
        <pc:sldMasterMkLst>
          <pc:docMk/>
          <pc:sldMasterMk cId="1350655971" sldId="2147483660"/>
        </pc:sldMasterMkLst>
        <pc:sldLayoutChg chg="mod">
          <pc:chgData name="Andrew Hood (Strategy Unit, hosted by ML)" userId="8780178f-c962-4518-a070-fd8292572a75" providerId="ADAL" clId="{F7BFCCB5-6F60-4B4C-8F2B-82E3B95F8D19}" dt="2024-05-14T14:28:22.759" v="6" actId="6014"/>
          <pc:sldLayoutMkLst>
            <pc:docMk/>
            <pc:sldMasterMk cId="1350655971" sldId="2147483660"/>
            <pc:sldLayoutMk cId="2708386492" sldId="2147483661"/>
          </pc:sldLayoutMkLst>
        </pc:sldLayoutChg>
        <pc:sldLayoutChg chg="mod">
          <pc:chgData name="Andrew Hood (Strategy Unit, hosted by ML)" userId="8780178f-c962-4518-a070-fd8292572a75" providerId="ADAL" clId="{F7BFCCB5-6F60-4B4C-8F2B-82E3B95F8D19}" dt="2024-05-14T14:31:40.050" v="13" actId="6014"/>
          <pc:sldLayoutMkLst>
            <pc:docMk/>
            <pc:sldMasterMk cId="1350655971" sldId="2147483660"/>
            <pc:sldLayoutMk cId="2468326065" sldId="2147483662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32:38.859" v="18" actId="6014"/>
          <pc:sldLayoutMkLst>
            <pc:docMk/>
            <pc:sldMasterMk cId="1350655971" sldId="2147483660"/>
            <pc:sldLayoutMk cId="2385444012" sldId="2147483664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32:48.435" v="19" actId="6014"/>
          <pc:sldLayoutMkLst>
            <pc:docMk/>
            <pc:sldMasterMk cId="1350655971" sldId="2147483660"/>
            <pc:sldLayoutMk cId="3613897706" sldId="2147483665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32:03.025" v="15" actId="20578"/>
          <pc:sldLayoutMkLst>
            <pc:docMk/>
            <pc:sldMasterMk cId="1350655971" sldId="2147483660"/>
            <pc:sldLayoutMk cId="333516022" sldId="2147483666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33:27.455" v="22" actId="6014"/>
          <pc:sldLayoutMkLst>
            <pc:docMk/>
            <pc:sldMasterMk cId="1350655971" sldId="2147483660"/>
            <pc:sldLayoutMk cId="2161346945" sldId="2147483668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29:20.785" v="12" actId="20578"/>
          <pc:sldLayoutMkLst>
            <pc:docMk/>
            <pc:sldMasterMk cId="1350655971" sldId="2147483660"/>
            <pc:sldLayoutMk cId="3972607266" sldId="2147483669"/>
          </pc:sldLayoutMkLst>
        </pc:sldLayoutChg>
        <pc:sldLayoutChg chg="mod">
          <pc:chgData name="Andrew Hood (Strategy Unit, hosted by ML)" userId="8780178f-c962-4518-a070-fd8292572a75" providerId="ADAL" clId="{F7BFCCB5-6F60-4B4C-8F2B-82E3B95F8D19}" dt="2024-05-14T14:35:09.931" v="24" actId="6014"/>
          <pc:sldLayoutMkLst>
            <pc:docMk/>
            <pc:sldMasterMk cId="1350655971" sldId="2147483660"/>
            <pc:sldLayoutMk cId="3129794799" sldId="2147483671"/>
          </pc:sldLayoutMkLst>
        </pc:sldLayoutChg>
        <pc:sldLayoutChg chg="mod ord">
          <pc:chgData name="Andrew Hood (Strategy Unit, hosted by ML)" userId="8780178f-c962-4518-a070-fd8292572a75" providerId="ADAL" clId="{F7BFCCB5-6F60-4B4C-8F2B-82E3B95F8D19}" dt="2024-05-14T14:28:56.025" v="8" actId="6014"/>
          <pc:sldLayoutMkLst>
            <pc:docMk/>
            <pc:sldMasterMk cId="1350655971" sldId="2147483660"/>
            <pc:sldLayoutMk cId="2868002840" sldId="2147483672"/>
          </pc:sldLayoutMkLst>
        </pc:sldLayoutChg>
        <pc:sldLayoutChg chg="mod">
          <pc:chgData name="Andrew Hood (Strategy Unit, hosted by ML)" userId="8780178f-c962-4518-a070-fd8292572a75" providerId="ADAL" clId="{F7BFCCB5-6F60-4B4C-8F2B-82E3B95F8D19}" dt="2024-05-14T14:33:03.513" v="20" actId="6014"/>
          <pc:sldLayoutMkLst>
            <pc:docMk/>
            <pc:sldMasterMk cId="1350655971" sldId="2147483660"/>
            <pc:sldLayoutMk cId="2240479861" sldId="2147483673"/>
          </pc:sldLayoutMkLst>
        </pc:sldLayoutChg>
        <pc:sldLayoutChg chg="mod">
          <pc:chgData name="Andrew Hood (Strategy Unit, hosted by ML)" userId="8780178f-c962-4518-a070-fd8292572a75" providerId="ADAL" clId="{F7BFCCB5-6F60-4B4C-8F2B-82E3B95F8D19}" dt="2024-05-14T14:33:55.698" v="23" actId="6014"/>
          <pc:sldLayoutMkLst>
            <pc:docMk/>
            <pc:sldMasterMk cId="1350655971" sldId="2147483660"/>
            <pc:sldLayoutMk cId="3850935417" sldId="2147483736"/>
          </pc:sldLayoutMkLst>
        </pc:sldLayoutChg>
      </pc:sldMasterChg>
      <pc:sldMasterChg chg="delSldLayout">
        <pc:chgData name="Andrew Hood (Strategy Unit, hosted by ML)" userId="8780178f-c962-4518-a070-fd8292572a75" providerId="ADAL" clId="{F7BFCCB5-6F60-4B4C-8F2B-82E3B95F8D19}" dt="2024-05-14T14:27:20.179" v="5" actId="2696"/>
        <pc:sldMasterMkLst>
          <pc:docMk/>
          <pc:sldMasterMk cId="1174660013" sldId="2147483674"/>
        </pc:sldMasterMkLst>
        <pc:sldLayoutChg chg="del">
          <pc:chgData name="Andrew Hood (Strategy Unit, hosted by ML)" userId="8780178f-c962-4518-a070-fd8292572a75" providerId="ADAL" clId="{F7BFCCB5-6F60-4B4C-8F2B-82E3B95F8D19}" dt="2024-05-14T14:27:20.179" v="5" actId="2696"/>
          <pc:sldLayoutMkLst>
            <pc:docMk/>
            <pc:sldMasterMk cId="1174660013" sldId="2147483674"/>
            <pc:sldLayoutMk cId="127841284" sldId="2147483675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9.220" v="4" actId="2696"/>
          <pc:sldLayoutMkLst>
            <pc:docMk/>
            <pc:sldMasterMk cId="1174660013" sldId="2147483674"/>
            <pc:sldLayoutMk cId="1526335664" sldId="2147483680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5.296" v="3" actId="2696"/>
          <pc:sldLayoutMkLst>
            <pc:docMk/>
            <pc:sldMasterMk cId="1174660013" sldId="2147483674"/>
            <pc:sldLayoutMk cId="1449910989" sldId="2147483683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7:01.851" v="2" actId="2696"/>
          <pc:sldLayoutMkLst>
            <pc:docMk/>
            <pc:sldMasterMk cId="1174660013" sldId="2147483674"/>
            <pc:sldLayoutMk cId="3950764820" sldId="2147483684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5:18.670" v="1" actId="2696"/>
          <pc:sldLayoutMkLst>
            <pc:docMk/>
            <pc:sldMasterMk cId="1174660013" sldId="2147483674"/>
            <pc:sldLayoutMk cId="3275933723" sldId="2147483685"/>
          </pc:sldLayoutMkLst>
        </pc:sldLayoutChg>
        <pc:sldLayoutChg chg="del">
          <pc:chgData name="Andrew Hood (Strategy Unit, hosted by ML)" userId="8780178f-c962-4518-a070-fd8292572a75" providerId="ADAL" clId="{F7BFCCB5-6F60-4B4C-8F2B-82E3B95F8D19}" dt="2024-05-14T14:25:03.846" v="0" actId="2696"/>
          <pc:sldLayoutMkLst>
            <pc:docMk/>
            <pc:sldMasterMk cId="1174660013" sldId="2147483674"/>
            <pc:sldLayoutMk cId="3476365925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0CA9A-2E33-CF44-8384-C36560AEBD58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73926-F261-134A-8033-EF7538D3B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6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need to bring the right individuals and businesses together to foster innovation and to deliver hospitals of the future.</a:t>
            </a:r>
          </a:p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4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need to bring the right individuals and businesses together to foster innovation and to deliver hospitals of the future.</a:t>
            </a:r>
          </a:p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031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765127-0706-4F05-8424-A0E3E1131A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34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E0E89-32C9-4FC4-9CBC-CAC1A433EA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9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8" y="4755350"/>
            <a:ext cx="8406375" cy="1218369"/>
          </a:xfrm>
        </p:spPr>
        <p:txBody>
          <a:bodyPr anchor="ctr">
            <a:normAutofit/>
          </a:bodyPr>
          <a:lstStyle>
            <a:lvl1pPr algn="l">
              <a:defRPr sz="44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8406374" cy="674129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4673" y="4870528"/>
            <a:ext cx="0" cy="914400"/>
          </a:xfrm>
          <a:prstGeom prst="line">
            <a:avLst/>
          </a:prstGeom>
          <a:ln w="60325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AEC535E7-05A1-3106-03CA-FE81CE89F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1" r="6031"/>
          <a:stretch/>
        </p:blipFill>
        <p:spPr>
          <a:xfrm>
            <a:off x="0" y="18784"/>
            <a:ext cx="12192000" cy="4572000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E20BC1E3-5F30-6B91-A98C-EEDFAD08A1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48" y="5001144"/>
            <a:ext cx="2237233" cy="134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8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_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4755350"/>
            <a:ext cx="7772400" cy="1218369"/>
          </a:xfrm>
        </p:spPr>
        <p:txBody>
          <a:bodyPr anchor="ctr">
            <a:normAutofit/>
          </a:bodyPr>
          <a:lstStyle>
            <a:lvl1pPr algn="l">
              <a:defRPr sz="44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7772399" cy="674129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28348" y="4870528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73FDA91B-6B8D-6C56-06AE-FDAAB237A5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670" y="4870528"/>
            <a:ext cx="2472059" cy="14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0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_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rgbClr val="046AAA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71BF8D-5CFE-B295-F5B0-915F307F3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8" y="4755350"/>
            <a:ext cx="8479525" cy="1218369"/>
          </a:xfrm>
        </p:spPr>
        <p:txBody>
          <a:bodyPr anchor="ctr">
            <a:normAutofit/>
          </a:bodyPr>
          <a:lstStyle>
            <a:lvl1pPr algn="l">
              <a:defRPr sz="50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33CB55-5B19-49D8-07C3-A25C5A4AB85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57199" y="6020353"/>
            <a:ext cx="8479524" cy="674129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2277A6-1BCF-5CB8-5570-6F32FAD6293A}"/>
              </a:ext>
            </a:extLst>
          </p:cNvPr>
          <p:cNvCxnSpPr/>
          <p:nvPr userDrawn="1"/>
        </p:nvCxnSpPr>
        <p:spPr>
          <a:xfrm flipV="1">
            <a:off x="228348" y="4870528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49CC11C-33D0-2135-BF9D-8AE0300B88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48" y="5001144"/>
            <a:ext cx="2237233" cy="134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0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28" y="1911308"/>
            <a:ext cx="10420160" cy="391533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04E18-8379-D7A8-EB57-3A892E5A1EC5}"/>
              </a:ext>
            </a:extLst>
          </p:cNvPr>
          <p:cNvSpPr/>
          <p:nvPr userDrawn="1"/>
        </p:nvSpPr>
        <p:spPr>
          <a:xfrm>
            <a:off x="9818655" y="237744"/>
            <a:ext cx="2043115" cy="1499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6E56E1-9EDB-5EE5-A17D-D1CA9626D6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32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555C02C-BC6B-5531-AB40-A2F36FBEB1A6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_du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192984"/>
            <a:ext cx="9720072" cy="14996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1998070"/>
            <a:ext cx="4754880" cy="387110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19" y="1998070"/>
            <a:ext cx="4754880" cy="38711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B7D868-2676-D940-84A9-1D62048C5842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44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_duo_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829" y="1898704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rgbClr val="046AA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829" y="2845390"/>
            <a:ext cx="4754880" cy="306631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1817" y="1898704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rgbClr val="046AA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1817" y="2845390"/>
            <a:ext cx="4754880" cy="3066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4C0C69-B296-D647-666B-15E274308C97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9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uo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3747" y="2053950"/>
            <a:ext cx="5678424" cy="37987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829" y="2053950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576BF1A0-1B30-B080-929D-2D4F0124B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9829" y="237744"/>
            <a:ext cx="8434196" cy="1499616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D18B8C-3B03-E70C-8B8E-166B7859E097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34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uo_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9828" y="1911308"/>
            <a:ext cx="5186172" cy="3915333"/>
          </a:xfrm>
        </p:spPr>
        <p:txBody>
          <a:bodyPr/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71093" y="6583680"/>
            <a:ext cx="9023755" cy="274320"/>
          </a:xfrm>
        </p:spPr>
        <p:txBody>
          <a:bodyPr/>
          <a:lstStyle/>
          <a:p>
            <a:r>
              <a:rPr lang="en-US" dirty="0"/>
              <a:t>Add sensitivity if needed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624C560-4E3C-7F23-9A71-5ECD5129CBDE}"/>
              </a:ext>
            </a:extLst>
          </p:cNvPr>
          <p:cNvSpPr>
            <a:spLocks noGrp="1" noChangeAspect="1"/>
          </p:cNvSpPr>
          <p:nvPr>
            <p:ph type="pic" idx="12"/>
          </p:nvPr>
        </p:nvSpPr>
        <p:spPr>
          <a:xfrm>
            <a:off x="6382583" y="1911308"/>
            <a:ext cx="5610943" cy="3915333"/>
          </a:xfrm>
          <a:solidFill>
            <a:srgbClr val="046AAA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837A-E153-BAFA-B6F8-647E5E476D7B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4047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content_single_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line with a white background&#10;&#10;Description automatically generated">
            <a:extLst>
              <a:ext uri="{FF2B5EF4-FFF2-40B4-BE49-F238E27FC236}">
                <a16:creationId xmlns:a16="http://schemas.microsoft.com/office/drawing/2014/main" id="{DA0DE1B2-D6DD-EF5D-4E81-A5E36FC779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37"/>
          <a:stretch/>
        </p:blipFill>
        <p:spPr>
          <a:xfrm>
            <a:off x="0" y="27175"/>
            <a:ext cx="12279086" cy="686190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255180" y="543504"/>
            <a:ext cx="2393213" cy="5410200"/>
          </a:xfrm>
        </p:spPr>
        <p:txBody>
          <a:bodyPr vert="eaVert" lIns="45720" tIns="91440" rIns="45720" bIns="91440"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3303625" y="49534"/>
            <a:ext cx="5410200" cy="639814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214ED8-EFB0-9560-D7B8-F2F95CDB5B00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79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2376C-BD00-0C21-7B68-8BAE977B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5C0E-E263-0848-A698-EE526CA39358}" type="datetimeFigureOut">
              <a:rPr lang="en-US" smtClean="0"/>
              <a:t>5/14/2024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64193-C369-71B1-B4FE-84F03344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2168E-40A1-A3C5-5A84-C324B159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93662-164E-B74F-8D60-B4DF4EEC9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35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828" y="1911308"/>
            <a:ext cx="10420160" cy="391533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5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9828" y="1911308"/>
            <a:ext cx="5186172" cy="39153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624C560-4E3C-7F23-9A71-5ECD5129CBDE}"/>
              </a:ext>
            </a:extLst>
          </p:cNvPr>
          <p:cNvSpPr>
            <a:spLocks noGrp="1" noChangeAspect="1"/>
          </p:cNvSpPr>
          <p:nvPr>
            <p:ph type="pic" idx="12"/>
          </p:nvPr>
        </p:nvSpPr>
        <p:spPr>
          <a:xfrm>
            <a:off x="6382583" y="1911308"/>
            <a:ext cx="5610943" cy="3915333"/>
          </a:xfrm>
          <a:noFill/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43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046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199" y="4755350"/>
            <a:ext cx="7772400" cy="1218369"/>
          </a:xfrm>
        </p:spPr>
        <p:txBody>
          <a:bodyPr anchor="ctr">
            <a:normAutofit/>
          </a:bodyPr>
          <a:lstStyle>
            <a:lvl1pPr algn="l">
              <a:defRPr sz="4400" spc="200" baseline="0"/>
            </a:lvl1pPr>
          </a:lstStyle>
          <a:p>
            <a:r>
              <a:rPr lang="en-GB" dirty="0"/>
              <a:t>Click to edit 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199" y="6020353"/>
            <a:ext cx="7772399" cy="674129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4673" y="4870528"/>
            <a:ext cx="0" cy="914400"/>
          </a:xfrm>
          <a:prstGeom prst="line">
            <a:avLst/>
          </a:prstGeom>
          <a:ln w="6350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1C94B85B-EFB6-16BC-3CB5-49EB760D9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344" y="5008859"/>
            <a:ext cx="2371345" cy="14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96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192984"/>
            <a:ext cx="8268729" cy="14996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1998070"/>
            <a:ext cx="4754880" cy="3871102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19" y="1998070"/>
            <a:ext cx="4754880" cy="3871102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01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20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line with a white background">
            <a:extLst>
              <a:ext uri="{FF2B5EF4-FFF2-40B4-BE49-F238E27FC236}">
                <a16:creationId xmlns:a16="http://schemas.microsoft.com/office/drawing/2014/main" id="{F5E63812-AC84-AA97-7086-F86261157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r="942"/>
          <a:stretch/>
        </p:blipFill>
        <p:spPr>
          <a:xfrm>
            <a:off x="11875" y="11875"/>
            <a:ext cx="1225926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9829" y="237744"/>
            <a:ext cx="8434196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828" y="1975104"/>
            <a:ext cx="10420160" cy="375418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1093" y="6583680"/>
            <a:ext cx="843015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sensitivity level here if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40641" y="6309360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0FAE58-AEA8-F047-B98D-7B2B3D0140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39373" y="429900"/>
            <a:ext cx="0" cy="914400"/>
          </a:xfrm>
          <a:prstGeom prst="line">
            <a:avLst/>
          </a:prstGeom>
          <a:ln w="4445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5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9" r:id="rId3"/>
    <p:sldLayoutId id="2147483662" r:id="rId4"/>
    <p:sldLayoutId id="2147483666" r:id="rId5"/>
    <p:sldLayoutId id="2147483664" r:id="rId6"/>
    <p:sldLayoutId id="2147483665" r:id="rId7"/>
    <p:sldLayoutId id="2147483668" r:id="rId8"/>
    <p:sldLayoutId id="2147483673" r:id="rId9"/>
    <p:sldLayoutId id="2147483671" r:id="rId10"/>
    <p:sldLayoutId id="214748373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kern="1200" cap="none" spc="100" baseline="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line with a white background">
            <a:extLst>
              <a:ext uri="{FF2B5EF4-FFF2-40B4-BE49-F238E27FC236}">
                <a16:creationId xmlns:a16="http://schemas.microsoft.com/office/drawing/2014/main" id="{02701BC5-544C-4751-F8D4-9D35C1BFD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517"/>
          <a:stretch/>
        </p:blipFill>
        <p:spPr>
          <a:xfrm>
            <a:off x="-32523" y="25721"/>
            <a:ext cx="12224523" cy="680941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9829" y="237744"/>
            <a:ext cx="8434196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828" y="1975104"/>
            <a:ext cx="10420160" cy="375418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1095" y="6585768"/>
            <a:ext cx="843015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sensitivity level here if required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39373" y="429900"/>
            <a:ext cx="0" cy="914400"/>
          </a:xfrm>
          <a:prstGeom prst="line">
            <a:avLst/>
          </a:prstGeom>
          <a:ln w="63500">
            <a:solidFill>
              <a:srgbClr val="046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A3602-F28D-0E8E-F55D-D1F51524C9F7}"/>
              </a:ext>
            </a:extLst>
          </p:cNvPr>
          <p:cNvSpPr txBox="1">
            <a:spLocks/>
          </p:cNvSpPr>
          <p:nvPr userDrawn="1"/>
        </p:nvSpPr>
        <p:spPr>
          <a:xfrm>
            <a:off x="5926093" y="6358128"/>
            <a:ext cx="33813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0FAE58-AEA8-F047-B98D-7B2B3D014012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66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1" r:id="rId5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kern="1200" cap="none" spc="100" baseline="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nhp.comms@nhs.net" TargetMode="Externa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sv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7B4C-281E-963B-11DE-57930E597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dirty="0"/>
              <a:t>decks should start with this slide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85F96-685A-6ABB-CF89-058B3D7A3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2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D52569-A66D-A631-1C05-5E2B61668EDE}"/>
              </a:ext>
            </a:extLst>
          </p:cNvPr>
          <p:cNvSpPr/>
          <p:nvPr/>
        </p:nvSpPr>
        <p:spPr>
          <a:xfrm>
            <a:off x="0" y="2377311"/>
            <a:ext cx="12192000" cy="2255367"/>
          </a:xfrm>
          <a:prstGeom prst="rect">
            <a:avLst/>
          </a:prstGeom>
          <a:solidFill>
            <a:srgbClr val="046AAA"/>
          </a:solidFill>
          <a:ln>
            <a:solidFill>
              <a:srgbClr val="046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5A011262-D7ED-690D-5646-7040AE2BC5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5220"/>
          <a:stretch/>
        </p:blipFill>
        <p:spPr>
          <a:xfrm>
            <a:off x="5177928" y="2843"/>
            <a:ext cx="7014072" cy="6858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3ADD2FE0-F2F7-4592-76FF-5EEB4AF3D364}"/>
              </a:ext>
            </a:extLst>
          </p:cNvPr>
          <p:cNvSpPr/>
          <p:nvPr/>
        </p:nvSpPr>
        <p:spPr>
          <a:xfrm>
            <a:off x="4093937" y="0"/>
            <a:ext cx="3461968" cy="6858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90E8B84-A04D-B5E1-7949-97D3AB68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97" y="481041"/>
            <a:ext cx="1943116" cy="1171640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0F4F3A0-5614-EC5D-58F0-6D5870944D43}"/>
              </a:ext>
            </a:extLst>
          </p:cNvPr>
          <p:cNvSpPr/>
          <p:nvPr/>
        </p:nvSpPr>
        <p:spPr>
          <a:xfrm>
            <a:off x="3997511" y="2377311"/>
            <a:ext cx="3527914" cy="2255367"/>
          </a:xfrm>
          <a:prstGeom prst="parallelogram">
            <a:avLst/>
          </a:prstGeom>
          <a:solidFill>
            <a:srgbClr val="046AAA"/>
          </a:solidFill>
          <a:ln>
            <a:solidFill>
              <a:srgbClr val="046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935A99-8A3A-D4FA-CE4F-645F7D8F646D}"/>
              </a:ext>
            </a:extLst>
          </p:cNvPr>
          <p:cNvCxnSpPr>
            <a:cxnSpLocks/>
          </p:cNvCxnSpPr>
          <p:nvPr/>
        </p:nvCxnSpPr>
        <p:spPr>
          <a:xfrm>
            <a:off x="300213" y="3504995"/>
            <a:ext cx="47594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FA8FC8E-C271-431D-5FD3-B30F66C93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3265"/>
              </p:ext>
            </p:extLst>
          </p:nvPr>
        </p:nvGraphicFramePr>
        <p:xfrm>
          <a:off x="134112" y="2516283"/>
          <a:ext cx="6949440" cy="194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>
                  <a:extLst>
                    <a:ext uri="{9D8B030D-6E8A-4147-A177-3AD203B41FA5}">
                      <a16:colId xmlns:a16="http://schemas.microsoft.com/office/drawing/2014/main" val="1900660667"/>
                    </a:ext>
                  </a:extLst>
                </a:gridCol>
              </a:tblGrid>
              <a:tr h="88985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Divider slide </a:t>
                      </a:r>
                    </a:p>
                  </a:txBody>
                  <a:tcPr marL="32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833423"/>
                  </a:ext>
                </a:extLst>
              </a:tr>
              <a:tr h="132022">
                <a:tc>
                  <a:txBody>
                    <a:bodyPr/>
                    <a:lstStyle/>
                    <a:p>
                      <a:pPr algn="l"/>
                      <a:endParaRPr lang="en-GB" sz="5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24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544378"/>
                  </a:ext>
                </a:extLst>
              </a:tr>
              <a:tr h="889857">
                <a:tc>
                  <a:txBody>
                    <a:bodyPr/>
                    <a:lstStyle/>
                    <a:p>
                      <a:pPr algn="l"/>
                      <a:r>
                        <a:rPr lang="en-GB" sz="24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Subtitle</a:t>
                      </a:r>
                    </a:p>
                  </a:txBody>
                  <a:tcPr marL="324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6143"/>
                  </a:ext>
                </a:extLst>
              </a:tr>
            </a:tbl>
          </a:graphicData>
        </a:graphic>
      </p:graphicFrame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CED675ED-A70C-866A-6937-99748931B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344" y="5621390"/>
            <a:ext cx="1028717" cy="802881"/>
          </a:xfrm>
          <a:prstGeom prst="rect">
            <a:avLst/>
          </a:prstGeom>
        </p:spPr>
      </p:pic>
      <p:pic>
        <p:nvPicPr>
          <p:cNvPr id="17" name="Picture 16" descr="A black background with a lion and a shield&#10;&#10;Description automatically generated">
            <a:extLst>
              <a:ext uri="{FF2B5EF4-FFF2-40B4-BE49-F238E27FC236}">
                <a16:creationId xmlns:a16="http://schemas.microsoft.com/office/drawing/2014/main" id="{AEADDCA9-DD68-9B78-B914-A9715EA7D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12" y="5578567"/>
            <a:ext cx="1028716" cy="811829"/>
          </a:xfrm>
          <a:prstGeom prst="rect">
            <a:avLst/>
          </a:prstGeom>
        </p:spPr>
      </p:pic>
      <p:pic>
        <p:nvPicPr>
          <p:cNvPr id="2" name="Picture 1" descr="A yellow and black sign&#10;&#10;Description automatically generated">
            <a:extLst>
              <a:ext uri="{FF2B5EF4-FFF2-40B4-BE49-F238E27FC236}">
                <a16:creationId xmlns:a16="http://schemas.microsoft.com/office/drawing/2014/main" id="{658FD951-5101-BA15-1368-14720D99F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577" y="5578567"/>
            <a:ext cx="1105930" cy="934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303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95010" y="-5514"/>
            <a:ext cx="6599666" cy="5974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with picture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399CD2-D7DE-2609-F89E-E6D12C3F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11308"/>
            <a:ext cx="6938772" cy="3915333"/>
          </a:xfrm>
        </p:spPr>
        <p:txBody>
          <a:bodyPr>
            <a:normAutofit/>
          </a:bodyPr>
          <a:lstStyle/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1" dirty="0">
                <a:solidFill>
                  <a:srgbClr val="005EB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Insert subtitle or intro sentence here 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0" dirty="0">
                <a:solidFill>
                  <a:schemeClr val="tx1"/>
                </a:solidFill>
                <a:effectLst/>
                <a:latin typeface="Arial"/>
                <a:cs typeface="Arial"/>
              </a:rPr>
              <a:t>Add text here – a useful space to include text that isn’t bullet points. Have a look at the end of this slide deck for an example of how this slide can be used but try not to over do it with words!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000" dirty="0">
              <a:latin typeface="Arial"/>
              <a:cs typeface="Arial"/>
            </a:endParaRPr>
          </a:p>
          <a:p>
            <a:pPr algn="l">
              <a:spcBef>
                <a:spcPts val="480"/>
              </a:spcBef>
              <a:spcAft>
                <a:spcPts val="480"/>
              </a:spcAft>
            </a:pPr>
            <a:r>
              <a:rPr lang="en-GB" sz="2000" b="0" dirty="0">
                <a:solidFill>
                  <a:schemeClr val="tx1"/>
                </a:solidFill>
                <a:effectLst/>
                <a:latin typeface="Arial"/>
                <a:cs typeface="Arial"/>
              </a:rPr>
              <a:t>Add text here – a useful space to include text that isn’t bullet points. Have a look at the end of this slide deck for an example of how this slide can be used but try not to over do it with words!</a:t>
            </a: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000" b="0" dirty="0"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indent="0" algn="l">
              <a:spcBef>
                <a:spcPts val="480"/>
              </a:spcBef>
              <a:spcAft>
                <a:spcPts val="480"/>
              </a:spcAft>
              <a:buNone/>
            </a:pPr>
            <a:endParaRPr lang="en-GB" sz="2000" b="0" dirty="0"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algn="l">
              <a:spcBef>
                <a:spcPts val="480"/>
              </a:spcBef>
              <a:spcAft>
                <a:spcPts val="480"/>
              </a:spcAft>
            </a:pPr>
            <a:endParaRPr lang="en-GB" sz="2400" b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53863" y="6391275"/>
            <a:ext cx="338137" cy="27305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7408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7997929A-1442-AD42-AC14-9935FBF41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08" y="382738"/>
            <a:ext cx="1486045" cy="89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28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95010" y="0"/>
            <a:ext cx="6599666" cy="597137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slide with picture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399CD2-D7DE-2609-F89E-E6D12C3F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911307"/>
            <a:ext cx="7411212" cy="39168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Insert bullet points here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53863" y="6391275"/>
            <a:ext cx="338137" cy="27305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76892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80D3A46E-70BF-549E-48B8-77A961E08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08" y="382738"/>
            <a:ext cx="1486045" cy="89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0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97DF-BE8B-DFD8-DB21-C2A00F6FE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Alternative divider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CEFB4-6583-D508-BE9F-0C2E8AD75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87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085C-560E-7D78-6BCC-BC5108B4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0A7B-A602-AC44-BA4E-1FBAB8F6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32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BE6C-72BC-D878-41DB-2BCE1F01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18475-8754-3D16-C126-47D173C5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16AD4C-27C9-ADEA-5B07-9DB21E05EC57}"/>
              </a:ext>
            </a:extLst>
          </p:cNvPr>
          <p:cNvSpPr>
            <a:spLocks noGrp="1"/>
          </p:cNvSpPr>
          <p:nvPr>
            <p:ph type="pic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65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D786-ECC6-A2BB-A033-6E7DD7DB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082A-A5B1-4491-6367-CFD8C76721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FEE78-B33C-9290-7324-9A033F6EA2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8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A464-A6F6-BB0E-1AA3-833DC1799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Useful slides /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44E0C-9D27-26C7-328F-21690A6A9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931189"/>
            <a:ext cx="8537945" cy="674129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Please contact the Comms Team if you need any </a:t>
            </a:r>
          </a:p>
          <a:p>
            <a:r>
              <a:rPr lang="en-US" sz="2400" dirty="0"/>
              <a:t>additional, approved slides or templates: </a:t>
            </a:r>
            <a:r>
              <a:rPr lang="en-GB" sz="2400" b="0" i="0" u="sng" dirty="0">
                <a:solidFill>
                  <a:srgbClr val="046AAA"/>
                </a:solidFill>
                <a:effectLst/>
                <a:latin typeface="Calibri" panose="020F0502020204030204" pitchFamily="34" charset="0"/>
                <a:hlinkClick r:id="rId2" tooltip="mailto:nhp.comms@nhs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nhp.comms@nhs.net</a:t>
            </a:r>
            <a:endParaRPr lang="en-US" sz="2400" dirty="0">
              <a:solidFill>
                <a:srgbClr val="046A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98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7B4C-281E-963B-11DE-57930E59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755350"/>
            <a:ext cx="8282764" cy="1218369"/>
          </a:xfrm>
        </p:spPr>
        <p:txBody>
          <a:bodyPr>
            <a:normAutofit fontScale="90000"/>
          </a:bodyPr>
          <a:lstStyle/>
          <a:p>
            <a:b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GB" sz="4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</a:rPr>
              <a:t>Health and Social Care Planning: Update</a:t>
            </a:r>
            <a:b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85F96-685A-6ABB-CF89-058B3D7A3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Natalie Forrest, SRO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131E4-BC3D-83C7-F438-0E1893C4E932}"/>
              </a:ext>
            </a:extLst>
          </p:cNvPr>
          <p:cNvSpPr txBox="1"/>
          <p:nvPr/>
        </p:nvSpPr>
        <p:spPr>
          <a:xfrm>
            <a:off x="255182" y="163518"/>
            <a:ext cx="676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[EXAMPLE]</a:t>
            </a:r>
          </a:p>
        </p:txBody>
      </p:sp>
    </p:spTree>
    <p:extLst>
      <p:ext uri="{BB962C8B-B14F-4D97-AF65-F5344CB8AC3E}">
        <p14:creationId xmlns:p14="http://schemas.microsoft.com/office/powerpoint/2010/main" val="848788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people walking outside a building&#10;&#10;Description automatically generated">
            <a:extLst>
              <a:ext uri="{FF2B5EF4-FFF2-40B4-BE49-F238E27FC236}">
                <a16:creationId xmlns:a16="http://schemas.microsoft.com/office/drawing/2014/main" id="{E7C65A47-AF1F-BD80-1522-E19DC1BDE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4" t="2865" r="724" b="6857"/>
          <a:stretch/>
        </p:blipFill>
        <p:spPr>
          <a:xfrm>
            <a:off x="5827233" y="0"/>
            <a:ext cx="6599666" cy="59647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8F209A6-769E-16B5-AFFD-3B2DE343A7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87140" y="6193536"/>
            <a:ext cx="338137" cy="4714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44ADC-FBC0-4698-B0EC-1AD4A40603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A36EB68-D0D9-2B90-87F7-70A184A8AE49}"/>
              </a:ext>
            </a:extLst>
          </p:cNvPr>
          <p:cNvSpPr/>
          <p:nvPr/>
        </p:nvSpPr>
        <p:spPr>
          <a:xfrm>
            <a:off x="3983445" y="0"/>
            <a:ext cx="5143621" cy="5989084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21CD36-9657-79AE-6AF1-B2F0E4FD5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8778"/>
              </p:ext>
            </p:extLst>
          </p:nvPr>
        </p:nvGraphicFramePr>
        <p:xfrm>
          <a:off x="2596177" y="1947507"/>
          <a:ext cx="5017168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168">
                  <a:extLst>
                    <a:ext uri="{9D8B030D-6E8A-4147-A177-3AD203B41FA5}">
                      <a16:colId xmlns:a16="http://schemas.microsoft.com/office/drawing/2014/main" val="1616796469"/>
                    </a:ext>
                  </a:extLst>
                </a:gridCol>
              </a:tblGrid>
              <a:tr h="3149188">
                <a:tc>
                  <a:txBody>
                    <a:bodyPr/>
                    <a:lstStyle/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GB" sz="1300" b="1" dirty="0">
                          <a:solidFill>
                            <a:srgbClr val="005EB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Thank you for joining the New Hospital Programme Autumn Market Update, both in-person and online. 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GB" sz="1300" b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We are excited to share with you the latest Programme developments and our approach to delivery; with further details to be shared around key strategic areas of the Hospital 2.0 standardised design approach, the Programme Clinical and Digital Strategy, and the overarching Commercial approach.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scale of the Programme will call upon the skills and expertise of companies of all sizes, across a broad range of sectors. No matter your business we believe there’s a part for you to play in delivering hospitals of the future.</a:t>
                      </a:r>
                    </a:p>
                    <a:p>
                      <a:pPr algn="l">
                        <a:spcBef>
                          <a:spcPts val="480"/>
                        </a:spcBef>
                        <a:spcAft>
                          <a:spcPts val="480"/>
                        </a:spcAft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That’s why we’re calling upon the knowledge and experience of the widest breadth of suppliers from construction components to medical equipment and beyond.</a:t>
                      </a:r>
                      <a:endParaRPr lang="en-GB" sz="13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67624"/>
                  </a:ext>
                </a:extLst>
              </a:tr>
            </a:tbl>
          </a:graphicData>
        </a:graphic>
      </p:graphicFrame>
      <p:pic>
        <p:nvPicPr>
          <p:cNvPr id="6" name="Picture 5" descr="A person smiling with her arms crossed&#10;&#10;Description automatically generated">
            <a:extLst>
              <a:ext uri="{FF2B5EF4-FFF2-40B4-BE49-F238E27FC236}">
                <a16:creationId xmlns:a16="http://schemas.microsoft.com/office/drawing/2014/main" id="{E5970334-EEED-A0F8-6009-F93D483CB4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0" r="19465"/>
          <a:stretch/>
        </p:blipFill>
        <p:spPr>
          <a:xfrm>
            <a:off x="828708" y="1764676"/>
            <a:ext cx="1250591" cy="1261029"/>
          </a:xfrm>
          <a:prstGeom prst="ellipse">
            <a:avLst/>
          </a:prstGeom>
          <a:ln w="19050">
            <a:solidFill>
              <a:srgbClr val="005EB8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100DE-7161-8619-C3C1-147E8B58253C}"/>
              </a:ext>
            </a:extLst>
          </p:cNvPr>
          <p:cNvSpPr txBox="1"/>
          <p:nvPr/>
        </p:nvSpPr>
        <p:spPr>
          <a:xfrm>
            <a:off x="503637" y="3212860"/>
            <a:ext cx="19007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Natalie Forrest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Senior Responsible Owner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0307C9-6992-37FA-B3F3-16A15CCA1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3" r="16943"/>
          <a:stretch/>
        </p:blipFill>
        <p:spPr>
          <a:xfrm>
            <a:off x="782190" y="4021444"/>
            <a:ext cx="1250591" cy="1261029"/>
          </a:xfrm>
          <a:prstGeom prst="ellipse">
            <a:avLst/>
          </a:prstGeom>
          <a:ln w="19050">
            <a:solidFill>
              <a:srgbClr val="005BB8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D0731-C94C-BD25-D90F-A44515504663}"/>
              </a:ext>
            </a:extLst>
          </p:cNvPr>
          <p:cNvSpPr txBox="1"/>
          <p:nvPr/>
        </p:nvSpPr>
        <p:spPr>
          <a:xfrm>
            <a:off x="86611" y="5378864"/>
            <a:ext cx="2734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Morag Stuart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Chief Programme Officer</a:t>
            </a:r>
          </a:p>
        </p:txBody>
      </p:sp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2D7936-22CD-0F15-18B8-9CB5A2E3E1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909" y="5152141"/>
            <a:ext cx="2681501" cy="65402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0B041A-A7EA-C6DC-0612-34D62632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[Example]</a:t>
            </a:r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C0FB4A5-FFC3-37B9-9D62-26524950D5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14" y="234061"/>
            <a:ext cx="1758895" cy="10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FB43C-9871-CEA6-AB42-288F7CBD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5"/>
            <a:ext cx="759691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A44ADC-FBC0-4698-B0EC-1AD4A406038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22A3E5-4B52-EEEA-55DF-A105EF4C7B9F}"/>
              </a:ext>
            </a:extLst>
          </p:cNvPr>
          <p:cNvSpPr/>
          <p:nvPr/>
        </p:nvSpPr>
        <p:spPr>
          <a:xfrm>
            <a:off x="505761" y="181758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730B1-21EE-FBB4-D103-BD8854AF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21" y="1457021"/>
            <a:ext cx="4403560" cy="455495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35C6892-80F9-BEB6-E211-80B7F6631836}"/>
              </a:ext>
            </a:extLst>
          </p:cNvPr>
          <p:cNvSpPr/>
          <p:nvPr/>
        </p:nvSpPr>
        <p:spPr>
          <a:xfrm>
            <a:off x="505761" y="290006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0B30D3-0000-F7A8-B063-F2A14CF81B3C}"/>
              </a:ext>
            </a:extLst>
          </p:cNvPr>
          <p:cNvSpPr/>
          <p:nvPr/>
        </p:nvSpPr>
        <p:spPr>
          <a:xfrm>
            <a:off x="505760" y="3982545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D8C788-8BAF-0732-C61C-5C112DE6305D}"/>
              </a:ext>
            </a:extLst>
          </p:cNvPr>
          <p:cNvSpPr/>
          <p:nvPr/>
        </p:nvSpPr>
        <p:spPr>
          <a:xfrm>
            <a:off x="505760" y="5124521"/>
            <a:ext cx="716507" cy="68238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12D18-6C43-833E-8B6C-61359B2B298B}"/>
              </a:ext>
            </a:extLst>
          </p:cNvPr>
          <p:cNvSpPr txBox="1"/>
          <p:nvPr/>
        </p:nvSpPr>
        <p:spPr>
          <a:xfrm>
            <a:off x="1386041" y="1928754"/>
            <a:ext cx="5021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40 hospitals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and now including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RAAC hospitals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(Reinforced Autoclaved Aerated Concrete)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1E9F64-25EB-DF7B-17A6-996775B917B8}"/>
              </a:ext>
            </a:extLst>
          </p:cNvPr>
          <p:cNvSpPr txBox="1"/>
          <p:nvPr/>
        </p:nvSpPr>
        <p:spPr>
          <a:xfrm>
            <a:off x="1386041" y="5311826"/>
            <a:ext cx="4319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On-going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Programme Business Case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B25F90-FA05-3E1D-23E6-75030B88CBDB}"/>
              </a:ext>
            </a:extLst>
          </p:cNvPr>
          <p:cNvSpPr txBox="1"/>
          <p:nvPr/>
        </p:nvSpPr>
        <p:spPr>
          <a:xfrm>
            <a:off x="1344542" y="2825863"/>
            <a:ext cx="5317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centralised programme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to deploy 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systematic approach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including developing a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common set of design principles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incorporating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modern methods of construction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CF9E9-BA1D-692C-4C03-30CE88D73F0C}"/>
              </a:ext>
            </a:extLst>
          </p:cNvPr>
          <p:cNvSpPr txBox="1"/>
          <p:nvPr/>
        </p:nvSpPr>
        <p:spPr>
          <a:xfrm>
            <a:off x="1386040" y="3993478"/>
            <a:ext cx="54527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Development and application of a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 commercial and procurement strategy 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achieve economies of scale and mitigate supply constraints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algn="l" rtl="0" fontAlgn="base"/>
            <a:r>
              <a:rPr lang="en-GB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</p:txBody>
      </p:sp>
      <p:pic>
        <p:nvPicPr>
          <p:cNvPr id="19" name="Graphic 18" descr="Pen with solid fill">
            <a:extLst>
              <a:ext uri="{FF2B5EF4-FFF2-40B4-BE49-F238E27FC236}">
                <a16:creationId xmlns:a16="http://schemas.microsoft.com/office/drawing/2014/main" id="{92DA22DB-C48C-E9D5-D615-3EDEF7A10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247" y="5221948"/>
            <a:ext cx="487532" cy="487532"/>
          </a:xfrm>
          <a:prstGeom prst="rect">
            <a:avLst/>
          </a:prstGeom>
        </p:spPr>
      </p:pic>
      <p:pic>
        <p:nvPicPr>
          <p:cNvPr id="21" name="Graphic 20" descr="Share with solid fill">
            <a:extLst>
              <a:ext uri="{FF2B5EF4-FFF2-40B4-BE49-F238E27FC236}">
                <a16:creationId xmlns:a16="http://schemas.microsoft.com/office/drawing/2014/main" id="{D93B0929-776C-E4C9-44F9-70CFBA0523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800" y="4079973"/>
            <a:ext cx="487532" cy="487532"/>
          </a:xfrm>
          <a:prstGeom prst="rect">
            <a:avLst/>
          </a:prstGeom>
        </p:spPr>
      </p:pic>
      <p:pic>
        <p:nvPicPr>
          <p:cNvPr id="23" name="Graphic 22" descr="Layers Design with solid fill">
            <a:extLst>
              <a:ext uri="{FF2B5EF4-FFF2-40B4-BE49-F238E27FC236}">
                <a16:creationId xmlns:a16="http://schemas.microsoft.com/office/drawing/2014/main" id="{E6BF2357-C35F-B0ED-EEDD-DFABF366E4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247" y="3021453"/>
            <a:ext cx="487532" cy="487532"/>
          </a:xfrm>
          <a:prstGeom prst="rect">
            <a:avLst/>
          </a:prstGeom>
        </p:spPr>
      </p:pic>
      <p:pic>
        <p:nvPicPr>
          <p:cNvPr id="25" name="Graphic 24" descr="Hospital with solid fill">
            <a:extLst>
              <a:ext uri="{FF2B5EF4-FFF2-40B4-BE49-F238E27FC236}">
                <a16:creationId xmlns:a16="http://schemas.microsoft.com/office/drawing/2014/main" id="{B80FAFE4-CB47-360E-8B72-B62D28CD24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0247" y="1882980"/>
            <a:ext cx="487532" cy="48753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522E19-B00F-1020-A09A-6BA77E74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28" y="237744"/>
            <a:ext cx="8880347" cy="1499616"/>
          </a:xfrm>
        </p:spPr>
        <p:txBody>
          <a:bodyPr/>
          <a:lstStyle/>
          <a:p>
            <a:r>
              <a:rPr lang="en-US" dirty="0"/>
              <a:t>The New Hospital Programme</a:t>
            </a:r>
          </a:p>
        </p:txBody>
      </p:sp>
    </p:spTree>
    <p:extLst>
      <p:ext uri="{BB962C8B-B14F-4D97-AF65-F5344CB8AC3E}">
        <p14:creationId xmlns:p14="http://schemas.microsoft.com/office/powerpoint/2010/main" val="91789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674B-94D7-1309-E573-35188985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28" y="237744"/>
            <a:ext cx="8782811" cy="1499616"/>
          </a:xfrm>
        </p:spPr>
        <p:txBody>
          <a:bodyPr/>
          <a:lstStyle/>
          <a:p>
            <a:r>
              <a:rPr lang="en-US" dirty="0"/>
              <a:t>Useful icons / graphics </a:t>
            </a:r>
            <a:br>
              <a:rPr lang="en-US" dirty="0"/>
            </a:br>
            <a:r>
              <a:rPr lang="en-US" dirty="0"/>
              <a:t>(copy &amp; paste)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10523-80B8-59A5-3969-DCB2C97807DC}"/>
              </a:ext>
            </a:extLst>
          </p:cNvPr>
          <p:cNvGrpSpPr/>
          <p:nvPr/>
        </p:nvGrpSpPr>
        <p:grpSpPr>
          <a:xfrm>
            <a:off x="3569055" y="2334389"/>
            <a:ext cx="716507" cy="682388"/>
            <a:chOff x="484495" y="4911871"/>
            <a:chExt cx="716507" cy="68238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214078C-B4D4-A538-F177-E2E0F6F0731F}"/>
                </a:ext>
              </a:extLst>
            </p:cNvPr>
            <p:cNvSpPr/>
            <p:nvPr/>
          </p:nvSpPr>
          <p:spPr>
            <a:xfrm>
              <a:off x="484495" y="4911871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Pen with solid fill">
              <a:extLst>
                <a:ext uri="{FF2B5EF4-FFF2-40B4-BE49-F238E27FC236}">
                  <a16:creationId xmlns:a16="http://schemas.microsoft.com/office/drawing/2014/main" id="{C546B8A1-FEE8-1FF7-E1DF-D4880A92E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982" y="5009298"/>
              <a:ext cx="487532" cy="48753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98404E-A7CF-9753-0E00-2990B5ECA63A}"/>
              </a:ext>
            </a:extLst>
          </p:cNvPr>
          <p:cNvGrpSpPr/>
          <p:nvPr/>
        </p:nvGrpSpPr>
        <p:grpSpPr>
          <a:xfrm>
            <a:off x="2071551" y="2325667"/>
            <a:ext cx="716507" cy="682388"/>
            <a:chOff x="484495" y="3769895"/>
            <a:chExt cx="716507" cy="6823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4084CA-1525-DD36-83F3-D940EE805E6C}"/>
                </a:ext>
              </a:extLst>
            </p:cNvPr>
            <p:cNvSpPr/>
            <p:nvPr/>
          </p:nvSpPr>
          <p:spPr>
            <a:xfrm>
              <a:off x="484495" y="3769895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Graphic 7" descr="Share with solid fill">
              <a:extLst>
                <a:ext uri="{FF2B5EF4-FFF2-40B4-BE49-F238E27FC236}">
                  <a16:creationId xmlns:a16="http://schemas.microsoft.com/office/drawing/2014/main" id="{7D12891C-8796-5D2F-A5B8-CF8845FEB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1535" y="3867323"/>
              <a:ext cx="487532" cy="48753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636BD0-CF1B-FA9E-A50C-9D2CB2E9833D}"/>
              </a:ext>
            </a:extLst>
          </p:cNvPr>
          <p:cNvGrpSpPr/>
          <p:nvPr/>
        </p:nvGrpSpPr>
        <p:grpSpPr>
          <a:xfrm>
            <a:off x="581253" y="2301708"/>
            <a:ext cx="716507" cy="682388"/>
            <a:chOff x="4451504" y="3216108"/>
            <a:chExt cx="716507" cy="6823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F0FCAE0-6C1C-7BD1-A85E-9F5F77D43618}"/>
                </a:ext>
              </a:extLst>
            </p:cNvPr>
            <p:cNvSpPr/>
            <p:nvPr/>
          </p:nvSpPr>
          <p:spPr>
            <a:xfrm>
              <a:off x="4451504" y="3216108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Graphic 8" descr="Layers Design with solid fill">
              <a:extLst>
                <a:ext uri="{FF2B5EF4-FFF2-40B4-BE49-F238E27FC236}">
                  <a16:creationId xmlns:a16="http://schemas.microsoft.com/office/drawing/2014/main" id="{0A87D981-BED9-B4FE-5C81-2528B7984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5990" y="3337496"/>
              <a:ext cx="487532" cy="48753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05753A-FB65-C77E-DF39-57AEF0771E46}"/>
              </a:ext>
            </a:extLst>
          </p:cNvPr>
          <p:cNvGrpSpPr/>
          <p:nvPr/>
        </p:nvGrpSpPr>
        <p:grpSpPr>
          <a:xfrm>
            <a:off x="551575" y="3873905"/>
            <a:ext cx="716507" cy="682388"/>
            <a:chOff x="484496" y="1604935"/>
            <a:chExt cx="716507" cy="68238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14C45A4-F24D-6CF9-9392-A473BD3CCC7D}"/>
                </a:ext>
              </a:extLst>
            </p:cNvPr>
            <p:cNvSpPr/>
            <p:nvPr/>
          </p:nvSpPr>
          <p:spPr>
            <a:xfrm>
              <a:off x="484496" y="1604935"/>
              <a:ext cx="716507" cy="68238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Hospital with solid fill">
              <a:extLst>
                <a:ext uri="{FF2B5EF4-FFF2-40B4-BE49-F238E27FC236}">
                  <a16:creationId xmlns:a16="http://schemas.microsoft.com/office/drawing/2014/main" id="{BA1D1665-19AD-64E5-ECB8-61795CF1D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8982" y="1670330"/>
              <a:ext cx="487532" cy="48753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23F653-1255-1676-577B-E4B8F1A61E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993" y="1560051"/>
            <a:ext cx="4268690" cy="4415447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0D5F4E5-81D0-E5E2-84AD-195FF02A7F38}"/>
              </a:ext>
            </a:extLst>
          </p:cNvPr>
          <p:cNvSpPr/>
          <p:nvPr/>
        </p:nvSpPr>
        <p:spPr>
          <a:xfrm>
            <a:off x="2071551" y="3849946"/>
            <a:ext cx="716508" cy="68238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2B1415-77FF-3301-6060-80080435DB21}"/>
              </a:ext>
            </a:extLst>
          </p:cNvPr>
          <p:cNvSpPr/>
          <p:nvPr/>
        </p:nvSpPr>
        <p:spPr>
          <a:xfrm>
            <a:off x="3569054" y="3813992"/>
            <a:ext cx="716508" cy="68238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Graphic 20" descr="Business Growth with solid fill">
            <a:extLst>
              <a:ext uri="{FF2B5EF4-FFF2-40B4-BE49-F238E27FC236}">
                <a16:creationId xmlns:a16="http://schemas.microsoft.com/office/drawing/2014/main" id="{3054C43D-648A-B32D-DCCA-4FFE5F31A6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3224" y="3896770"/>
            <a:ext cx="592893" cy="592893"/>
          </a:xfrm>
          <a:prstGeom prst="rect">
            <a:avLst/>
          </a:prstGeom>
        </p:spPr>
      </p:pic>
      <p:pic>
        <p:nvPicPr>
          <p:cNvPr id="22" name="Graphic 21" descr="Architecture with solid fill">
            <a:extLst>
              <a:ext uri="{FF2B5EF4-FFF2-40B4-BE49-F238E27FC236}">
                <a16:creationId xmlns:a16="http://schemas.microsoft.com/office/drawing/2014/main" id="{6923475F-43C1-DE0F-E12E-87DB07C3D0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87326" y="3938336"/>
            <a:ext cx="530062" cy="5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3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NHP Colour Them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FEFFFE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NHP Colour Them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FEFFFE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C3297AEF9452489C7FCE3B7D0A0240" ma:contentTypeVersion="18" ma:contentTypeDescription="Create a new document." ma:contentTypeScope="" ma:versionID="1ccb097adaeed9eb0eeb9354c7c3f9c4">
  <xsd:schema xmlns:xsd="http://www.w3.org/2001/XMLSchema" xmlns:xs="http://www.w3.org/2001/XMLSchema" xmlns:p="http://schemas.microsoft.com/office/2006/metadata/properties" xmlns:ns2="6303f13c-72cc-47f0-aeed-d46f93b29717" xmlns:ns3="6fbcc8e4-81ed-40b2-9b21-aa98bc8e658d" targetNamespace="http://schemas.microsoft.com/office/2006/metadata/properties" ma:root="true" ma:fieldsID="66ecee001987cab92525588c62778a1f" ns2:_="" ns3:_="">
    <xsd:import namespace="6303f13c-72cc-47f0-aeed-d46f93b29717"/>
    <xsd:import namespace="6fbcc8e4-81ed-40b2-9b21-aa98bc8e65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3f13c-72cc-47f0-aeed-d46f93b297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e3038f7-01d3-45c6-9ff3-08a5a011bc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bcc8e4-81ed-40b2-9b21-aa98bc8e65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d26e479-4cc6-47b8-a560-5253f29e5bd2}" ma:internalName="TaxCatchAll" ma:showField="CatchAllData" ma:web="6fbcc8e4-81ed-40b2-9b21-aa98bc8e65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bcc8e4-81ed-40b2-9b21-aa98bc8e658d"/>
    <lcf76f155ced4ddcb4097134ff3c332f xmlns="6303f13c-72cc-47f0-aeed-d46f93b297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C9B51D-A54E-4FD0-B3F0-EA8AEE842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3f13c-72cc-47f0-aeed-d46f93b29717"/>
    <ds:schemaRef ds:uri="6fbcc8e4-81ed-40b2-9b21-aa98bc8e65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F1E26B-D07C-4C90-911C-DDBB2DD1DC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E2E476-1148-42D4-979E-2DA976947740}">
  <ds:schemaRefs>
    <ds:schemaRef ds:uri="http://schemas.microsoft.com/office/infopath/2007/PartnerControls"/>
    <ds:schemaRef ds:uri="http://purl.org/dc/elements/1.1/"/>
    <ds:schemaRef ds:uri="6fbcc8e4-81ed-40b2-9b21-aa98bc8e658d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6303f13c-72cc-47f0-aeed-d46f93b29717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{8C70326D-9F1C-1842-B973-7199098CBC5F}tf10001061</Template>
  <TotalTime>124</TotalTime>
  <Words>451</Words>
  <Application>Microsoft Office PowerPoint</Application>
  <PresentationFormat>Widescreen</PresentationFormat>
  <Paragraphs>51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Tw Cen MT</vt:lpstr>
      <vt:lpstr>Wingdings 3</vt:lpstr>
      <vt:lpstr>Integral</vt:lpstr>
      <vt:lpstr>1_Integral</vt:lpstr>
      <vt:lpstr>All decks should start with this slide</vt:lpstr>
      <vt:lpstr>PowerPoint Presentation</vt:lpstr>
      <vt:lpstr>Content slide with picture</vt:lpstr>
      <vt:lpstr>Content slide with picture</vt:lpstr>
      <vt:lpstr>Alternative divider slide</vt:lpstr>
      <vt:lpstr>PowerPoint Presentation</vt:lpstr>
      <vt:lpstr>PowerPoint Presentation</vt:lpstr>
      <vt:lpstr>PowerPoint Presentation</vt:lpstr>
      <vt:lpstr>Useful slides / graphics</vt:lpstr>
      <vt:lpstr> Health and Social Care Planning: Update </vt:lpstr>
      <vt:lpstr>[Example]</vt:lpstr>
      <vt:lpstr>The New Hospital Programme</vt:lpstr>
      <vt:lpstr>Useful icons / graphics  (copy &amp; paste)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 Arnold</dc:creator>
  <cp:lastModifiedBy>Andrew Hood (Strategy Unit, hosted by ML)</cp:lastModifiedBy>
  <cp:revision>12</cp:revision>
  <dcterms:created xsi:type="dcterms:W3CDTF">2023-10-24T11:03:20Z</dcterms:created>
  <dcterms:modified xsi:type="dcterms:W3CDTF">2024-05-14T14:35:19Z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0x010100744B17513ABCD244A26AE9B952667F7B</vt:lpwstr>
  </property>
  <property fmtid="{D5CDD505-2E9C-101B-9397-08002B2CF9AE}" pid="3" name="MediaServiceImageTags">
    <vt:lpwstr/>
  </property>
</Properties>
</file>