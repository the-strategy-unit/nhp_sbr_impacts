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Default Extension="jpeg" ContentType="image/jpeg"/>
  <Default Extension="PNG" ContentType="image/png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6A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26341"/>
    <p:restoredTop sz="95809"/>
  </p:normalViewPr>
  <p:slideViewPr>
    <p:cSldViewPr snapToGrid="0">
      <p:cViewPr varScale="1">
        <p:scale>
          <a:sx d="100" n="67"/>
          <a:sy d="100" n="67"/>
        </p:scale>
        <p:origin x="140" y="48"/>
      </p:cViewPr>
      <p:guideLst/>
    </p:cSldViewPr>
  </p:slideViewPr>
  <p:notesTextViewPr>
    <p:cViewPr>
      <p:scale>
        <a:sx d="2" n="3"/>
        <a:sy d="2" n="3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5" Type="http://schemas.openxmlformats.org/officeDocument/2006/relationships/slide" Target="slides/slide1.xml" /><Relationship Id="rId6" Type="http://schemas.openxmlformats.org/officeDocument/2006/relationships/slide" Target="slides/slide2.xml" /><Relationship Id="rId7" Type="http://schemas.openxmlformats.org/officeDocument/2006/relationships/slide" Target="slides/slide3.xml" /><Relationship Id="rId8" Type="http://schemas.openxmlformats.org/officeDocument/2006/relationships/slide" Target="slides/slide4.xml" /><Relationship Id="rId9" Type="http://schemas.openxmlformats.org/officeDocument/2006/relationships/slide" Target="slides/slide5.xml" /><Relationship Id="rId10" Type="http://schemas.openxmlformats.org/officeDocument/2006/relationships/slide" Target="slides/slide6.xml" /><Relationship Id="rId11" Type="http://schemas.openxmlformats.org/officeDocument/2006/relationships/slide" Target="slides/slide7.xml" /><Relationship Id="rId12" Type="http://schemas.openxmlformats.org/officeDocument/2006/relationships/slide" Target="slides/slide8.xml" /><Relationship Id="rId13" Type="http://schemas.openxmlformats.org/officeDocument/2006/relationships/slide" Target="slides/slide9.xml" /><Relationship Id="rId14" Type="http://schemas.openxmlformats.org/officeDocument/2006/relationships/slide" Target="slides/slide10.xml" /><Relationship Id="rId15" Type="http://schemas.openxmlformats.org/officeDocument/2006/relationships/slide" Target="slides/slide11.xml" /><Relationship Id="rId16" Type="http://schemas.openxmlformats.org/officeDocument/2006/relationships/slide" Target="slides/slide12.xml" /><Relationship Id="rId17" Type="http://schemas.openxmlformats.org/officeDocument/2006/relationships/slide" Target="slides/slide13.xml" /><Relationship Id="rId18" Type="http://schemas.openxmlformats.org/officeDocument/2006/relationships/slide" Target="slides/slide14.xml" /><Relationship Id="rId3" Type="http://schemas.openxmlformats.org/officeDocument/2006/relationships/customXml" Target="../customXml/item3.xml" /><Relationship Id="rId21" Type="http://schemas.openxmlformats.org/officeDocument/2006/relationships/theme" Target="theme/theme1.xml" /><Relationship Id="rId2" Type="http://schemas.openxmlformats.org/officeDocument/2006/relationships/customXml" Target="../customXml/item2.xml" /><Relationship Id="rId20" Type="http://schemas.openxmlformats.org/officeDocument/2006/relationships/viewProps" Target="viewProps.xml" /><Relationship Id="rId1" Type="http://schemas.openxmlformats.org/officeDocument/2006/relationships/customXml" Target="../customXml/item1.xml" /><Relationship Id="rId24" Type="http://schemas.microsoft.com/office/2015/10/relationships/revisionInfo" Target="revisionInfo.xml" /><Relationship Id="rId23" Type="http://schemas.microsoft.com/office/2016/11/relationships/changesInfo" Target="changesInfos/changesInfo1.xml" /><Relationship Id="rId19" Type="http://schemas.openxmlformats.org/officeDocument/2006/relationships/presProps" Target="presProps.xml" /><Relationship Id="rId4" Type="http://schemas.openxmlformats.org/officeDocument/2006/relationships/slideMaster" Target="slideMasters/slideMaster1.xml" /><Relationship Id="rId22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rgbClr val="046A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198" y="4755350"/>
            <a:ext cx="8406375" cy="1218369"/>
          </a:xfrm>
        </p:spPr>
        <p:txBody>
          <a:bodyPr anchor="ctr">
            <a:normAutofit/>
          </a:bodyPr>
          <a:lstStyle>
            <a:lvl1pPr algn="l">
              <a:defRPr sz="3600" spc="200" baseline="0"/>
            </a:lvl1pPr>
          </a:lstStyle>
          <a:p>
            <a:r>
              <a:rPr lang="en-GB" dirty="0"/>
              <a:t>Click to edit heading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7199" y="6020353"/>
            <a:ext cx="8406374" cy="674129"/>
          </a:xfrm>
          <a:prstGeom prst="rect">
            <a:avLst/>
          </a:prstGeo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34673" y="4870528"/>
            <a:ext cx="0" cy="914400"/>
          </a:xfrm>
          <a:prstGeom prst="line">
            <a:avLst/>
          </a:prstGeom>
          <a:ln w="60325">
            <a:solidFill>
              <a:srgbClr val="046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Diagram, engineering drawing&#10;&#10;Description automatically generated">
            <a:extLst>
              <a:ext uri="{FF2B5EF4-FFF2-40B4-BE49-F238E27FC236}">
                <a16:creationId xmlns:a16="http://schemas.microsoft.com/office/drawing/2014/main" id="{AEC535E7-05A1-3106-03CA-FE81CE89F9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41" r="6031"/>
          <a:stretch/>
        </p:blipFill>
        <p:spPr>
          <a:xfrm>
            <a:off x="0" y="18784"/>
            <a:ext cx="12192000" cy="4572000"/>
          </a:xfrm>
          <a:prstGeom prst="rect">
            <a:avLst/>
          </a:prstGeom>
        </p:spPr>
      </p:pic>
      <p:pic>
        <p:nvPicPr>
          <p:cNvPr id="4" name="Picture 3" descr="A blue and white logo&#10;&#10;Description automatically generated">
            <a:extLst>
              <a:ext uri="{FF2B5EF4-FFF2-40B4-BE49-F238E27FC236}">
                <a16:creationId xmlns:a16="http://schemas.microsoft.com/office/drawing/2014/main" id="{E20BC1E3-5F30-6B91-A98C-EEDFAD08A1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5648" y="5001144"/>
            <a:ext cx="2237233" cy="134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386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rgbClr val="046A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199" y="4755350"/>
            <a:ext cx="7772400" cy="1218369"/>
          </a:xfrm>
        </p:spPr>
        <p:txBody>
          <a:bodyPr anchor="ctr">
            <a:normAutofit/>
          </a:bodyPr>
          <a:lstStyle>
            <a:lvl1pPr algn="l">
              <a:defRPr sz="3600" spc="200" baseline="0"/>
            </a:lvl1pPr>
          </a:lstStyle>
          <a:p>
            <a:r>
              <a:rPr lang="en-GB" dirty="0"/>
              <a:t>Click to edit heading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7199" y="6020353"/>
            <a:ext cx="7772399" cy="674129"/>
          </a:xfrm>
          <a:prstGeom prst="rect">
            <a:avLst/>
          </a:prstGeo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228348" y="4870528"/>
            <a:ext cx="0" cy="914400"/>
          </a:xfrm>
          <a:prstGeom prst="line">
            <a:avLst/>
          </a:prstGeom>
          <a:ln w="44450">
            <a:solidFill>
              <a:srgbClr val="046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blue and white logo&#10;&#10;Description automatically generated">
            <a:extLst>
              <a:ext uri="{FF2B5EF4-FFF2-40B4-BE49-F238E27FC236}">
                <a16:creationId xmlns:a16="http://schemas.microsoft.com/office/drawing/2014/main" id="{73FDA91B-6B8D-6C56-06AE-FDAAB237A5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670" y="4870528"/>
            <a:ext cx="2472059" cy="1490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002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9352" y="419100"/>
            <a:ext cx="9720072" cy="93345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EB7D868-2676-D940-84A9-1D62048C5842}"/>
              </a:ext>
            </a:extLst>
          </p:cNvPr>
          <p:cNvSpPr txBox="1">
            <a:spLocks/>
          </p:cNvSpPr>
          <p:nvPr userDrawn="1"/>
        </p:nvSpPr>
        <p:spPr>
          <a:xfrm>
            <a:off x="5926093" y="6358128"/>
            <a:ext cx="33813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0FAE58-AEA8-F047-B98D-7B2B3D014012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92819-5C80-B996-F823-F8B9F9EAD6C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09829" y="1619249"/>
            <a:ext cx="5046518" cy="4233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1BAB7DA-EC53-0103-E362-83F86BDB6BC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35653" y="1619248"/>
            <a:ext cx="5046518" cy="4233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444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03747" y="1619250"/>
            <a:ext cx="5678424" cy="4233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576BF1A0-1B30-B080-929D-2D4F0124B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9829" y="428624"/>
            <a:ext cx="8434196" cy="91440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D18B8C-3B03-E70C-8B8E-166B7859E097}"/>
              </a:ext>
            </a:extLst>
          </p:cNvPr>
          <p:cNvSpPr txBox="1">
            <a:spLocks/>
          </p:cNvSpPr>
          <p:nvPr userDrawn="1"/>
        </p:nvSpPr>
        <p:spPr>
          <a:xfrm>
            <a:off x="5926093" y="6358128"/>
            <a:ext cx="33813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0FAE58-AEA8-F047-B98D-7B2B3D014012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F61A5FC-3684-1BAC-1114-63C491ABAD7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09829" y="1619249"/>
            <a:ext cx="4405121" cy="4233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346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09829" y="438150"/>
            <a:ext cx="8434196" cy="91440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09829" y="1550608"/>
            <a:ext cx="10243946" cy="46041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Click to edit text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71093" y="6583680"/>
            <a:ext cx="9023755" cy="274320"/>
          </a:xfrm>
        </p:spPr>
        <p:txBody>
          <a:bodyPr/>
          <a:lstStyle/>
          <a:p>
            <a:r>
              <a:rPr lang="en-US" dirty="0"/>
              <a:t>Add sensitivity if needed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0837A-E153-BAFA-B6F8-647E5E476D7B}"/>
              </a:ext>
            </a:extLst>
          </p:cNvPr>
          <p:cNvSpPr txBox="1">
            <a:spLocks/>
          </p:cNvSpPr>
          <p:nvPr userDrawn="1"/>
        </p:nvSpPr>
        <p:spPr>
          <a:xfrm>
            <a:off x="5926093" y="6358128"/>
            <a:ext cx="33813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0FAE58-AEA8-F047-B98D-7B2B3D014012}" type="slidenum">
              <a:rPr lang="en-US" sz="900" smtClean="0"/>
              <a:pPr/>
              <a:t>‹#›</a:t>
            </a:fld>
            <a:endParaRPr lang="en-US" sz="9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661F691-68A2-ACF8-5D27-3F5571B6FD7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09638" y="2228850"/>
            <a:ext cx="7015162" cy="36957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0479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72376C-BD00-0C21-7B68-8BAE977B9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35C0E-E263-0848-A698-EE526CA39358}" type="datetimeFigureOut">
              <a:rPr lang="en-US" smtClean="0"/>
              <a:t>5/20/2024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864193-C369-71B1-B4FE-84F03344D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2168E-40A1-A3C5-5A84-C324B159C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93662-164E-B74F-8D60-B4DF4EEC9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935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09829" y="403765"/>
            <a:ext cx="8434196" cy="976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828" y="1737360"/>
            <a:ext cx="10420160" cy="408928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F6E56E1-9EDB-5EE5-A17D-D1CA9626D67B}"/>
              </a:ext>
            </a:extLst>
          </p:cNvPr>
          <p:cNvSpPr txBox="1">
            <a:spLocks/>
          </p:cNvSpPr>
          <p:nvPr userDrawn="1"/>
        </p:nvSpPr>
        <p:spPr>
          <a:xfrm>
            <a:off x="5926093" y="6358128"/>
            <a:ext cx="33813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0FAE58-AEA8-F047-B98D-7B2B3D014012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104E18-8379-D7A8-EB57-3A892E5A1EC5}"/>
              </a:ext>
            </a:extLst>
          </p:cNvPr>
          <p:cNvSpPr/>
          <p:nvPr userDrawn="1"/>
        </p:nvSpPr>
        <p:spPr>
          <a:xfrm>
            <a:off x="9818655" y="237744"/>
            <a:ext cx="2043115" cy="14996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F56D429E-DF34-7BA9-913A-6A66F93118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5575" y="403765"/>
            <a:ext cx="1478709" cy="89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326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5" Target="../slideLayouts/slideLayout5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media/image2.PNG" Type="http://schemas.openxmlformats.org/officeDocument/2006/relationships/imag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56AE61C-CB53-A51B-2E3D-419A782B4757}"/>
              </a:ext>
            </a:extLst>
          </p:cNvPr>
          <p:cNvSpPr txBox="1">
            <a:spLocks/>
          </p:cNvSpPr>
          <p:nvPr userDrawn="1"/>
        </p:nvSpPr>
        <p:spPr>
          <a:xfrm>
            <a:off x="909828" y="1619249"/>
            <a:ext cx="10420159" cy="423343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eaLnBrk="1" hangingPunct="1" indent="-91440" latinLnBrk="0" marL="9144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charset="0" panose="020B0602020104020603" pitchFamily="34" typeface="Tw Cen MT"/>
              <a:buChar char=" "/>
              <a:defRPr kern="1200" sz="1800">
                <a:solidFill>
                  <a:schemeClr val="tx1"/>
                </a:solidFill>
                <a:latin charset="0" panose="020B0004020202020204" pitchFamily="34" typeface="Aptos"/>
                <a:ea typeface="+mn-ea"/>
                <a:cs charset="0" panose="020B0604020202020204" pitchFamily="34" typeface="Arial"/>
              </a:defRPr>
            </a:lvl1pPr>
            <a:lvl2pPr algn="l" defTabSz="914400" eaLnBrk="1" hangingPunct="1" indent="-137160" latinLnBrk="0" marL="265176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charset="2" pitchFamily="18" typeface="Wingdings 3"/>
              <a:buChar char=""/>
              <a:defRPr kern="1200" sz="1800">
                <a:solidFill>
                  <a:schemeClr val="tx1"/>
                </a:solidFill>
                <a:latin charset="0" panose="020B0004020202020204" pitchFamily="34" typeface="Aptos"/>
                <a:ea typeface="+mn-ea"/>
                <a:cs charset="0" panose="020B0604020202020204" pitchFamily="34" typeface="Arial"/>
              </a:defRPr>
            </a:lvl2pPr>
            <a:lvl3pPr algn="l" defTabSz="914400" eaLnBrk="1" hangingPunct="1" indent="-137160" latinLnBrk="0" marL="448056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charset="2" pitchFamily="18" typeface="Wingdings 3"/>
              <a:buChar char=""/>
              <a:defRPr kern="1200" sz="1800">
                <a:solidFill>
                  <a:schemeClr val="tx1"/>
                </a:solidFill>
                <a:latin charset="0" panose="020B0004020202020204" pitchFamily="34" typeface="Aptos"/>
                <a:ea typeface="+mn-ea"/>
                <a:cs charset="0" panose="020B0604020202020204" pitchFamily="34" typeface="Arial"/>
              </a:defRPr>
            </a:lvl3pPr>
            <a:lvl4pPr algn="l" defTabSz="914400" eaLnBrk="1" hangingPunct="1" indent="-137160" latinLnBrk="0" marL="59436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charset="2" pitchFamily="18" typeface="Wingdings 3"/>
              <a:buChar char=""/>
              <a:defRPr kern="1200" sz="1800">
                <a:solidFill>
                  <a:schemeClr val="tx1"/>
                </a:solidFill>
                <a:latin charset="0" panose="020B0004020202020204" pitchFamily="34" typeface="Aptos"/>
                <a:ea typeface="+mn-ea"/>
                <a:cs charset="0" panose="020B0604020202020204" pitchFamily="34" typeface="Arial"/>
              </a:defRPr>
            </a:lvl4pPr>
            <a:lvl5pPr algn="l" defTabSz="914400" eaLnBrk="1" hangingPunct="1" indent="-137160" latinLnBrk="0" marL="77724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charset="2" pitchFamily="18" typeface="Wingdings 3"/>
              <a:buChar char=""/>
              <a:defRPr kern="1200" sz="1800">
                <a:solidFill>
                  <a:schemeClr val="tx1"/>
                </a:solidFill>
                <a:latin charset="0" panose="020B0004020202020204" pitchFamily="34" typeface="Aptos"/>
                <a:ea typeface="+mn-ea"/>
                <a:cs charset="0" panose="020B0604020202020204" pitchFamily="34" typeface="Arial"/>
              </a:defRPr>
            </a:lvl5pPr>
            <a:lvl6pPr algn="l" defTabSz="914400" eaLnBrk="1" hangingPunct="1" indent="-137160" latinLnBrk="0" marL="9144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charset="2" pitchFamily="18" typeface="Wingdings 3"/>
              <a:buChar char=""/>
              <a:defRPr kern="1200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indent="-137160" latinLnBrk="0" marL="1060704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charset="2" pitchFamily="18" typeface="Wingdings 3"/>
              <a:buChar char=""/>
              <a:defRPr kern="1200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indent="-137160" latinLnBrk="0" marL="1216152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charset="2" pitchFamily="18" typeface="Wingdings 3"/>
              <a:buChar char=""/>
              <a:defRPr kern="1200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indent="-137160" latinLnBrk="0" marL="1362456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charset="2" pitchFamily="18" typeface="Wingdings 3"/>
              <a:buChar char=""/>
              <a:defRPr kern="1200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 lang="en-US"/>
          </a:p>
        </p:txBody>
      </p:sp>
      <p:pic>
        <p:nvPicPr>
          <p:cNvPr descr="A blue line with a white background" id="8" name="Picture 7">
            <a:extLst>
              <a:ext uri="{FF2B5EF4-FFF2-40B4-BE49-F238E27FC236}">
                <a16:creationId xmlns:a16="http://schemas.microsoft.com/office/drawing/2014/main" id="{F5E63812-AC84-AA97-7086-F862611574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/>
          <a:srcRect r="942"/>
          <a:stretch/>
        </p:blipFill>
        <p:spPr>
          <a:xfrm>
            <a:off x="11875" y="11875"/>
            <a:ext cx="1225926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9829" y="429900"/>
            <a:ext cx="8434196" cy="9144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GB"/>
              <a:t>Click to edit title</a:t>
            </a:r>
            <a:endParaRPr dirty="0"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909828" y="1695450"/>
            <a:ext cx="10420160" cy="4033838"/>
          </a:xfrm>
          <a:prstGeom prst="rect">
            <a:avLst/>
          </a:prstGeom>
        </p:spPr>
        <p:txBody>
          <a:bodyPr bIns="45720" lIns="45720" rIns="45720" rtlCol="0" tIns="45720" vert="horz">
            <a:normAutofit/>
          </a:bodyPr>
          <a:lstStyle/>
          <a:p>
            <a:pPr lvl="0"/>
            <a:r>
              <a:rPr dirty="0" lang="en-GB"/>
              <a:t>Click to edit Master text styles</a:t>
            </a:r>
          </a:p>
          <a:p>
            <a:pPr lvl="1"/>
            <a:r>
              <a:rPr dirty="0" lang="en-GB"/>
              <a:t>Second level</a:t>
            </a:r>
          </a:p>
          <a:p>
            <a:pPr lvl="2"/>
            <a:r>
              <a:rPr dirty="0" lang="en-GB"/>
              <a:t>Third level</a:t>
            </a:r>
          </a:p>
          <a:p>
            <a:pPr lvl="3"/>
            <a:r>
              <a:rPr dirty="0" lang="en-GB"/>
              <a:t>Fourth level</a:t>
            </a:r>
          </a:p>
          <a:p>
            <a:pPr lvl="4"/>
            <a:r>
              <a:rPr dirty="0" lang="en-GB"/>
              <a:t>Fifth level</a:t>
            </a:r>
            <a:endParaRPr dirty="0"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1571093" y="6583680"/>
            <a:ext cx="8430155" cy="274320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baseline="0" cap="none" sz="1000">
                <a:solidFill>
                  <a:schemeClr val="tx1"/>
                </a:solidFill>
                <a:latin charset="0" panose="020F0502020204030204" pitchFamily="34" typeface="Calibri"/>
                <a:cs charset="0" panose="020F0502020204030204" pitchFamily="34" typeface="Calibri"/>
              </a:defRPr>
            </a:lvl1pPr>
          </a:lstStyle>
          <a:p>
            <a:r>
              <a:rPr dirty="0" lang="en-US"/>
              <a:t>Add sensitivity level here if required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5740641" y="6309360"/>
            <a:ext cx="338137" cy="274320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lumMod val="95000"/>
                    <a:lumOff val="5000"/>
                  </a:schemeClr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520FAE58-AEA8-F047-B98D-7B2B3D014012}" type="slidenum">
              <a:rPr lang="en-US" smtClean="0"/>
              <a:pPr/>
              <a:t>‹#›</a:t>
            </a:fld>
            <a:endParaRPr dirty="0"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39373" y="429900"/>
            <a:ext cx="0" cy="914400"/>
          </a:xfrm>
          <a:prstGeom prst="line">
            <a:avLst/>
          </a:prstGeom>
          <a:ln w="44450">
            <a:solidFill>
              <a:srgbClr val="046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0655971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1" r:id="rId1"/>
    <p:sldLayoutId id="2147483672" r:id="rId2"/>
    <p:sldLayoutId id="2147483664" r:id="rId3"/>
    <p:sldLayoutId id="2147483668" r:id="rId4"/>
    <p:sldLayoutId id="2147483673" r:id="rId5"/>
    <p:sldLayoutId id="2147483736" r:id="rId6"/>
    <p:sldLayoutId id="2147483662" r:id="rId7"/>
  </p:sldLayoutIdLst>
  <p:txStyles>
    <p:titleStyle>
      <a:lvl1pPr algn="l" defTabSz="914400" eaLnBrk="1" hangingPunct="1" latinLnBrk="0" rtl="0">
        <a:lnSpc>
          <a:spcPct val="80000"/>
        </a:lnSpc>
        <a:spcBef>
          <a:spcPct val="0"/>
        </a:spcBef>
        <a:buNone/>
        <a:defRPr b="1" baseline="0" cap="none" kern="1200" spc="100" sz="3600">
          <a:solidFill>
            <a:schemeClr val="tx1">
              <a:lumMod val="95000"/>
              <a:lumOff val="5000"/>
            </a:schemeClr>
          </a:solidFill>
          <a:latin charset="0" panose="020F0502020204030204" pitchFamily="34" typeface="Aptos ExtraBold"/>
          <a:ea typeface="+mj-ea"/>
          <a:cs charset="0" panose="020B0604020202020204" pitchFamily="34" typeface="Arial"/>
        </a:defRPr>
      </a:lvl1pPr>
    </p:titleStyle>
    <p:bodyStyle>
      <a:lvl1pPr algn="l" defTabSz="914400" eaLnBrk="1" hangingPunct="1" indent="-91440" latinLnBrk="0" marL="91440" rtl="0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charset="0" panose="020B0602020104020603" pitchFamily="34" typeface="Tw Cen MT"/>
        <a:buChar char=" "/>
        <a:defRPr kern="1200" sz="2200">
          <a:solidFill>
            <a:schemeClr val="tx1"/>
          </a:solidFill>
          <a:latin charset="0" panose="020B0004020202020204" pitchFamily="34" typeface="Aptos"/>
          <a:ea typeface="+mn-ea"/>
          <a:cs charset="0" panose="020B0604020202020204" pitchFamily="34" typeface="Arial"/>
        </a:defRPr>
      </a:lvl1pPr>
      <a:lvl2pPr algn="l" defTabSz="914400" eaLnBrk="1" hangingPunct="1" indent="-137160" latinLnBrk="0" marL="265176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charset="2" pitchFamily="18" typeface="Wingdings 3"/>
        <a:buChar char=""/>
        <a:defRPr kern="1200" sz="1800">
          <a:solidFill>
            <a:schemeClr val="tx1"/>
          </a:solidFill>
          <a:latin charset="0" panose="020B0004020202020204" pitchFamily="34" typeface="Aptos"/>
          <a:ea typeface="+mn-ea"/>
          <a:cs charset="0" panose="020B0604020202020204" pitchFamily="34" typeface="Arial"/>
        </a:defRPr>
      </a:lvl2pPr>
      <a:lvl3pPr algn="l" defTabSz="914400" eaLnBrk="1" hangingPunct="1" indent="-137160" latinLnBrk="0" marL="448056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charset="2" pitchFamily="18" typeface="Wingdings 3"/>
        <a:buChar char=""/>
        <a:defRPr kern="1200" sz="1400">
          <a:solidFill>
            <a:schemeClr val="tx1"/>
          </a:solidFill>
          <a:latin charset="0" panose="020B0004020202020204" pitchFamily="34" typeface="Aptos"/>
          <a:ea typeface="+mn-ea"/>
          <a:cs charset="0" panose="020B0604020202020204" pitchFamily="34" typeface="Arial"/>
        </a:defRPr>
      </a:lvl3pPr>
      <a:lvl4pPr algn="l" defTabSz="914400" eaLnBrk="1" hangingPunct="1" indent="-137160" latinLnBrk="0" marL="59436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charset="2" pitchFamily="18" typeface="Wingdings 3"/>
        <a:buChar char=""/>
        <a:defRPr kern="1200" sz="1400">
          <a:solidFill>
            <a:schemeClr val="tx1"/>
          </a:solidFill>
          <a:latin charset="0" panose="020B0004020202020204" pitchFamily="34" typeface="Aptos"/>
          <a:ea typeface="+mn-ea"/>
          <a:cs charset="0" panose="020B0604020202020204" pitchFamily="34" typeface="Arial"/>
        </a:defRPr>
      </a:lvl4pPr>
      <a:lvl5pPr algn="l" defTabSz="914400" eaLnBrk="1" hangingPunct="1" indent="-137160" latinLnBrk="0" marL="77724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charset="2" pitchFamily="18" typeface="Wingdings 3"/>
        <a:buChar char=""/>
        <a:defRPr kern="1200" sz="1400">
          <a:solidFill>
            <a:schemeClr val="tx1"/>
          </a:solidFill>
          <a:latin charset="0" panose="020B0004020202020204" pitchFamily="34" typeface="Aptos"/>
          <a:ea typeface="+mn-ea"/>
          <a:cs charset="0" panose="020B0604020202020204" pitchFamily="34" typeface="Arial"/>
        </a:defRPr>
      </a:lvl5pPr>
      <a:lvl6pPr algn="l" defTabSz="914400" eaLnBrk="1" hangingPunct="1" indent="-137160" latinLnBrk="0" marL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charset="2" pitchFamily="18" typeface="Wingdings 3"/>
        <a:buChar char=""/>
        <a:defRPr kern="1200" sz="14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137160" latinLnBrk="0" marL="1060704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charset="2" pitchFamily="18" typeface="Wingdings 3"/>
        <a:buChar char=""/>
        <a:defRPr kern="1200" sz="14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137160" latinLnBrk="0" marL="1216152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charset="2" pitchFamily="18" typeface="Wingdings 3"/>
        <a:buChar char=""/>
        <a:defRPr kern="1200" sz="14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137160" latinLnBrk="0" marL="1362456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charset="2" pitchFamily="18" typeface="Wingdings 3"/>
        <a:buChar char=""/>
        <a:defRPr kern="1200" sz="14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26.jp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image" Target="../media/image27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image" Target="../media/image2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ctrTitle"/>
          </p:nvPr>
        </p:nvSpPr>
        <p:spPr>
          <a:xfrm>
            <a:off x="457198" y="4755350"/>
            <a:ext cx="8406375" cy="1218369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Quantifying the impacts of hospitals increasing single bed room provision</a:t>
            </a:r>
          </a:p>
        </p:txBody>
      </p:sp>
      <p:sp>
        <p:nvSpPr>
          <p:cNvPr id="3" name="Subtitle 2"/>
          <p:cNvSpPr>
            <a:spLocks noGrp="1"/>
          </p:cNvSpPr>
          <p:nvPr>
            <p:ph hasCustomPrompt="1" idx="1" type="subTitle"/>
          </p:nvPr>
        </p:nvSpPr>
        <p:spPr>
          <a:xfrm>
            <a:off x="457199" y="6020353"/>
            <a:ext cx="8406374" cy="674129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Andy Hood | Analytics Manager | Strategy Unit | 14th May 2024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ctrTitle"/>
          </p:nvPr>
        </p:nvSpPr>
        <p:spPr>
          <a:xfrm>
            <a:off x="457199" y="4755350"/>
            <a:ext cx="7772400" cy="121836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Introduction, approach and summary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9352" y="419100"/>
            <a:ext cx="9720072" cy="933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92819-5C80-B996-F823-F8B9F9EAD6C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Since it’s inception, the New Hospital Programme (NHP) has advocated for single bed rooms (SBR). The grounds for this are based on a range of guidance, evidence and previous policy statements of intent. Whilst that position is unequivocal, there is uncertainty around the quantification of impacts of such a change and thus the assumptions that feed into demand and capacity models and economic business cases for current and future new hospital developments.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1BAB7DA-EC53-0103-E362-83F86BDB6BC4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Specifically, a starting assumption was that a length of stay reduction of 12% was likely for all new SBR facilities compared to prior trends. This assumption was criticised by the national audit office (NAO) (Office 2023) in the face of a mixed evidence base.</a:t>
            </a:r>
          </a:p>
          <a:p>
            <a:pPr lvl="0" indent="0" marL="0">
              <a:buNone/>
            </a:pPr>
            <a:r>
              <a:rPr/>
              <a:t>It is the express aim of this analysis therefore to quantify the range of likely impacts for length of stay and a basket of other measures across patient &amp; staff experience, productivity and health &amp; safety.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9352" y="419100"/>
            <a:ext cx="9720072" cy="933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92819-5C80-B996-F823-F8B9F9EAD6C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/>
            <a:r>
              <a:rPr/>
              <a:t>Previous literature reviews and general searches were undertaken to identify potential impact factors.</a:t>
            </a:r>
          </a:p>
          <a:p>
            <a:pPr lvl="0"/>
            <a:r>
              <a:rPr/>
              <a:t>Identified relevant measures or proxy measures from publicly available data and routine data sources.</a:t>
            </a:r>
          </a:p>
          <a:p>
            <a:pPr lvl="0"/>
            <a:r>
              <a:rPr/>
              <a:t>Included only those with sufficient time series and of acceptable data quality into final impact framework.</a:t>
            </a:r>
          </a:p>
          <a:p>
            <a:pPr lvl="0"/>
            <a:r>
              <a:rPr/>
              <a:t>Cleansed and compiled all the data into time series format.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1BAB7DA-EC53-0103-E362-83F86BDB6BC4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 lvl="0"/>
            <a:r>
              <a:rPr/>
              <a:t>Identified ‘control’ sites and providers to compare to our natural experiment sites.</a:t>
            </a:r>
          </a:p>
          <a:p>
            <a:pPr lvl="0"/>
            <a:r>
              <a:rPr/>
              <a:t>Several stages of this matching according to hospital function, size, case-mix and admission ratio’s.</a:t>
            </a:r>
          </a:p>
          <a:p>
            <a:pPr lvl="0"/>
            <a:r>
              <a:rPr/>
              <a:t>Performed causal impact analysis on the pre and post intervention periods to detect the nature and scale of impacts for each natural experiment.</a:t>
            </a:r>
          </a:p>
          <a:p>
            <a:pPr lvl="0"/>
            <a:r>
              <a:rPr/>
              <a:t>Aggregated findings for the non-specialist hospitals.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>
          <a:xfrm>
            <a:off x="909829" y="403765"/>
            <a:ext cx="8434196" cy="9760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 of 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Regardless of direction of impact, our results are not consistent across hospital sites. This suggests that there are a number of other factors in the hospital design, systems, policies and procedures that are important. Switching to single bedroom hospitals without considering the other factors would not necessarily have a positive effect on outcomes nor mitigate any likely risks. This inconsistency is reflective of the findings from published literature.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ctrTitle"/>
          </p:nvPr>
        </p:nvSpPr>
        <p:spPr>
          <a:xfrm>
            <a:off x="457199" y="4755350"/>
            <a:ext cx="7772400" cy="121836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impact framework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>
          <a:xfrm>
            <a:off x="909829" y="403765"/>
            <a:ext cx="8434196" cy="9760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  <p:pic>
        <p:nvPicPr>
          <p:cNvPr descr="images/indicators.jpe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01700" y="2032000"/>
            <a:ext cx="10414000" cy="346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ctrTitle"/>
          </p:nvPr>
        </p:nvSpPr>
        <p:spPr>
          <a:xfrm>
            <a:off x="457199" y="4755350"/>
            <a:ext cx="7772400" cy="121836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hospitals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9352" y="419100"/>
            <a:ext cx="9720072" cy="933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7 natural experiments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92819-5C80-B996-F823-F8B9F9EAD6C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/>
            <a:r>
              <a:rPr/>
              <a:t>Royal Liverpool (Oct 2022)</a:t>
            </a:r>
          </a:p>
          <a:p>
            <a:pPr lvl="0"/>
            <a:r>
              <a:rPr/>
              <a:t>Clatterbridge Cancer Centre (June 2020)</a:t>
            </a:r>
          </a:p>
          <a:p>
            <a:pPr lvl="0"/>
            <a:r>
              <a:rPr/>
              <a:t>Royal Papworth Hospital (May 2019)</a:t>
            </a:r>
          </a:p>
          <a:p>
            <a:pPr lvl="0"/>
            <a:r>
              <a:rPr/>
              <a:t>Chase Farm Hospital (Sept 2018)</a:t>
            </a:r>
          </a:p>
          <a:p>
            <a:pPr lvl="0"/>
            <a:r>
              <a:rPr/>
              <a:t>Southmead Hospital (May 2014)</a:t>
            </a:r>
          </a:p>
          <a:p>
            <a:pPr lvl="0"/>
            <a:r>
              <a:rPr/>
              <a:t>Tunbridge Wells (Jan/Sept 2011)</a:t>
            </a:r>
          </a:p>
          <a:p>
            <a:pPr lvl="0"/>
            <a:r>
              <a:rPr/>
              <a:t>Peterborough Hospital (Nov 2010)</a:t>
            </a:r>
          </a:p>
        </p:txBody>
      </p:sp>
      <p:pic>
        <p:nvPicPr>
          <p:cNvPr descr="images/hospitals_ma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223000" y="2057400"/>
            <a:ext cx="5041900" cy="3327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ctrTitle"/>
          </p:nvPr>
        </p:nvSpPr>
        <p:spPr>
          <a:xfrm>
            <a:off x="457199" y="4755350"/>
            <a:ext cx="7772400" cy="121836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 of methods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9352" y="419100"/>
            <a:ext cx="9720072" cy="933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Selecting control 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92819-5C80-B996-F823-F8B9F9EAD6C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including control sites into the calculation of the post-intervention counterfactual, we must ensure they’re similar to the site under study. We do this in several consecutive steps:</a:t>
            </a:r>
          </a:p>
          <a:p>
            <a:pPr lvl="0" indent="-457200" marL="457200">
              <a:buAutoNum type="arabicPeriod"/>
            </a:pPr>
            <a:r>
              <a:rPr/>
              <a:t>Filter on similar site types e.g. General Acute, Tertiary Centre</a:t>
            </a:r>
          </a:p>
          <a:p>
            <a:pPr lvl="0" indent="-457200" marL="457200">
              <a:buAutoNum type="arabicPeriod"/>
            </a:pPr>
            <a:r>
              <a:rPr/>
              <a:t>Exclude those with dissimilar single bed %’s at the point of intervention</a:t>
            </a:r>
          </a:p>
          <a:p>
            <a:pPr lvl="0" indent="-457200" marL="457200">
              <a:buAutoNum type="arabicPeriod"/>
            </a:pPr>
            <a:r>
              <a:rPr/>
              <a:t>Match on (the closest 20) according to the following variables:</a:t>
            </a:r>
          </a:p>
          <a:p>
            <a:pPr lvl="0"/>
            <a:r>
              <a:rPr/>
              <a:t>Hospital size (m2)</a:t>
            </a:r>
          </a:p>
          <a:p>
            <a:pPr lvl="0"/>
            <a:r>
              <a:rPr/>
              <a:t>Patient case-mix (median age)</a:t>
            </a:r>
          </a:p>
          <a:p>
            <a:pPr lvl="0"/>
            <a:r>
              <a:rPr/>
              <a:t>Elective:Non-elective spell ratio</a:t>
            </a:r>
          </a:p>
        </p:txBody>
      </p:sp>
      <p:pic>
        <p:nvPicPr>
          <p:cNvPr descr="images/control_flowchar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223000" y="1663700"/>
            <a:ext cx="5041900" cy="4114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>
          <a:xfrm>
            <a:off x="909829" y="403765"/>
            <a:ext cx="8434196" cy="9760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Causal Impact Analysis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>
          <a:xfrm>
            <a:off x="909829" y="403765"/>
            <a:ext cx="8434196" cy="9760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Aggregating impacts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ctrTitle"/>
          </p:nvPr>
        </p:nvSpPr>
        <p:spPr>
          <a:xfrm>
            <a:off x="457199" y="4755350"/>
            <a:ext cx="7772400" cy="121836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Main results</a:t>
            </a:r>
          </a:p>
        </p:txBody>
      </p:sp>
    </p:spTree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NHP Colour Theme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FEFFFE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{8C70326D-9F1C-1842-B973-7199098CBC5F}tf10001061</Template>
  <TotalTime>158</TotalTime>
  <Words>451</Words>
  <Application>Microsoft Office PowerPoint</Application>
  <PresentationFormat>Widescreen</PresentationFormat>
  <Paragraphs>51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Aptos ExtraBold</vt:lpstr>
      <vt:lpstr>Arial</vt:lpstr>
      <vt:lpstr>Calibri</vt:lpstr>
      <vt:lpstr>Calibri Light</vt:lpstr>
      <vt:lpstr>Tw Cen MT</vt:lpstr>
      <vt:lpstr>Wingdings 3</vt:lpstr>
      <vt:lpstr>Integral</vt:lpstr>
      <vt:lpstr>All decks should start with this slide</vt:lpstr>
      <vt:lpstr>PowerPoint Presentation</vt:lpstr>
      <vt:lpstr>Content slide with picture</vt:lpstr>
      <vt:lpstr>Content slide with picture</vt:lpstr>
      <vt:lpstr>Alternative divider slide</vt:lpstr>
      <vt:lpstr>PowerPoint Presentation</vt:lpstr>
      <vt:lpstr>PowerPoint Presentation</vt:lpstr>
      <vt:lpstr>PowerPoint Presentation</vt:lpstr>
      <vt:lpstr>Useful slides / graphics</vt:lpstr>
      <vt:lpstr> Health and Social Care Planning: Update </vt:lpstr>
      <vt:lpstr>[Example]</vt:lpstr>
      <vt:lpstr>The New Hospital Programme</vt:lpstr>
      <vt:lpstr>Useful icons / graphics  (copy &amp; paste)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Quantifying the impacts of hospitals increasing single bed room provision</dc:title>
  <dc:creator>Andy Hood | Analytics Manager | Strategy Unit | 14th May 2024</dc:creator>
  <cp:keywords/>
  <dcterms:created xsi:type="dcterms:W3CDTF">2024-05-20T13:23:59Z</dcterms:created>
  <dcterms:modified xsi:type="dcterms:W3CDTF">2024-05-20T13:23:59Z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