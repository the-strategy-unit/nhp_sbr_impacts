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PNG" ContentType="image/png"/>
  <Default Extension="jpg" ContentType="image/jpeg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60" r:id="rId4"/>
  </p:sldMasterIdLst>
  <p:sldIdLst>
    <p:sldId id="256" r:id="rId5"/>
    <p:sldId id="257" r:id="rId6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46A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26341"/>
    <p:restoredTop sz="95809"/>
  </p:normalViewPr>
  <p:slideViewPr>
    <p:cSldViewPr snapToGrid="0">
      <p:cViewPr varScale="1">
        <p:scale>
          <a:sx d="100" n="67"/>
          <a:sy d="100" n="67"/>
        </p:scale>
        <p:origin x="140" y="48"/>
      </p:cViewPr>
      <p:guideLst/>
    </p:cSldViewPr>
  </p:slideViewPr>
  <p:notesTextViewPr>
    <p:cViewPr>
      <p:scale>
        <a:sx d="2" n="3"/>
        <a:sy d="2" n="3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3" Type="http://schemas.openxmlformats.org/officeDocument/2006/relationships/customXml" Target="../customXml/item3.xml" /><Relationship Id="rId9" Type="http://schemas.openxmlformats.org/officeDocument/2006/relationships/theme" Target="theme/theme1.xml" /><Relationship Id="rId2" Type="http://schemas.openxmlformats.org/officeDocument/2006/relationships/customXml" Target="../customXml/item2.xml" /><Relationship Id="rId8" Type="http://schemas.openxmlformats.org/officeDocument/2006/relationships/viewProps" Target="viewProps.xml" /><Relationship Id="rId1" Type="http://schemas.openxmlformats.org/officeDocument/2006/relationships/customXml" Target="../customXml/item1.xml" /><Relationship Id="rId12" Type="http://schemas.microsoft.com/office/2015/10/relationships/revisionInfo" Target="revisionInfo.xml" /><Relationship Id="rId11" Type="http://schemas.microsoft.com/office/2016/11/relationships/changesInfo" Target="changesInfos/changesInfo1.xml" /><Relationship Id="rId7" Type="http://schemas.openxmlformats.org/officeDocument/2006/relationships/presProps" Target="presProps.xml" /><Relationship Id="rId4" Type="http://schemas.openxmlformats.org/officeDocument/2006/relationships/slideMaster" Target="slideMasters/slideMaster1.xml" /><Relationship Id="rId10" Type="http://schemas.openxmlformats.org/officeDocument/2006/relationships/tableStyles" Target="tableStyles.xml" 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8" y="4755350"/>
            <a:ext cx="8406375" cy="1218369"/>
          </a:xfrm>
        </p:spPr>
        <p:txBody>
          <a:bodyPr anchor="ctr">
            <a:normAutofit/>
          </a:bodyPr>
          <a:lstStyle>
            <a:lvl1pPr algn="l">
              <a:defRPr sz="44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8406374" cy="674129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334673" y="4870528"/>
            <a:ext cx="0" cy="914400"/>
          </a:xfrm>
          <a:prstGeom prst="line">
            <a:avLst/>
          </a:prstGeom>
          <a:ln w="60325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 descr="Diagram, engineering drawing&#10;&#10;Description automatically generated">
            <a:extLst>
              <a:ext uri="{FF2B5EF4-FFF2-40B4-BE49-F238E27FC236}">
                <a16:creationId xmlns:a16="http://schemas.microsoft.com/office/drawing/2014/main" id="{AEC535E7-05A1-3106-03CA-FE81CE89F91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541" r="6031"/>
          <a:stretch/>
        </p:blipFill>
        <p:spPr>
          <a:xfrm>
            <a:off x="0" y="18784"/>
            <a:ext cx="12192000" cy="4572000"/>
          </a:xfrm>
          <a:prstGeom prst="rect">
            <a:avLst/>
          </a:prstGeom>
        </p:spPr>
      </p:pic>
      <p:pic>
        <p:nvPicPr>
          <p:cNvPr id="4" name="Picture 3" descr="A blue and white logo&#10;&#10;Description automatically generated">
            <a:extLst>
              <a:ext uri="{FF2B5EF4-FFF2-40B4-BE49-F238E27FC236}">
                <a16:creationId xmlns:a16="http://schemas.microsoft.com/office/drawing/2014/main" id="{E20BC1E3-5F30-6B91-A98C-EEDFAD08A1B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5648" y="5001144"/>
            <a:ext cx="2237233" cy="1348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83864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/>
          <p:cNvSpPr/>
          <p:nvPr userDrawn="1"/>
        </p:nvSpPr>
        <p:spPr>
          <a:xfrm>
            <a:off x="0" y="0"/>
            <a:ext cx="12192000" cy="4572001"/>
          </a:xfrm>
          <a:prstGeom prst="rect">
            <a:avLst/>
          </a:prstGeom>
          <a:solidFill>
            <a:srgbClr val="046A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457199" y="4755350"/>
            <a:ext cx="7772400" cy="1218369"/>
          </a:xfrm>
        </p:spPr>
        <p:txBody>
          <a:bodyPr anchor="ctr">
            <a:normAutofit/>
          </a:bodyPr>
          <a:lstStyle>
            <a:lvl1pPr algn="l">
              <a:defRPr sz="4400" spc="200" baseline="0"/>
            </a:lvl1pPr>
          </a:lstStyle>
          <a:p>
            <a:r>
              <a:rPr lang="en-GB" dirty="0"/>
              <a:t>Click to edit heading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457199" y="6020353"/>
            <a:ext cx="7772399" cy="674129"/>
          </a:xfrm>
        </p:spPr>
        <p:txBody>
          <a:bodyPr lIns="91440" rIns="91440" anchor="ctr">
            <a:norm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800"/>
            </a:lvl4pPr>
            <a:lvl5pPr marL="1828800" indent="0" algn="ctr">
              <a:buNone/>
              <a:defRPr sz="1800"/>
            </a:lvl5pPr>
            <a:lvl6pPr marL="2286000" indent="0" algn="ctr">
              <a:buNone/>
              <a:defRPr sz="1800"/>
            </a:lvl6pPr>
            <a:lvl7pPr marL="2743200" indent="0" algn="ctr">
              <a:buNone/>
              <a:defRPr sz="1800"/>
            </a:lvl7pPr>
            <a:lvl8pPr marL="3200400" indent="0" algn="ctr">
              <a:buNone/>
              <a:defRPr sz="1800"/>
            </a:lvl8pPr>
            <a:lvl9pPr marL="3657600" indent="0" algn="ctr">
              <a:buNone/>
              <a:defRPr sz="1800"/>
            </a:lvl9pPr>
          </a:lstStyle>
          <a:p>
            <a:r>
              <a:rPr lang="en-GB" dirty="0"/>
              <a:t>Click to edit subtitle</a:t>
            </a:r>
            <a:endParaRPr lang="en-US" dirty="0"/>
          </a:p>
        </p:txBody>
      </p:sp>
      <p:cxnSp>
        <p:nvCxnSpPr>
          <p:cNvPr id="8" name="Straight Connector 7"/>
          <p:cNvCxnSpPr/>
          <p:nvPr/>
        </p:nvCxnSpPr>
        <p:spPr>
          <a:xfrm flipV="1">
            <a:off x="228348" y="4870528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 descr="A blue and white logo&#10;&#10;Description automatically generated">
            <a:extLst>
              <a:ext uri="{FF2B5EF4-FFF2-40B4-BE49-F238E27FC236}">
                <a16:creationId xmlns:a16="http://schemas.microsoft.com/office/drawing/2014/main" id="{73FDA91B-6B8D-6C56-06AE-FDAAB237A5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7670" y="4870528"/>
            <a:ext cx="2472059" cy="1490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80028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4127" y="192984"/>
            <a:ext cx="9720072" cy="1499616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24127" y="1998070"/>
            <a:ext cx="4754880" cy="3871102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989319" y="1998070"/>
            <a:ext cx="4754880" cy="3871102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9EB7D868-2676-D940-84A9-1D62048C5842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44401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03747" y="2053950"/>
            <a:ext cx="5678424" cy="37987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09829" y="2053950"/>
            <a:ext cx="4389120" cy="3762294"/>
          </a:xfrm>
        </p:spPr>
        <p:txBody>
          <a:bodyPr lIns="91440" rIns="91440">
            <a:normAutofit/>
          </a:bodyPr>
          <a:lstStyle>
            <a:lvl1pPr marL="0" indent="0">
              <a:lnSpc>
                <a:spcPct val="108000"/>
              </a:lnSpc>
              <a:spcBef>
                <a:spcPts val="600"/>
              </a:spcBef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576BF1A0-1B30-B080-929D-2D4F0124B1B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909829" y="237744"/>
            <a:ext cx="8434196" cy="1499616"/>
          </a:xfrm>
        </p:spPr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BD18B8C-3B03-E70C-8B8E-166B7859E097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346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>
          <a:xfrm>
            <a:off x="909828" y="1911308"/>
            <a:ext cx="11083698" cy="460417"/>
          </a:xfrm>
        </p:spPr>
        <p:txBody>
          <a:bodyPr anchor="ctr"/>
          <a:lstStyle>
            <a:lvl1pPr marL="0" indent="0">
              <a:buNone/>
              <a:defRPr/>
            </a:lvl1pPr>
          </a:lstStyle>
          <a:p>
            <a:pPr lvl="0"/>
            <a:r>
              <a:rPr lang="en-GB" dirty="0"/>
              <a:t>Click to edit text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571093" y="6583680"/>
            <a:ext cx="9023755" cy="274320"/>
          </a:xfrm>
        </p:spPr>
        <p:txBody>
          <a:bodyPr/>
          <a:lstStyle/>
          <a:p>
            <a:r>
              <a:rPr lang="en-US" dirty="0"/>
              <a:t>Add sensitivity if needed</a:t>
            </a:r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3624C560-4E3C-7F23-9A71-5ECD5129CBDE}"/>
              </a:ext>
            </a:extLst>
          </p:cNvPr>
          <p:cNvSpPr>
            <a:spLocks noGrp="1" noChangeAspect="1"/>
          </p:cNvSpPr>
          <p:nvPr>
            <p:ph type="pic" idx="12"/>
          </p:nvPr>
        </p:nvSpPr>
        <p:spPr>
          <a:xfrm>
            <a:off x="884301" y="2411684"/>
            <a:ext cx="5041792" cy="3518177"/>
          </a:xfrm>
          <a:solidFill>
            <a:srgbClr val="046AAA"/>
          </a:solidFill>
        </p:spPr>
        <p:txBody>
          <a:bodyPr lIns="457200" tIns="365760" rIns="45720" bIns="4572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 dirty="0"/>
              <a:t>Click icon to add picture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A0837A-E153-BAFA-B6F8-647E5E476D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/>
              <a:pPr/>
              <a:t>‹#›</a:t>
            </a:fld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22404798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B72376C-BD00-0C21-7B68-8BAE977B95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35C0E-E263-0848-A698-EE526CA39358}" type="datetimeFigureOut">
              <a:rPr lang="en-US" smtClean="0"/>
              <a:t>5/14/2024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1864193-C369-71B1-B4FE-84F03344D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2168E-40A1-A3C5-5A84-C324B159CB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393662-164E-B74F-8D60-B4DF4EEC975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09354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 dirty="0"/>
              <a:t>Click to edit title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09828" y="1911308"/>
            <a:ext cx="10420160" cy="3915333"/>
          </a:xfrm>
        </p:spPr>
        <p:txBody>
          <a:bodyPr/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F6E56E1-9EDB-5EE5-A17D-D1CA9626D67B}"/>
              </a:ext>
            </a:extLst>
          </p:cNvPr>
          <p:cNvSpPr txBox="1">
            <a:spLocks/>
          </p:cNvSpPr>
          <p:nvPr userDrawn="1"/>
        </p:nvSpPr>
        <p:spPr>
          <a:xfrm>
            <a:off x="5926093" y="6358128"/>
            <a:ext cx="338137" cy="27432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457200" rtl="0" eaLnBrk="1" latinLnBrk="0" hangingPunct="1">
              <a:defRPr sz="1000" kern="1200">
                <a:solidFill>
                  <a:schemeClr val="tx1">
                    <a:lumMod val="95000"/>
                    <a:lumOff val="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20FAE58-AEA8-F047-B98D-7B2B3D014012}" type="slidenum">
              <a:rPr lang="en-US" sz="900" smtClean="0">
                <a:latin typeface="Arial" panose="020B0604020202020204" pitchFamily="34" charset="0"/>
                <a:cs typeface="Arial" panose="020B0604020202020204" pitchFamily="34" charset="0"/>
              </a:rPr>
              <a:pPr/>
              <a:t>‹#›</a:t>
            </a:fld>
            <a:endParaRPr lang="en-US" sz="9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E104E18-8379-D7A8-EB57-3A892E5A1EC5}"/>
              </a:ext>
            </a:extLst>
          </p:cNvPr>
          <p:cNvSpPr/>
          <p:nvPr userDrawn="1"/>
        </p:nvSpPr>
        <p:spPr>
          <a:xfrm>
            <a:off x="9818655" y="237744"/>
            <a:ext cx="2043115" cy="14996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blue and white logo&#10;&#10;Description automatically generated">
            <a:extLst>
              <a:ext uri="{FF2B5EF4-FFF2-40B4-BE49-F238E27FC236}">
                <a16:creationId xmlns:a16="http://schemas.microsoft.com/office/drawing/2014/main" id="{F56D429E-DF34-7BA9-913A-6A66F93118D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15575" y="403765"/>
            <a:ext cx="1478709" cy="8916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3260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5" Target="../slideLayouts/slideLayout5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media/image2.PNG" Type="http://schemas.openxmlformats.org/officeDocument/2006/relationships/imag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ue line with a white background" id="8" name="Picture 7">
            <a:extLst>
              <a:ext uri="{FF2B5EF4-FFF2-40B4-BE49-F238E27FC236}">
                <a16:creationId xmlns:a16="http://schemas.microsoft.com/office/drawing/2014/main" id="{F5E63812-AC84-AA97-7086-F862611574A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/>
          <a:srcRect r="942"/>
          <a:stretch/>
        </p:blipFill>
        <p:spPr>
          <a:xfrm>
            <a:off x="11875" y="11875"/>
            <a:ext cx="12259269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09829" y="237744"/>
            <a:ext cx="8434196" cy="1499616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GB"/>
              <a:t>Click to edit title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909828" y="1975104"/>
            <a:ext cx="10420160" cy="3754184"/>
          </a:xfrm>
          <a:prstGeom prst="rect">
            <a:avLst/>
          </a:prstGeom>
        </p:spPr>
        <p:txBody>
          <a:bodyPr bIns="45720" lIns="45720" rIns="45720" rtlCol="0" tIns="45720" vert="horz">
            <a:normAutofit/>
          </a:bodyPr>
          <a:lstStyle/>
          <a:p>
            <a:pPr lvl="0"/>
            <a:r>
              <a:rPr dirty="0" lang="en-GB"/>
              <a:t>Click to edit Master text styles</a:t>
            </a:r>
          </a:p>
          <a:p>
            <a:pPr lvl="1"/>
            <a:r>
              <a:rPr dirty="0" lang="en-GB"/>
              <a:t>Second level</a:t>
            </a:r>
          </a:p>
          <a:p>
            <a:pPr lvl="2"/>
            <a:r>
              <a:rPr dirty="0" lang="en-GB"/>
              <a:t>Third level</a:t>
            </a:r>
          </a:p>
          <a:p>
            <a:pPr lvl="3"/>
            <a:r>
              <a:rPr dirty="0" lang="en-GB"/>
              <a:t>Fourth level</a:t>
            </a:r>
          </a:p>
          <a:p>
            <a:pPr lvl="4"/>
            <a:r>
              <a:rPr dirty="0" lang="en-GB"/>
              <a:t>Fifth level</a:t>
            </a:r>
            <a:endParaRPr dirty="0"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1571093" y="6583680"/>
            <a:ext cx="8430155" cy="27432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aseline="0" cap="none" sz="1000">
                <a:solidFill>
                  <a:schemeClr val="tx1"/>
                </a:solidFill>
                <a:latin charset="0" panose="020F0502020204030204" pitchFamily="34" typeface="Calibri"/>
                <a:cs charset="0" panose="020F0502020204030204" pitchFamily="34" typeface="Calibri"/>
              </a:defRPr>
            </a:lvl1pPr>
          </a:lstStyle>
          <a:p>
            <a:r>
              <a:rPr dirty="0" lang="en-US"/>
              <a:t>Add sensitivity level here if required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5740641" y="6309360"/>
            <a:ext cx="338137" cy="274320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lumMod val="95000"/>
                    <a:lumOff val="5000"/>
                  </a:schemeClr>
                </a:solidFill>
                <a:latin charset="0" panose="020B0604020202020204" pitchFamily="34" typeface="Arial"/>
                <a:cs charset="0" panose="020B0604020202020204" pitchFamily="34" typeface="Arial"/>
              </a:defRPr>
            </a:lvl1pPr>
          </a:lstStyle>
          <a:p>
            <a:fld id="{520FAE58-AEA8-F047-B98D-7B2B3D014012}" type="slidenum">
              <a:rPr lang="en-US" smtClean="0"/>
              <a:pPr/>
              <a:t>‹#›</a:t>
            </a:fld>
            <a:endParaRPr dirty="0" lang="en-US"/>
          </a:p>
        </p:txBody>
      </p:sp>
      <p:cxnSp>
        <p:nvCxnSpPr>
          <p:cNvPr id="7" name="Straight Connector 6"/>
          <p:cNvCxnSpPr/>
          <p:nvPr/>
        </p:nvCxnSpPr>
        <p:spPr>
          <a:xfrm flipV="1">
            <a:off x="539373" y="429900"/>
            <a:ext cx="0" cy="914400"/>
          </a:xfrm>
          <a:prstGeom prst="line">
            <a:avLst/>
          </a:prstGeom>
          <a:ln w="44450">
            <a:solidFill>
              <a:srgbClr val="046AA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0655971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61" r:id="rId1"/>
    <p:sldLayoutId id="2147483672" r:id="rId2"/>
    <p:sldLayoutId id="2147483664" r:id="rId3"/>
    <p:sldLayoutId id="2147483668" r:id="rId4"/>
    <p:sldLayoutId id="2147483673" r:id="rId5"/>
    <p:sldLayoutId id="2147483736" r:id="rId6"/>
    <p:sldLayoutId id="2147483662" r:id="rId7"/>
  </p:sldLayoutIdLst>
  <p:txStyles>
    <p:titleStyle>
      <a:lvl1pPr algn="l" defTabSz="914400" eaLnBrk="1" hangingPunct="1" latinLnBrk="0" rtl="0">
        <a:lnSpc>
          <a:spcPct val="80000"/>
        </a:lnSpc>
        <a:spcBef>
          <a:spcPct val="0"/>
        </a:spcBef>
        <a:buNone/>
        <a:defRPr b="1" baseline="0" cap="none" kern="1200" spc="100" sz="4400">
          <a:solidFill>
            <a:schemeClr val="tx1">
              <a:lumMod val="95000"/>
              <a:lumOff val="5000"/>
            </a:schemeClr>
          </a:solidFill>
          <a:latin charset="0" panose="020F0502020204030204" pitchFamily="34" typeface="Aptos ExtraBold"/>
          <a:ea typeface="+mj-ea"/>
          <a:cs charset="0" panose="020B0604020202020204" pitchFamily="34" typeface="Arial"/>
        </a:defRPr>
      </a:lvl1pPr>
    </p:titleStyle>
    <p:bodyStyle>
      <a:lvl1pPr algn="l" defTabSz="914400" eaLnBrk="1" hangingPunct="1" indent="-91440" latinLnBrk="0" marL="91440" rtl="0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charset="0" panose="020B0602020104020603" pitchFamily="34" typeface="Tw Cen MT"/>
        <a:buChar char=" "/>
        <a:defRPr kern="1200" sz="2200">
          <a:solidFill>
            <a:schemeClr val="tx1"/>
          </a:solidFill>
          <a:latin charset="0" panose="020B0004020202020204" pitchFamily="34" typeface="Aptos"/>
          <a:ea typeface="+mn-ea"/>
          <a:cs charset="0" panose="020B0604020202020204" pitchFamily="34" typeface="Arial"/>
        </a:defRPr>
      </a:lvl1pPr>
      <a:lvl2pPr algn="l" defTabSz="914400" eaLnBrk="1" hangingPunct="1" indent="-137160" latinLnBrk="0" marL="265176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800">
          <a:solidFill>
            <a:schemeClr val="tx1"/>
          </a:solidFill>
          <a:latin charset="0" panose="020B0004020202020204" pitchFamily="34" typeface="Aptos"/>
          <a:ea typeface="+mn-ea"/>
          <a:cs charset="0" panose="020B0604020202020204" pitchFamily="34" typeface="Arial"/>
        </a:defRPr>
      </a:lvl2pPr>
      <a:lvl3pPr algn="l" defTabSz="914400" eaLnBrk="1" hangingPunct="1" indent="-137160" latinLnBrk="0" marL="448056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charset="0" panose="020B0004020202020204" pitchFamily="34" typeface="Aptos"/>
          <a:ea typeface="+mn-ea"/>
          <a:cs charset="0" panose="020B0604020202020204" pitchFamily="34" typeface="Arial"/>
        </a:defRPr>
      </a:lvl3pPr>
      <a:lvl4pPr algn="l" defTabSz="914400" eaLnBrk="1" hangingPunct="1" indent="-137160" latinLnBrk="0" marL="59436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charset="0" panose="020B0004020202020204" pitchFamily="34" typeface="Aptos"/>
          <a:ea typeface="+mn-ea"/>
          <a:cs charset="0" panose="020B0604020202020204" pitchFamily="34" typeface="Arial"/>
        </a:defRPr>
      </a:lvl4pPr>
      <a:lvl5pPr algn="l" defTabSz="914400" eaLnBrk="1" hangingPunct="1" indent="-137160" latinLnBrk="0" marL="77724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charset="0" panose="020B0004020202020204" pitchFamily="34" typeface="Aptos"/>
          <a:ea typeface="+mn-ea"/>
          <a:cs charset="0" panose="020B0604020202020204" pitchFamily="34" typeface="Arial"/>
        </a:defRPr>
      </a:lvl5pPr>
      <a:lvl6pPr algn="l" defTabSz="914400" eaLnBrk="1" hangingPunct="1" indent="-137160" latinLnBrk="0" marL="914400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137160" latinLnBrk="0" marL="1060704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137160" latinLnBrk="0" marL="1216152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137160" latinLnBrk="0" marL="1362456" rtl="0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charset="2" pitchFamily="18" typeface="Wingdings 3"/>
        <a:buChar char=""/>
        <a:defRPr kern="1200" sz="14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7.xml" /><Relationship Id="rId2" Type="http://schemas.openxmlformats.org/officeDocument/2006/relationships/hyperlink" Target="https://quarto.org/docs/presentations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ctrTitle"/>
          </p:nvPr>
        </p:nvSpPr>
        <p:spPr>
          <a:xfrm>
            <a:off x="457198" y="4755350"/>
            <a:ext cx="8406375" cy="1218369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Quantifying the impacts of single bed room changes</a:t>
            </a:r>
          </a:p>
        </p:txBody>
      </p:sp>
      <p:sp>
        <p:nvSpPr>
          <p:cNvPr id="3" name="Subtitle 2"/>
          <p:cNvSpPr>
            <a:spLocks noGrp="1"/>
          </p:cNvSpPr>
          <p:nvPr>
            <p:ph hasCustomPrompt="1" idx="1" type="subTitle"/>
          </p:nvPr>
        </p:nvSpPr>
        <p:spPr>
          <a:xfrm>
            <a:off x="457199" y="6020353"/>
            <a:ext cx="8406374" cy="674129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Andy Hood | Analytics Manager | Strategy Unit | 14th May 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Quarto enables you to weave together content and executable code into a finished presentation. To learn more about Quarto presentations see </a:t>
            </a:r>
            <a:r>
              <a:rPr>
                <a:hlinkClick r:id="rId2"/>
              </a:rPr>
              <a:t>https://quarto.org/docs/presentations/</a:t>
            </a:r>
            <a:r>
              <a:rPr/>
              <a:t>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Bullets</a:t>
            </a:r>
          </a:p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document will be generated that includes:</a:t>
            </a:r>
          </a:p>
          <a:p>
            <a:pPr lvl="0"/>
            <a:r>
              <a:rPr/>
              <a:t>Content authored with markdown</a:t>
            </a:r>
          </a:p>
          <a:p>
            <a:pPr lvl="0"/>
            <a:r>
              <a:rPr/>
              <a:t>Output from executable code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Code</a:t>
            </a:r>
          </a:p>
          <a:p>
            <a:pPr lvl="0" indent="0" marL="0">
              <a:buNone/>
            </a:pPr>
            <a:r>
              <a:rPr/>
              <a:t>When you click the </a:t>
            </a:r>
            <a:r>
              <a:rPr b="1"/>
              <a:t>Render</a:t>
            </a:r>
            <a:r>
              <a:rPr/>
              <a:t> button a presentation will be generated that includes both content and the output of embedded code. You can embed code like this: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ntegral">
  <a:themeElements>
    <a:clrScheme name="NHP Colour Theme">
      <a:dk1>
        <a:srgbClr val="000000"/>
      </a:dk1>
      <a:lt1>
        <a:srgbClr val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B9F25"/>
      </a:hlink>
      <a:folHlink>
        <a:srgbClr val="FEFFFE"/>
      </a:folHlink>
    </a:clrScheme>
    <a:fontScheme name="Integral">
      <a:majorFont>
        <a:latin typeface="Tw Cen MT Condensed" panose="020B06060201040202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Grek" typeface="Calibri"/>
        <a:font script="Cyrl" typeface="Calibri"/>
        <a:font script="Jpan" typeface="メイリオ"/>
        <a:font script="Hang" typeface="HY얕은샘물M"/>
        <a:font script="Hans" typeface="华文仿宋"/>
        <a:font script="Hant" typeface="微軟正黑體"/>
        <a:font script="Arab" typeface="Arial"/>
        <a:font script="Hebr" typeface="Levenim MT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Integral">
      <a:fillStyleLst>
        <a:solidFill>
          <a:schemeClr val="phClr"/>
        </a:solidFill>
        <a:gradFill rotWithShape="1">
          <a:gsLst>
            <a:gs pos="0">
              <a:schemeClr val="phClr">
                <a:tint val="83000"/>
                <a:satMod val="100000"/>
                <a:lumMod val="100000"/>
              </a:schemeClr>
            </a:gs>
            <a:gs pos="100000">
              <a:schemeClr val="phClr">
                <a:tint val="61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tint val="100000"/>
                <a:shade val="85000"/>
                <a:satMod val="100000"/>
                <a:lumMod val="100000"/>
              </a:schemeClr>
            </a:gs>
            <a:gs pos="100000">
              <a:schemeClr val="phClr">
                <a:tint val="90000"/>
                <a:shade val="100000"/>
                <a:satMod val="150000"/>
                <a:lumMod val="10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12700" dir="5400000" algn="ctr" rotWithShape="0">
              <a:srgbClr val="000000">
                <a:alpha val="50000"/>
              </a:srgbClr>
            </a:outerShdw>
          </a:effectLst>
        </a:effectStyle>
        <a:effectStyle>
          <a:effectLst>
            <a:outerShdw blurRad="76200" dist="25400" dir="5400000" algn="ct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flat" dir="t">
              <a:rot lat="0" lon="0" rev="3600000"/>
            </a:lightRig>
          </a:scene3d>
          <a:sp3d contourW="12700" prstMaterial="flat">
            <a:bevelT w="38100" h="44450" prst="angle"/>
            <a:contourClr>
              <a:schemeClr val="phClr">
                <a:shade val="35000"/>
                <a:satMod val="160000"/>
              </a:schemeClr>
            </a:contourClr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hade val="85000"/>
            <a:satMod val="125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95000"/>
                <a:shade val="74000"/>
                <a:satMod val="230000"/>
              </a:schemeClr>
              <a:schemeClr val="phClr">
                <a:tint val="92000"/>
                <a:shade val="69000"/>
                <a:satMod val="250000"/>
              </a:schemeClr>
            </a:duotone>
          </a:blip>
          <a:tile tx="0" ty="0" sx="40000" sy="4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ntegral" id="{3577F8C9-A904-41D8-97D2-FD898F53F20E}" vid="{682D6EBE-8D36-4FF2-9DB3-F3D8D7B6715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{8C70326D-9F1C-1842-B973-7199098CBC5F}tf10001061</Template>
  <TotalTime>147</TotalTime>
  <Words>451</Words>
  <Application>Microsoft Office PowerPoint</Application>
  <PresentationFormat>Widescreen</PresentationFormat>
  <Paragraphs>51</Paragraphs>
  <Slides>13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Aptos</vt:lpstr>
      <vt:lpstr>Aptos ExtraBold</vt:lpstr>
      <vt:lpstr>Arial</vt:lpstr>
      <vt:lpstr>Calibri</vt:lpstr>
      <vt:lpstr>Calibri Light</vt:lpstr>
      <vt:lpstr>Tw Cen MT</vt:lpstr>
      <vt:lpstr>Wingdings 3</vt:lpstr>
      <vt:lpstr>Integral</vt:lpstr>
      <vt:lpstr>All decks should start with this slide</vt:lpstr>
      <vt:lpstr>PowerPoint Presentation</vt:lpstr>
      <vt:lpstr>Content slide with picture</vt:lpstr>
      <vt:lpstr>Content slide with picture</vt:lpstr>
      <vt:lpstr>Alternative divider slide</vt:lpstr>
      <vt:lpstr>PowerPoint Presentation</vt:lpstr>
      <vt:lpstr>PowerPoint Presentation</vt:lpstr>
      <vt:lpstr>PowerPoint Presentation</vt:lpstr>
      <vt:lpstr>Useful slides / graphics</vt:lpstr>
      <vt:lpstr> Health and Social Care Planning: Update </vt:lpstr>
      <vt:lpstr>[Example]</vt:lpstr>
      <vt:lpstr>The New Hospital Programme</vt:lpstr>
      <vt:lpstr>Useful icons / graphics  (copy &amp; paste)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Quantifying the impacts of single bed room changes</dc:title>
  <dc:creator>Andy Hood | Analytics Manager | Strategy Unit | 14th May 2024</dc:creator>
  <cp:keywords/>
  <dcterms:created xsi:type="dcterms:W3CDTF">2024-05-14T16:12:44Z</dcterms:created>
  <dcterms:modified xsi:type="dcterms:W3CDTF">2024-05-14T16:12:44Z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