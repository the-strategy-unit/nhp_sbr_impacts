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60"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6A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6341"/>
    <p:restoredTop sz="95809"/>
  </p:normalViewPr>
  <p:slideViewPr>
    <p:cSldViewPr snapToGrid="0">
      <p:cViewPr varScale="1">
        <p:scale>
          <a:sx d="100" n="67"/>
          <a:sy d="100" n="67"/>
        </p:scale>
        <p:origin x="140" y="48"/>
      </p:cViewPr>
      <p:guideLst/>
    </p:cSldViewPr>
  </p:slideViewPr>
  <p:notesTextViewPr>
    <p:cViewPr>
      <p:scale>
        <a:sx d="2" n="3"/>
        <a:sy d="2" n="3"/>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3" Type="http://schemas.openxmlformats.org/officeDocument/2006/relationships/customXml" Target="../customXml/item3.xml" /><Relationship Id="rId21" Type="http://schemas.openxmlformats.org/officeDocument/2006/relationships/theme" Target="theme/theme1.xml" /><Relationship Id="rId2" Type="http://schemas.openxmlformats.org/officeDocument/2006/relationships/customXml" Target="../customXml/item2.xml" /><Relationship Id="rId20" Type="http://schemas.openxmlformats.org/officeDocument/2006/relationships/viewProps" Target="viewProps.xml" /><Relationship Id="rId1" Type="http://schemas.openxmlformats.org/officeDocument/2006/relationships/customXml" Target="../customXml/item1.xml" /><Relationship Id="rId24" Type="http://schemas.microsoft.com/office/2015/10/relationships/revisionInfo" Target="revisionInfo.xml" /><Relationship Id="rId23" Type="http://schemas.microsoft.com/office/2016/11/relationships/changesInfo" Target="changesInfos/changesInfo1.xml" /><Relationship Id="rId19" Type="http://schemas.openxmlformats.org/officeDocument/2006/relationships/presProps" Target="presProps.xml" /><Relationship Id="rId4" Type="http://schemas.openxmlformats.org/officeDocument/2006/relationships/slideMaster" Target="slideMasters/slideMaster1.xml" /><Relationship Id="rId22"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userDrawn="1"/>
        </p:nvSpPr>
        <p:spPr>
          <a:xfrm>
            <a:off x="0" y="0"/>
            <a:ext cx="12192000" cy="4572001"/>
          </a:xfrm>
          <a:prstGeom prst="rect">
            <a:avLst/>
          </a:prstGeom>
          <a:solidFill>
            <a:srgbClr val="046AAA"/>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hasCustomPrompt="1"/>
          </p:nvPr>
        </p:nvSpPr>
        <p:spPr>
          <a:xfrm>
            <a:off x="457198" y="4755350"/>
            <a:ext cx="8406375" cy="1218369"/>
          </a:xfrm>
        </p:spPr>
        <p:txBody>
          <a:bodyPr anchor="ctr">
            <a:normAutofit/>
          </a:bodyPr>
          <a:lstStyle>
            <a:lvl1pPr algn="l">
              <a:defRPr sz="3600" spc="200" baseline="0"/>
            </a:lvl1pPr>
          </a:lstStyle>
          <a:p>
            <a:r>
              <a:rPr lang="en-GB" dirty="0"/>
              <a:t>Click to edit heading</a:t>
            </a:r>
            <a:endParaRPr lang="en-US" dirty="0"/>
          </a:p>
        </p:txBody>
      </p:sp>
      <p:sp>
        <p:nvSpPr>
          <p:cNvPr id="3" name="Subtitle 2"/>
          <p:cNvSpPr>
            <a:spLocks noGrp="1"/>
          </p:cNvSpPr>
          <p:nvPr>
            <p:ph type="subTitle" idx="1" hasCustomPrompt="1"/>
          </p:nvPr>
        </p:nvSpPr>
        <p:spPr>
          <a:xfrm>
            <a:off x="457199" y="6020353"/>
            <a:ext cx="8406374" cy="674129"/>
          </a:xfrm>
          <a:prstGeom prst="rect">
            <a:avLst/>
          </a:prstGeom>
        </p:spPr>
        <p:txBody>
          <a:bodyPr lIns="91440" rIns="91440" anchor="ctr">
            <a:normAutofit/>
          </a:bodyPr>
          <a:lstStyle>
            <a:lvl1pPr marL="0" indent="0" algn="l">
              <a:lnSpc>
                <a:spcPct val="100000"/>
              </a:lnSpc>
              <a:spcBef>
                <a:spcPts val="0"/>
              </a:spcBef>
              <a:buNone/>
              <a:defRPr sz="24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GB" dirty="0"/>
              <a:t>Click to edit subtitle</a:t>
            </a:r>
            <a:endParaRPr lang="en-US" dirty="0"/>
          </a:p>
        </p:txBody>
      </p:sp>
      <p:cxnSp>
        <p:nvCxnSpPr>
          <p:cNvPr id="8" name="Straight Connector 7"/>
          <p:cNvCxnSpPr/>
          <p:nvPr/>
        </p:nvCxnSpPr>
        <p:spPr>
          <a:xfrm flipV="1">
            <a:off x="334673" y="4870528"/>
            <a:ext cx="0" cy="914400"/>
          </a:xfrm>
          <a:prstGeom prst="line">
            <a:avLst/>
          </a:prstGeom>
          <a:ln w="60325">
            <a:solidFill>
              <a:srgbClr val="046AAA"/>
            </a:solidFill>
          </a:ln>
        </p:spPr>
        <p:style>
          <a:lnRef idx="1">
            <a:schemeClr val="accent1"/>
          </a:lnRef>
          <a:fillRef idx="0">
            <a:schemeClr val="accent1"/>
          </a:fillRef>
          <a:effectRef idx="0">
            <a:schemeClr val="accent1"/>
          </a:effectRef>
          <a:fontRef idx="minor">
            <a:schemeClr val="tx1"/>
          </a:fontRef>
        </p:style>
      </p:cxnSp>
      <p:pic>
        <p:nvPicPr>
          <p:cNvPr id="9" name="Picture 8" descr="Diagram, engineering drawing&#10;&#10;Description automatically generated">
            <a:extLst>
              <a:ext uri="{FF2B5EF4-FFF2-40B4-BE49-F238E27FC236}">
                <a16:creationId xmlns:a16="http://schemas.microsoft.com/office/drawing/2014/main" id="{AEC535E7-05A1-3106-03CA-FE81CE89F91B}"/>
              </a:ext>
            </a:extLst>
          </p:cNvPr>
          <p:cNvPicPr>
            <a:picLocks noChangeAspect="1"/>
          </p:cNvPicPr>
          <p:nvPr userDrawn="1"/>
        </p:nvPicPr>
        <p:blipFill rotWithShape="1">
          <a:blip r:embed="rId2">
            <a:alphaModFix amt="50000"/>
            <a:extLst>
              <a:ext uri="{28A0092B-C50C-407E-A947-70E740481C1C}">
                <a14:useLocalDpi xmlns:a14="http://schemas.microsoft.com/office/drawing/2010/main" val="0"/>
              </a:ext>
            </a:extLst>
          </a:blip>
          <a:srcRect l="14541" r="6031"/>
          <a:stretch/>
        </p:blipFill>
        <p:spPr>
          <a:xfrm>
            <a:off x="0" y="18784"/>
            <a:ext cx="12192000" cy="4572000"/>
          </a:xfrm>
          <a:prstGeom prst="rect">
            <a:avLst/>
          </a:prstGeom>
        </p:spPr>
      </p:pic>
      <p:pic>
        <p:nvPicPr>
          <p:cNvPr id="4" name="Picture 3" descr="A blue and white logo&#10;&#10;Description automatically generated">
            <a:extLst>
              <a:ext uri="{FF2B5EF4-FFF2-40B4-BE49-F238E27FC236}">
                <a16:creationId xmlns:a16="http://schemas.microsoft.com/office/drawing/2014/main" id="{E20BC1E3-5F30-6B91-A98C-EEDFAD08A1B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375648" y="5001144"/>
            <a:ext cx="2237233" cy="1348984"/>
          </a:xfrm>
          <a:prstGeom prst="rect">
            <a:avLst/>
          </a:prstGeom>
        </p:spPr>
      </p:pic>
    </p:spTree>
    <p:extLst>
      <p:ext uri="{BB962C8B-B14F-4D97-AF65-F5344CB8AC3E}">
        <p14:creationId xmlns:p14="http://schemas.microsoft.com/office/powerpoint/2010/main" val="2708386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10" name="Rectangle 9"/>
          <p:cNvSpPr/>
          <p:nvPr userDrawn="1"/>
        </p:nvSpPr>
        <p:spPr>
          <a:xfrm>
            <a:off x="0" y="0"/>
            <a:ext cx="12192000" cy="4572001"/>
          </a:xfrm>
          <a:prstGeom prst="rect">
            <a:avLst/>
          </a:prstGeom>
          <a:solidFill>
            <a:srgbClr val="046AAA"/>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hasCustomPrompt="1"/>
          </p:nvPr>
        </p:nvSpPr>
        <p:spPr>
          <a:xfrm>
            <a:off x="457199" y="4755350"/>
            <a:ext cx="7772400" cy="1218369"/>
          </a:xfrm>
        </p:spPr>
        <p:txBody>
          <a:bodyPr anchor="ctr">
            <a:normAutofit/>
          </a:bodyPr>
          <a:lstStyle>
            <a:lvl1pPr algn="l">
              <a:defRPr sz="3600" spc="200" baseline="0"/>
            </a:lvl1pPr>
          </a:lstStyle>
          <a:p>
            <a:r>
              <a:rPr lang="en-GB" dirty="0"/>
              <a:t>Click to edit heading</a:t>
            </a:r>
            <a:endParaRPr lang="en-US" dirty="0"/>
          </a:p>
        </p:txBody>
      </p:sp>
      <p:sp>
        <p:nvSpPr>
          <p:cNvPr id="3" name="Subtitle 2"/>
          <p:cNvSpPr>
            <a:spLocks noGrp="1"/>
          </p:cNvSpPr>
          <p:nvPr>
            <p:ph type="subTitle" idx="1" hasCustomPrompt="1"/>
          </p:nvPr>
        </p:nvSpPr>
        <p:spPr>
          <a:xfrm>
            <a:off x="457199" y="6020353"/>
            <a:ext cx="7772399" cy="674129"/>
          </a:xfrm>
          <a:prstGeom prst="rect">
            <a:avLst/>
          </a:prstGeom>
        </p:spPr>
        <p:txBody>
          <a:bodyPr lIns="91440" rIns="91440" anchor="ctr">
            <a:normAutofit/>
          </a:bodyPr>
          <a:lstStyle>
            <a:lvl1pPr marL="0" indent="0" algn="l">
              <a:lnSpc>
                <a:spcPct val="100000"/>
              </a:lnSpc>
              <a:spcBef>
                <a:spcPts val="0"/>
              </a:spcBef>
              <a:buNone/>
              <a:defRPr sz="24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GB" dirty="0"/>
              <a:t>Click to edit subtitle</a:t>
            </a:r>
            <a:endParaRPr lang="en-US" dirty="0"/>
          </a:p>
        </p:txBody>
      </p:sp>
      <p:cxnSp>
        <p:nvCxnSpPr>
          <p:cNvPr id="8" name="Straight Connector 7"/>
          <p:cNvCxnSpPr/>
          <p:nvPr/>
        </p:nvCxnSpPr>
        <p:spPr>
          <a:xfrm flipV="1">
            <a:off x="228348" y="4870528"/>
            <a:ext cx="0" cy="914400"/>
          </a:xfrm>
          <a:prstGeom prst="line">
            <a:avLst/>
          </a:prstGeom>
          <a:ln w="44450">
            <a:solidFill>
              <a:srgbClr val="046AAA"/>
            </a:solidFill>
          </a:ln>
        </p:spPr>
        <p:style>
          <a:lnRef idx="1">
            <a:schemeClr val="accent1"/>
          </a:lnRef>
          <a:fillRef idx="0">
            <a:schemeClr val="accent1"/>
          </a:fillRef>
          <a:effectRef idx="0">
            <a:schemeClr val="accent1"/>
          </a:effectRef>
          <a:fontRef idx="minor">
            <a:schemeClr val="tx1"/>
          </a:fontRef>
        </p:style>
      </p:cxnSp>
      <p:pic>
        <p:nvPicPr>
          <p:cNvPr id="12" name="Picture 11" descr="A blue and white logo&#10;&#10;Description automatically generated">
            <a:extLst>
              <a:ext uri="{FF2B5EF4-FFF2-40B4-BE49-F238E27FC236}">
                <a16:creationId xmlns:a16="http://schemas.microsoft.com/office/drawing/2014/main" id="{73FDA91B-6B8D-6C56-06AE-FDAAB237A5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7670" y="4870528"/>
            <a:ext cx="2472059" cy="1490577"/>
          </a:xfrm>
          <a:prstGeom prst="rect">
            <a:avLst/>
          </a:prstGeom>
        </p:spPr>
      </p:pic>
    </p:spTree>
    <p:extLst>
      <p:ext uri="{BB962C8B-B14F-4D97-AF65-F5344CB8AC3E}">
        <p14:creationId xmlns:p14="http://schemas.microsoft.com/office/powerpoint/2010/main" val="28680028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normAutofit/>
          </a:bodyPr>
          <a:lstStyle>
            <a:lvl1pPr>
              <a:defRPr sz="3600"/>
            </a:lvl1pPr>
          </a:lstStyle>
          <a:p>
            <a:r>
              <a:rPr lang="en-GB" dirty="0"/>
              <a:t>Click to edit Master title style</a:t>
            </a:r>
            <a:endParaRPr lang="en-US" dirty="0"/>
          </a:p>
        </p:txBody>
      </p:sp>
      <p:sp>
        <p:nvSpPr>
          <p:cNvPr id="5" name="Slide Number Placeholder 5">
            <a:extLst>
              <a:ext uri="{FF2B5EF4-FFF2-40B4-BE49-F238E27FC236}">
                <a16:creationId xmlns:a16="http://schemas.microsoft.com/office/drawing/2014/main" id="{9EB7D868-2676-D940-84A9-1D62048C5842}"/>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a:xfrm>
            <a:off x="909829" y="1619249"/>
            <a:ext cx="5046518"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a:xfrm>
            <a:off x="6235653" y="1619248"/>
            <a:ext cx="5046518"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85444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Content Placeholder 2"/>
          <p:cNvSpPr>
            <a:spLocks noGrp="1"/>
          </p:cNvSpPr>
          <p:nvPr>
            <p:ph idx="1"/>
          </p:nvPr>
        </p:nvSpPr>
        <p:spPr>
          <a:xfrm>
            <a:off x="5603747" y="1619250"/>
            <a:ext cx="5678424"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Title 9">
            <a:extLst>
              <a:ext uri="{FF2B5EF4-FFF2-40B4-BE49-F238E27FC236}">
                <a16:creationId xmlns:a16="http://schemas.microsoft.com/office/drawing/2014/main" id="{576BF1A0-1B30-B080-929D-2D4F0124B1B7}"/>
              </a:ext>
            </a:extLst>
          </p:cNvPr>
          <p:cNvSpPr>
            <a:spLocks noGrp="1"/>
          </p:cNvSpPr>
          <p:nvPr>
            <p:ph type="title" hasCustomPrompt="1"/>
          </p:nvPr>
        </p:nvSpPr>
        <p:spPr>
          <a:xfrm>
            <a:off x="909829" y="428624"/>
            <a:ext cx="8434196" cy="914401"/>
          </a:xfrm>
        </p:spPr>
        <p:txBody>
          <a:bodyPr>
            <a:normAutofit/>
          </a:bodyPr>
          <a:lstStyle>
            <a:lvl1pPr>
              <a:defRPr sz="3600"/>
            </a:lvl1pPr>
          </a:lstStyle>
          <a:p>
            <a:r>
              <a:rPr lang="en-GB" dirty="0"/>
              <a:t>Click to edit title</a:t>
            </a:r>
            <a:endParaRPr lang="en-US" dirty="0"/>
          </a:p>
        </p:txBody>
      </p:sp>
      <p:sp>
        <p:nvSpPr>
          <p:cNvPr id="5" name="Slide Number Placeholder 5">
            <a:extLst>
              <a:ext uri="{FF2B5EF4-FFF2-40B4-BE49-F238E27FC236}">
                <a16:creationId xmlns:a16="http://schemas.microsoft.com/office/drawing/2014/main" id="{0BD18B8C-3B03-E70C-8B8E-166B7859E097}"/>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DF61A5FC-3684-1BAC-1114-63C491ABAD76}"/>
              </a:ext>
            </a:extLst>
          </p:cNvPr>
          <p:cNvSpPr>
            <a:spLocks noGrp="1"/>
          </p:cNvSpPr>
          <p:nvPr>
            <p:ph idx="10"/>
          </p:nvPr>
        </p:nvSpPr>
        <p:spPr>
          <a:xfrm>
            <a:off x="909829" y="1619249"/>
            <a:ext cx="4405121"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161346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09829" y="438150"/>
            <a:ext cx="8434196" cy="914400"/>
          </a:xfrm>
        </p:spPr>
        <p:txBody>
          <a:bodyPr>
            <a:normAutofit/>
          </a:bodyPr>
          <a:lstStyle>
            <a:lvl1pPr>
              <a:defRPr sz="3600"/>
            </a:lvl1pPr>
          </a:lstStyle>
          <a:p>
            <a:r>
              <a:rPr lang="en-GB" dirty="0"/>
              <a:t>Click to edit title</a:t>
            </a:r>
            <a:endParaRPr lang="en-US" dirty="0"/>
          </a:p>
        </p:txBody>
      </p:sp>
      <p:sp>
        <p:nvSpPr>
          <p:cNvPr id="3" name="Content Placeholder 2"/>
          <p:cNvSpPr>
            <a:spLocks noGrp="1"/>
          </p:cNvSpPr>
          <p:nvPr>
            <p:ph idx="1" hasCustomPrompt="1"/>
          </p:nvPr>
        </p:nvSpPr>
        <p:spPr>
          <a:xfrm>
            <a:off x="909829" y="1550608"/>
            <a:ext cx="10243946" cy="460417"/>
          </a:xfrm>
          <a:prstGeom prst="rect">
            <a:avLst/>
          </a:prstGeom>
        </p:spPr>
        <p:txBody>
          <a:bodyPr anchor="ctr"/>
          <a:lstStyle>
            <a:lvl1pPr marL="0" indent="0">
              <a:buNone/>
              <a:defRPr/>
            </a:lvl1pPr>
          </a:lstStyle>
          <a:p>
            <a:pPr lvl="0"/>
            <a:r>
              <a:rPr lang="en-GB" dirty="0"/>
              <a:t>Click to edit text</a:t>
            </a:r>
            <a:endParaRPr lang="en-US" dirty="0"/>
          </a:p>
        </p:txBody>
      </p:sp>
      <p:sp>
        <p:nvSpPr>
          <p:cNvPr id="5" name="Footer Placeholder 4"/>
          <p:cNvSpPr>
            <a:spLocks noGrp="1"/>
          </p:cNvSpPr>
          <p:nvPr>
            <p:ph type="ftr" sz="quarter" idx="11"/>
          </p:nvPr>
        </p:nvSpPr>
        <p:spPr>
          <a:xfrm>
            <a:off x="1571093" y="6583680"/>
            <a:ext cx="9023755" cy="274320"/>
          </a:xfrm>
        </p:spPr>
        <p:txBody>
          <a:bodyPr/>
          <a:lstStyle/>
          <a:p>
            <a:r>
              <a:rPr lang="en-US" dirty="0"/>
              <a:t>Add sensitivity if needed</a:t>
            </a:r>
          </a:p>
        </p:txBody>
      </p:sp>
      <p:sp>
        <p:nvSpPr>
          <p:cNvPr id="6" name="Slide Number Placeholder 5">
            <a:extLst>
              <a:ext uri="{FF2B5EF4-FFF2-40B4-BE49-F238E27FC236}">
                <a16:creationId xmlns:a16="http://schemas.microsoft.com/office/drawing/2014/main" id="{21A0837A-E153-BAFA-B6F8-647E5E476D7B}"/>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pPr/>
              <a:t>‹#›</a:t>
            </a:fld>
            <a:endParaRPr lang="en-US" sz="900" dirty="0"/>
          </a:p>
        </p:txBody>
      </p:sp>
      <p:sp>
        <p:nvSpPr>
          <p:cNvPr id="8" name="Content Placeholder 7">
            <a:extLst>
              <a:ext uri="{FF2B5EF4-FFF2-40B4-BE49-F238E27FC236}">
                <a16:creationId xmlns:a16="http://schemas.microsoft.com/office/drawing/2014/main" id="{E661F691-68A2-ACF8-5D27-3F5571B6FD79}"/>
              </a:ext>
            </a:extLst>
          </p:cNvPr>
          <p:cNvSpPr>
            <a:spLocks noGrp="1"/>
          </p:cNvSpPr>
          <p:nvPr>
            <p:ph sz="quarter" idx="12"/>
          </p:nvPr>
        </p:nvSpPr>
        <p:spPr>
          <a:xfrm>
            <a:off x="909638" y="2228850"/>
            <a:ext cx="7015162" cy="36957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40479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72376C-BD00-0C21-7B68-8BAE977B9504}"/>
              </a:ext>
            </a:extLst>
          </p:cNvPr>
          <p:cNvSpPr>
            <a:spLocks noGrp="1"/>
          </p:cNvSpPr>
          <p:nvPr>
            <p:ph type="dt" sz="half" idx="10"/>
          </p:nvPr>
        </p:nvSpPr>
        <p:spPr/>
        <p:txBody>
          <a:bodyPr/>
          <a:lstStyle/>
          <a:p>
            <a:fld id="{0EB35C0E-E263-0848-A698-EE526CA39358}" type="datetimeFigureOut">
              <a:rPr lang="en-US" smtClean="0"/>
              <a:t>5/20/2024</a:t>
            </a:fld>
            <a:endParaRPr lang="en-US" dirty="0"/>
          </a:p>
        </p:txBody>
      </p:sp>
      <p:sp>
        <p:nvSpPr>
          <p:cNvPr id="3" name="Footer Placeholder 2">
            <a:extLst>
              <a:ext uri="{FF2B5EF4-FFF2-40B4-BE49-F238E27FC236}">
                <a16:creationId xmlns:a16="http://schemas.microsoft.com/office/drawing/2014/main" id="{E1864193-C369-71B1-B4FE-84F03344DB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2168E-40A1-A3C5-5A84-C324B159CB54}"/>
              </a:ext>
            </a:extLst>
          </p:cNvPr>
          <p:cNvSpPr>
            <a:spLocks noGrp="1"/>
          </p:cNvSpPr>
          <p:nvPr>
            <p:ph type="sldNum" sz="quarter" idx="12"/>
          </p:nvPr>
        </p:nvSpPr>
        <p:spPr/>
        <p:txBody>
          <a:bodyPr/>
          <a:lstStyle/>
          <a:p>
            <a:fld id="{E3393662-164E-B74F-8D60-B4DF4EEC9759}" type="slidenum">
              <a:rPr lang="en-US" smtClean="0"/>
              <a:t>‹#›</a:t>
            </a:fld>
            <a:endParaRPr lang="en-US"/>
          </a:p>
        </p:txBody>
      </p:sp>
    </p:spTree>
    <p:extLst>
      <p:ext uri="{BB962C8B-B14F-4D97-AF65-F5344CB8AC3E}">
        <p14:creationId xmlns:p14="http://schemas.microsoft.com/office/powerpoint/2010/main" val="3850935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09829" y="403765"/>
            <a:ext cx="8434196" cy="976056"/>
          </a:xfrm>
        </p:spPr>
        <p:txBody>
          <a:bodyPr>
            <a:normAutofit/>
          </a:bodyPr>
          <a:lstStyle>
            <a:lvl1pPr>
              <a:defRPr sz="3600"/>
            </a:lvl1pPr>
          </a:lstStyle>
          <a:p>
            <a:r>
              <a:rPr lang="en-GB" dirty="0"/>
              <a:t>Click to edit title</a:t>
            </a:r>
            <a:endParaRPr lang="en-US" dirty="0"/>
          </a:p>
        </p:txBody>
      </p:sp>
      <p:sp>
        <p:nvSpPr>
          <p:cNvPr id="3" name="Content Placeholder 2"/>
          <p:cNvSpPr>
            <a:spLocks noGrp="1"/>
          </p:cNvSpPr>
          <p:nvPr>
            <p:ph idx="1"/>
          </p:nvPr>
        </p:nvSpPr>
        <p:spPr>
          <a:xfrm>
            <a:off x="909828" y="1737360"/>
            <a:ext cx="10420160" cy="4089281"/>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Slide Number Placeholder 5">
            <a:extLst>
              <a:ext uri="{FF2B5EF4-FFF2-40B4-BE49-F238E27FC236}">
                <a16:creationId xmlns:a16="http://schemas.microsoft.com/office/drawing/2014/main" id="{EF6E56E1-9EDB-5EE5-A17D-D1CA9626D67B}"/>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AE104E18-8379-D7A8-EB57-3A892E5A1EC5}"/>
              </a:ext>
            </a:extLst>
          </p:cNvPr>
          <p:cNvSpPr/>
          <p:nvPr userDrawn="1"/>
        </p:nvSpPr>
        <p:spPr>
          <a:xfrm>
            <a:off x="9818655" y="237744"/>
            <a:ext cx="2043115" cy="14996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white logo&#10;&#10;Description automatically generated">
            <a:extLst>
              <a:ext uri="{FF2B5EF4-FFF2-40B4-BE49-F238E27FC236}">
                <a16:creationId xmlns:a16="http://schemas.microsoft.com/office/drawing/2014/main" id="{F56D429E-DF34-7BA9-913A-6A66F93118D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15575" y="403765"/>
            <a:ext cx="1478709" cy="891617"/>
          </a:xfrm>
          <a:prstGeom prst="rect">
            <a:avLst/>
          </a:prstGeom>
        </p:spPr>
      </p:pic>
    </p:spTree>
    <p:extLst>
      <p:ext uri="{BB962C8B-B14F-4D97-AF65-F5344CB8AC3E}">
        <p14:creationId xmlns:p14="http://schemas.microsoft.com/office/powerpoint/2010/main" val="24683260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2.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456AE61C-CB53-A51B-2E3D-419A782B4757}"/>
              </a:ext>
            </a:extLst>
          </p:cNvPr>
          <p:cNvSpPr txBox="1">
            <a:spLocks/>
          </p:cNvSpPr>
          <p:nvPr userDrawn="1"/>
        </p:nvSpPr>
        <p:spPr>
          <a:xfrm>
            <a:off x="909828" y="1619249"/>
            <a:ext cx="10420159" cy="4233439"/>
          </a:xfrm>
          <a:prstGeom prst="rect">
            <a:avLst/>
          </a:prstGeom>
        </p:spPr>
        <p:txBody>
          <a:bodyPr>
            <a:normAutofit/>
          </a:bodyPr>
          <a:lstStyle>
            <a:lvl1pPr algn="l" defTabSz="914400" eaLnBrk="1" hangingPunct="1" indent="-91440" latinLnBrk="0" marL="91440" rtl="0">
              <a:lnSpc>
                <a:spcPct val="90000"/>
              </a:lnSpc>
              <a:spcBef>
                <a:spcPts val="1200"/>
              </a:spcBef>
              <a:spcAft>
                <a:spcPts val="200"/>
              </a:spcAft>
              <a:buClr>
                <a:schemeClr val="accent1"/>
              </a:buClr>
              <a:buSzPct val="100000"/>
              <a:buFont charset="0" panose="020B0602020104020603" pitchFamily="34" typeface="Tw Cen MT"/>
              <a:buChar char=" "/>
              <a:defRPr kern="1200" sz="1800">
                <a:solidFill>
                  <a:schemeClr val="tx1"/>
                </a:solidFill>
                <a:latin charset="0" panose="020B0004020202020204" pitchFamily="34" typeface="Aptos"/>
                <a:ea typeface="+mn-ea"/>
                <a:cs charset="0" panose="020B0604020202020204" pitchFamily="34" typeface="Arial"/>
              </a:defRPr>
            </a:lvl1pPr>
            <a:lvl2pPr algn="l" defTabSz="914400" eaLnBrk="1" hangingPunct="1" indent="-137160" latinLnBrk="0" marL="26517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2pPr>
            <a:lvl3pPr algn="l" defTabSz="914400" eaLnBrk="1" hangingPunct="1" indent="-137160" latinLnBrk="0" marL="44805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3pPr>
            <a:lvl4pPr algn="l" defTabSz="914400" eaLnBrk="1" hangingPunct="1" indent="-137160" latinLnBrk="0" marL="594360"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4pPr>
            <a:lvl5pPr algn="l" defTabSz="914400" eaLnBrk="1" hangingPunct="1" indent="-137160" latinLnBrk="0" marL="777240"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5pPr>
            <a:lvl6pPr algn="l" defTabSz="914400" eaLnBrk="1" hangingPunct="1" indent="-137160" latinLnBrk="0" marL="914400"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6pPr>
            <a:lvl7pPr algn="l" defTabSz="914400" eaLnBrk="1" hangingPunct="1" indent="-137160" latinLnBrk="0" marL="1060704"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7pPr>
            <a:lvl8pPr algn="l" defTabSz="914400" eaLnBrk="1" hangingPunct="1" indent="-137160" latinLnBrk="0" marL="1216152"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8pPr>
            <a:lvl9pPr algn="l" defTabSz="914400" eaLnBrk="1" hangingPunct="1" indent="-137160" latinLnBrk="0" marL="1362456"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9pPr>
          </a:lstStyle>
          <a:p>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US"/>
          </a:p>
        </p:txBody>
      </p:sp>
      <p:pic>
        <p:nvPicPr>
          <p:cNvPr descr="A blue line with a white background" id="8" name="Picture 7">
            <a:extLst>
              <a:ext uri="{FF2B5EF4-FFF2-40B4-BE49-F238E27FC236}">
                <a16:creationId xmlns:a16="http://schemas.microsoft.com/office/drawing/2014/main" id="{F5E63812-AC84-AA97-7086-F862611574A6}"/>
              </a:ext>
            </a:extLst>
          </p:cNvPr>
          <p:cNvPicPr>
            <a:picLocks noChangeAspect="1"/>
          </p:cNvPicPr>
          <p:nvPr userDrawn="1"/>
        </p:nvPicPr>
        <p:blipFill rotWithShape="1">
          <a:blip r:embed="rId9"/>
          <a:srcRect r="942"/>
          <a:stretch/>
        </p:blipFill>
        <p:spPr>
          <a:xfrm>
            <a:off x="11875" y="11875"/>
            <a:ext cx="12259269" cy="6858000"/>
          </a:xfrm>
          <a:prstGeom prst="rect">
            <a:avLst/>
          </a:prstGeom>
        </p:spPr>
      </p:pic>
      <p:sp>
        <p:nvSpPr>
          <p:cNvPr id="2" name="Title Placeholder 1"/>
          <p:cNvSpPr>
            <a:spLocks noGrp="1"/>
          </p:cNvSpPr>
          <p:nvPr>
            <p:ph type="title"/>
          </p:nvPr>
        </p:nvSpPr>
        <p:spPr>
          <a:xfrm>
            <a:off x="909829" y="429900"/>
            <a:ext cx="8434196" cy="914400"/>
          </a:xfrm>
          <a:prstGeom prst="rect">
            <a:avLst/>
          </a:prstGeom>
        </p:spPr>
        <p:txBody>
          <a:bodyPr anchor="ctr" bIns="45720" lIns="91440" rIns="91440" rtlCol="0" tIns="45720" vert="horz">
            <a:normAutofit/>
          </a:bodyPr>
          <a:lstStyle/>
          <a:p>
            <a:r>
              <a:rPr dirty="0" lang="en-GB"/>
              <a:t>Click to edit title</a:t>
            </a:r>
            <a:endParaRPr dirty="0" lang="en-US"/>
          </a:p>
        </p:txBody>
      </p:sp>
      <p:sp>
        <p:nvSpPr>
          <p:cNvPr id="3" name="Text Placeholder 2"/>
          <p:cNvSpPr>
            <a:spLocks noGrp="1"/>
          </p:cNvSpPr>
          <p:nvPr>
            <p:ph idx="1" type="body"/>
          </p:nvPr>
        </p:nvSpPr>
        <p:spPr>
          <a:xfrm>
            <a:off x="909828" y="1695450"/>
            <a:ext cx="10420160" cy="4033838"/>
          </a:xfrm>
          <a:prstGeom prst="rect">
            <a:avLst/>
          </a:prstGeom>
        </p:spPr>
        <p:txBody>
          <a:bodyPr bIns="45720" lIns="45720" rIns="45720" rtlCol="0" tIns="45720" vert="horz">
            <a:normAutofit/>
          </a:bodyPr>
          <a:lstStyle/>
          <a:p>
            <a:pPr lvl="0"/>
            <a:r>
              <a:rPr dirty="0" lang="en-GB"/>
              <a:t>Click to edit Master text styles</a:t>
            </a:r>
          </a:p>
          <a:p>
            <a:pPr lvl="1"/>
            <a:r>
              <a:rPr dirty="0" lang="en-GB"/>
              <a:t>Second level</a:t>
            </a:r>
          </a:p>
          <a:p>
            <a:pPr lvl="2"/>
            <a:r>
              <a:rPr dirty="0" lang="en-GB"/>
              <a:t>Third level</a:t>
            </a:r>
          </a:p>
          <a:p>
            <a:pPr lvl="3"/>
            <a:r>
              <a:rPr dirty="0" lang="en-GB"/>
              <a:t>Fourth level</a:t>
            </a:r>
          </a:p>
          <a:p>
            <a:pPr lvl="4"/>
            <a:r>
              <a:rPr dirty="0" lang="en-GB"/>
              <a:t>Fifth level</a:t>
            </a:r>
            <a:endParaRPr dirty="0" lang="en-US"/>
          </a:p>
        </p:txBody>
      </p:sp>
      <p:sp>
        <p:nvSpPr>
          <p:cNvPr id="5" name="Footer Placeholder 4"/>
          <p:cNvSpPr>
            <a:spLocks noGrp="1"/>
          </p:cNvSpPr>
          <p:nvPr>
            <p:ph idx="3" sz="quarter" type="ftr"/>
          </p:nvPr>
        </p:nvSpPr>
        <p:spPr>
          <a:xfrm>
            <a:off x="1571093" y="6583680"/>
            <a:ext cx="8430155" cy="274320"/>
          </a:xfrm>
          <a:prstGeom prst="rect">
            <a:avLst/>
          </a:prstGeom>
        </p:spPr>
        <p:txBody>
          <a:bodyPr anchor="ctr" bIns="45720" lIns="91440" rIns="91440" rtlCol="0" tIns="45720" vert="horz"/>
          <a:lstStyle>
            <a:lvl1pPr algn="ctr">
              <a:defRPr baseline="0" cap="none" sz="1000">
                <a:solidFill>
                  <a:schemeClr val="tx1"/>
                </a:solidFill>
                <a:latin charset="0" panose="020F0502020204030204" pitchFamily="34" typeface="Calibri"/>
                <a:cs charset="0" panose="020F0502020204030204" pitchFamily="34" typeface="Calibri"/>
              </a:defRPr>
            </a:lvl1pPr>
          </a:lstStyle>
          <a:p>
            <a:r>
              <a:rPr dirty="0" lang="en-US"/>
              <a:t>Add sensitivity level here if required</a:t>
            </a:r>
          </a:p>
        </p:txBody>
      </p:sp>
      <p:sp>
        <p:nvSpPr>
          <p:cNvPr id="6" name="Slide Number Placeholder 5"/>
          <p:cNvSpPr>
            <a:spLocks noGrp="1"/>
          </p:cNvSpPr>
          <p:nvPr>
            <p:ph idx="4" sz="quarter" type="sldNum"/>
          </p:nvPr>
        </p:nvSpPr>
        <p:spPr>
          <a:xfrm>
            <a:off x="5740641" y="6309360"/>
            <a:ext cx="338137" cy="274320"/>
          </a:xfrm>
          <a:prstGeom prst="rect">
            <a:avLst/>
          </a:prstGeom>
        </p:spPr>
        <p:txBody>
          <a:bodyPr anchor="ctr" bIns="45720" lIns="91440" rIns="91440" rtlCol="0" tIns="45720" vert="horz"/>
          <a:lstStyle>
            <a:lvl1pPr algn="l">
              <a:defRPr sz="900">
                <a:solidFill>
                  <a:schemeClr val="tx1">
                    <a:lumMod val="95000"/>
                    <a:lumOff val="5000"/>
                  </a:schemeClr>
                </a:solidFill>
                <a:latin charset="0" panose="020B0604020202020204" pitchFamily="34" typeface="Arial"/>
                <a:cs charset="0" panose="020B0604020202020204" pitchFamily="34" typeface="Arial"/>
              </a:defRPr>
            </a:lvl1pPr>
          </a:lstStyle>
          <a:p>
            <a:fld id="{520FAE58-AEA8-F047-B98D-7B2B3D014012}" type="slidenum">
              <a:rPr lang="en-US" smtClean="0"/>
              <a:pPr/>
              <a:t>‹#›</a:t>
            </a:fld>
            <a:endParaRPr dirty="0" lang="en-US"/>
          </a:p>
        </p:txBody>
      </p:sp>
      <p:cxnSp>
        <p:nvCxnSpPr>
          <p:cNvPr id="7" name="Straight Connector 6"/>
          <p:cNvCxnSpPr/>
          <p:nvPr/>
        </p:nvCxnSpPr>
        <p:spPr>
          <a:xfrm flipV="1">
            <a:off x="539373" y="429900"/>
            <a:ext cx="0" cy="914400"/>
          </a:xfrm>
          <a:prstGeom prst="line">
            <a:avLst/>
          </a:prstGeom>
          <a:ln w="44450">
            <a:solidFill>
              <a:srgbClr val="046AA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655971"/>
      </p:ext>
    </p:extLst>
  </p:cSld>
  <p:clrMap accent1="accent1" accent2="accent2" accent3="accent3" accent4="accent4" accent5="accent5" accent6="accent6" bg1="lt1" bg2="lt2" folHlink="folHlink" hlink="hlink" tx1="dk1" tx2="dk2"/>
  <p:sldLayoutIdLst>
    <p:sldLayoutId id="2147483661" r:id="rId1"/>
    <p:sldLayoutId id="2147483672" r:id="rId2"/>
    <p:sldLayoutId id="2147483664" r:id="rId3"/>
    <p:sldLayoutId id="2147483668" r:id="rId4"/>
    <p:sldLayoutId id="2147483673" r:id="rId5"/>
    <p:sldLayoutId id="2147483736" r:id="rId6"/>
    <p:sldLayoutId id="2147483662" r:id="rId7"/>
  </p:sldLayoutIdLst>
  <p:txStyles>
    <p:titleStyle>
      <a:lvl1pPr algn="l" defTabSz="914400" eaLnBrk="1" hangingPunct="1" latinLnBrk="0" rtl="0">
        <a:lnSpc>
          <a:spcPct val="80000"/>
        </a:lnSpc>
        <a:spcBef>
          <a:spcPct val="0"/>
        </a:spcBef>
        <a:buNone/>
        <a:defRPr b="1" baseline="0" cap="none" kern="1200" spc="100" sz="3600">
          <a:solidFill>
            <a:schemeClr val="tx1">
              <a:lumMod val="95000"/>
              <a:lumOff val="5000"/>
            </a:schemeClr>
          </a:solidFill>
          <a:latin charset="0" panose="020F0502020204030204" pitchFamily="34" typeface="Aptos ExtraBold"/>
          <a:ea typeface="+mj-ea"/>
          <a:cs charset="0" panose="020B0604020202020204" pitchFamily="34" typeface="Arial"/>
        </a:defRPr>
      </a:lvl1pPr>
    </p:titleStyle>
    <p:bodyStyle>
      <a:lvl1pPr algn="l" defTabSz="914400" eaLnBrk="1" hangingPunct="1" indent="-91440" latinLnBrk="0" marL="91440" rtl="0">
        <a:lnSpc>
          <a:spcPct val="90000"/>
        </a:lnSpc>
        <a:spcBef>
          <a:spcPts val="1200"/>
        </a:spcBef>
        <a:spcAft>
          <a:spcPts val="200"/>
        </a:spcAft>
        <a:buClr>
          <a:schemeClr val="accent1"/>
        </a:buClr>
        <a:buSzPct val="100000"/>
        <a:buFont charset="0" panose="020B0602020104020603" pitchFamily="34" typeface="Tw Cen MT"/>
        <a:buChar char=" "/>
        <a:defRPr kern="1200" sz="2200">
          <a:solidFill>
            <a:schemeClr val="tx1"/>
          </a:solidFill>
          <a:latin charset="0" panose="020B0004020202020204" pitchFamily="34" typeface="Aptos"/>
          <a:ea typeface="+mn-ea"/>
          <a:cs charset="0" panose="020B0604020202020204" pitchFamily="34" typeface="Arial"/>
        </a:defRPr>
      </a:lvl1pPr>
      <a:lvl2pPr algn="l" defTabSz="914400" eaLnBrk="1" hangingPunct="1" indent="-137160" latinLnBrk="0" marL="26517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2pPr>
      <a:lvl3pPr algn="l" defTabSz="914400" eaLnBrk="1" hangingPunct="1" indent="-137160" latinLnBrk="0" marL="448056"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3pPr>
      <a:lvl4pPr algn="l" defTabSz="914400" eaLnBrk="1" hangingPunct="1" indent="-137160" latinLnBrk="0" marL="594360"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4pPr>
      <a:lvl5pPr algn="l" defTabSz="914400" eaLnBrk="1" hangingPunct="1" indent="-137160" latinLnBrk="0" marL="777240"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5pPr>
      <a:lvl6pPr algn="l" defTabSz="914400" eaLnBrk="1" hangingPunct="1" indent="-137160" latinLnBrk="0" marL="914400"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6pPr>
      <a:lvl7pPr algn="l" defTabSz="914400" eaLnBrk="1" hangingPunct="1" indent="-137160" latinLnBrk="0" marL="1060704"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7pPr>
      <a:lvl8pPr algn="l" defTabSz="914400" eaLnBrk="1" hangingPunct="1" indent="-137160" latinLnBrk="0" marL="1216152"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8pPr>
      <a:lvl9pPr algn="l" defTabSz="914400" eaLnBrk="1" hangingPunct="1" indent="-137160" latinLnBrk="0" marL="1362456"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2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2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2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3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8" y="4755350"/>
            <a:ext cx="8406375" cy="1218369"/>
          </a:xfrm>
        </p:spPr>
        <p:txBody>
          <a:bodyPr/>
          <a:lstStyle/>
          <a:p>
            <a:pPr lvl="0" indent="0" marL="0">
              <a:buNone/>
            </a:pPr>
            <a:r>
              <a:rPr/>
              <a:t>Quantifying the impacts of hospitals increasing single bed room provision</a:t>
            </a:r>
          </a:p>
        </p:txBody>
      </p:sp>
      <p:sp>
        <p:nvSpPr>
          <p:cNvPr id="3" name="Subtitle 2"/>
          <p:cNvSpPr>
            <a:spLocks noGrp="1"/>
          </p:cNvSpPr>
          <p:nvPr>
            <p:ph hasCustomPrompt="1" idx="1" type="subTitle"/>
          </p:nvPr>
        </p:nvSpPr>
        <p:spPr>
          <a:xfrm>
            <a:off x="457199" y="6020353"/>
            <a:ext cx="8406374" cy="674129"/>
          </a:xfrm>
          <a:prstGeom prst="rect">
            <a:avLst/>
          </a:prstGeom>
        </p:spPr>
        <p:txBody>
          <a:bodyPr/>
          <a:lstStyle/>
          <a:p>
            <a:pPr lvl="0" indent="0" marL="0">
              <a:buNone/>
            </a:pPr>
            <a:br/>
            <a:br/>
            <a:r>
              <a:rPr/>
              <a:t>Andy Hood | Analytics Manager | Strategy Unit | 14th May 2024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755350"/>
            <a:ext cx="7772400" cy="1218369"/>
          </a:xfrm>
        </p:spPr>
        <p:txBody>
          <a:bodyPr/>
          <a:lstStyle/>
          <a:p>
            <a:pPr lvl="0" indent="0" marL="0">
              <a:buNone/>
            </a:pPr>
            <a:r>
              <a:rPr/>
              <a:t>Introduction, approach and summary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Introduction</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Since it’s inception, the New Hospital Programme (NHP) has advocated for single bed rooms (SBR). The grounds for this are based on a range of guidance, evidence and previous policy statements of intent. Whilst that position is unequivocal, there is uncertainty around the quantification of impacts of such a change and thus the assumptions that feed into demand and capacity models and economic business cases for current and future new hospital developments.</a:t>
            </a:r>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p:txBody>
          <a:bodyPr/>
          <a:lstStyle/>
          <a:p>
            <a:pPr lvl="0" indent="0" marL="0">
              <a:buNone/>
            </a:pPr>
            <a:r>
              <a:rPr/>
              <a:t>Specifically, a starting assumption was that a length of stay reduction of 12% was likely for all new SBR facilities compared to prior trends. This assumption was criticised by the national audit office (NAO) (Office 2023) in the face of a mixed evidence base.</a:t>
            </a:r>
          </a:p>
          <a:p>
            <a:pPr lvl="0" indent="0" marL="0">
              <a:buNone/>
            </a:pPr>
            <a:r>
              <a:rPr/>
              <a:t>It is the express aim of this analysis therefore to quantify the range of likely impacts for length of stay and a basket of other measures across patient &amp; staff experience, productivity and health &amp; safety.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Approach</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a:r>
              <a:rPr/>
              <a:t>Previous literature reviews and general searches were undertaken to identify potential impact factors.</a:t>
            </a:r>
          </a:p>
          <a:p>
            <a:pPr lvl="0"/>
            <a:r>
              <a:rPr/>
              <a:t>Identified relevant measures or proxy measures from publicly available data and routine data sources.</a:t>
            </a:r>
          </a:p>
          <a:p>
            <a:pPr lvl="0"/>
            <a:r>
              <a:rPr/>
              <a:t>Included only those with sufficient time series and of acceptable data quality into final impact framework.</a:t>
            </a:r>
          </a:p>
          <a:p>
            <a:pPr lvl="0"/>
            <a:r>
              <a:rPr/>
              <a:t>Cleansed and compiled all the data into time series format.</a:t>
            </a:r>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p:txBody>
          <a:bodyPr/>
          <a:lstStyle/>
          <a:p>
            <a:pPr lvl="0"/>
            <a:r>
              <a:rPr/>
              <a:t>Identified ‘control’ sites and providers to compare to our natural experiment sites.</a:t>
            </a:r>
          </a:p>
          <a:p>
            <a:pPr lvl="0"/>
            <a:r>
              <a:rPr/>
              <a:t>Several stages of this matching according to hospital function, size, case-mix and admission ratio’s.</a:t>
            </a:r>
          </a:p>
          <a:p>
            <a:pPr lvl="0"/>
            <a:r>
              <a:rPr/>
              <a:t>Performed causal impact analysis on the pre and post intervention periods to detect the nature and scale of impacts for each natural experiment.</a:t>
            </a:r>
          </a:p>
          <a:p>
            <a:pPr lvl="0"/>
            <a:r>
              <a:rPr/>
              <a:t>Aggregated findings for the non-specialist hospitals.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Summary of key findings</a:t>
            </a:r>
          </a:p>
        </p:txBody>
      </p:sp>
      <p:sp>
        <p:nvSpPr>
          <p:cNvPr id="3" name="Content Placeholder 2"/>
          <p:cNvSpPr>
            <a:spLocks noGrp="1"/>
          </p:cNvSpPr>
          <p:nvPr>
            <p:ph idx="1"/>
          </p:nvPr>
        </p:nvSpPr>
        <p:spPr/>
        <p:txBody>
          <a:bodyPr/>
          <a:lstStyle/>
          <a:p>
            <a:pPr lvl="0" indent="0" marL="0">
              <a:buNone/>
            </a:pPr>
            <a:r>
              <a:rPr/>
              <a:t>Regardless of direction of impact, our results are not consistent across hospital sites. This suggests that there are a number of other factors in the hospital design, systems, policies and procedures that are important. Switching to single bedroom hospitals without considering the other factors would not necessarily have a positive effect on outcomes nor mitigate any likely risks. This inconsistency is reflective of the findings from published literature.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755350"/>
            <a:ext cx="7772400" cy="1218369"/>
          </a:xfrm>
        </p:spPr>
        <p:txBody>
          <a:bodyPr/>
          <a:lstStyle/>
          <a:p>
            <a:pPr lvl="0" indent="0" marL="0">
              <a:buNone/>
            </a:pPr>
            <a:r>
              <a:rPr/>
              <a:t>The impact framework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Overview</a:t>
            </a:r>
          </a:p>
        </p:txBody>
      </p:sp>
      <p:pic>
        <p:nvPicPr>
          <p:cNvPr descr="images/indicators.jpeg" id="0" name="Picture 1"/>
          <p:cNvPicPr>
            <a:picLocks noGrp="1" noChangeAspect="1"/>
          </p:cNvPicPr>
          <p:nvPr/>
        </p:nvPicPr>
        <p:blipFill>
          <a:blip r:embed="rId2"/>
          <a:stretch>
            <a:fillRect/>
          </a:stretch>
        </p:blipFill>
        <p:spPr bwMode="auto">
          <a:xfrm>
            <a:off x="901700" y="2032000"/>
            <a:ext cx="10414000" cy="3467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755350"/>
            <a:ext cx="7772400" cy="1218369"/>
          </a:xfrm>
        </p:spPr>
        <p:txBody>
          <a:bodyPr/>
          <a:lstStyle/>
          <a:p>
            <a:pPr lvl="0" indent="0" marL="0">
              <a:buNone/>
            </a:pPr>
            <a:r>
              <a:rPr/>
              <a:t>The hospitals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7 natural experiments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a:r>
              <a:rPr/>
              <a:t>Royal Liverpool (Oct 2022)</a:t>
            </a:r>
          </a:p>
          <a:p>
            <a:pPr lvl="0"/>
            <a:r>
              <a:rPr/>
              <a:t>Clatterbridge Cancer Centre (June 2020)</a:t>
            </a:r>
          </a:p>
          <a:p>
            <a:pPr lvl="0"/>
            <a:r>
              <a:rPr/>
              <a:t>Royal Papworth Hospital (May 2019)</a:t>
            </a:r>
          </a:p>
          <a:p>
            <a:pPr lvl="0"/>
            <a:r>
              <a:rPr/>
              <a:t>Chase Farm Hospital (Sept 2018)</a:t>
            </a:r>
          </a:p>
          <a:p>
            <a:pPr lvl="0"/>
            <a:r>
              <a:rPr/>
              <a:t>Southmead Hospital (May 2014)</a:t>
            </a:r>
          </a:p>
          <a:p>
            <a:pPr lvl="0"/>
            <a:r>
              <a:rPr/>
              <a:t>Tunbridge Wells (Jan/Sept 2011)</a:t>
            </a:r>
          </a:p>
          <a:p>
            <a:pPr lvl="0"/>
            <a:r>
              <a:rPr/>
              <a:t>Peterborough Hospital (Nov 2010)</a:t>
            </a:r>
          </a:p>
        </p:txBody>
      </p:sp>
      <p:pic>
        <p:nvPicPr>
          <p:cNvPr descr="images/hospitals_map.png" id="0" name="Picture 1"/>
          <p:cNvPicPr>
            <a:picLocks noGrp="1" noChangeAspect="1"/>
          </p:cNvPicPr>
          <p:nvPr/>
        </p:nvPicPr>
        <p:blipFill>
          <a:blip r:embed="rId2"/>
          <a:stretch>
            <a:fillRect/>
          </a:stretch>
        </p:blipFill>
        <p:spPr bwMode="auto">
          <a:xfrm>
            <a:off x="6223000" y="2057400"/>
            <a:ext cx="5041900" cy="3327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755350"/>
            <a:ext cx="7772400" cy="1218369"/>
          </a:xfrm>
        </p:spPr>
        <p:txBody>
          <a:bodyPr/>
          <a:lstStyle/>
          <a:p>
            <a:pPr lvl="0" indent="0" marL="0">
              <a:buNone/>
            </a:pPr>
            <a:r>
              <a:rPr/>
              <a:t>Summary of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Selecting control sites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Before including control sites into the calculation of the post-intervention counterfactual, we must ensure they’re similar to the site under study. We do this in several consecutive steps:</a:t>
            </a:r>
          </a:p>
          <a:p>
            <a:pPr lvl="0" indent="-457200" marL="457200">
              <a:buAutoNum type="arabicPeriod"/>
            </a:pPr>
            <a:r>
              <a:rPr/>
              <a:t>Filter on similar site types e.g. General Acute, Tertiary Centre</a:t>
            </a:r>
          </a:p>
          <a:p>
            <a:pPr lvl="0" indent="-457200" marL="457200">
              <a:buAutoNum type="arabicPeriod"/>
            </a:pPr>
            <a:r>
              <a:rPr/>
              <a:t>Exclude those with dissimilar single bed %’s at the point of intervention</a:t>
            </a:r>
          </a:p>
          <a:p>
            <a:pPr lvl="0" indent="-457200" marL="457200">
              <a:buAutoNum type="arabicPeriod"/>
            </a:pPr>
            <a:r>
              <a:rPr/>
              <a:t>Match on (the closest 20) according to the following variables:</a:t>
            </a:r>
          </a:p>
          <a:p>
            <a:pPr lvl="0"/>
            <a:r>
              <a:rPr/>
              <a:t>Hospital size (m2)</a:t>
            </a:r>
          </a:p>
          <a:p>
            <a:pPr lvl="0"/>
            <a:r>
              <a:rPr/>
              <a:t>Patient case-mix (median age)</a:t>
            </a:r>
          </a:p>
          <a:p>
            <a:pPr lvl="0"/>
            <a:r>
              <a:rPr/>
              <a:t>Elective:Non-elective spell ratio</a:t>
            </a:r>
          </a:p>
        </p:txBody>
      </p:sp>
      <p:pic>
        <p:nvPicPr>
          <p:cNvPr descr="images/control_flowchart.png" id="0" name="Picture 1"/>
          <p:cNvPicPr>
            <a:picLocks noGrp="1" noChangeAspect="1"/>
          </p:cNvPicPr>
          <p:nvPr/>
        </p:nvPicPr>
        <p:blipFill>
          <a:blip r:embed="rId2"/>
          <a:stretch>
            <a:fillRect/>
          </a:stretch>
        </p:blipFill>
        <p:spPr bwMode="auto">
          <a:xfrm>
            <a:off x="6223000" y="1993900"/>
            <a:ext cx="5041900" cy="3467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Causal Impact Analysis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Causal Impact Analysis (CIA), developed by K. Broderson in 2014, explicitly uses prior trends and ‘market-matched’ control analysis to predict a time series. The observed values for the study site are compared to this to determine the direction, magnitude and significance of impacts as a result of the intervention.</a:t>
            </a:r>
          </a:p>
          <a:p>
            <a:pPr lvl="0" indent="0" marL="0">
              <a:buNone/>
            </a:pPr>
            <a:r>
              <a:rPr/>
              <a:t>All analysis has been performed in R software (v4.3.2+) with the following packages - CausalImpact, MarketMatching, dtw, metafor.</a:t>
            </a:r>
          </a:p>
        </p:txBody>
      </p:sp>
      <p:pic>
        <p:nvPicPr>
          <p:cNvPr descr="fig:  images/cia_example.png" id="0" name="Picture 1"/>
          <p:cNvPicPr>
            <a:picLocks noGrp="1" noChangeAspect="1"/>
          </p:cNvPicPr>
          <p:nvPr/>
        </p:nvPicPr>
        <p:blipFill>
          <a:blip r:embed="rId2"/>
          <a:stretch>
            <a:fillRect/>
          </a:stretch>
        </p:blipFill>
        <p:spPr bwMode="auto">
          <a:xfrm>
            <a:off x="7188200" y="1612900"/>
            <a:ext cx="3098800" cy="3721100"/>
          </a:xfrm>
          <a:prstGeom prst="rect">
            <a:avLst/>
          </a:prstGeom>
          <a:noFill/>
          <a:ln w="9525">
            <a:noFill/>
            <a:headEnd/>
            <a:tailEnd/>
          </a:ln>
        </p:spPr>
      </p:pic>
      <p:sp>
        <p:nvSpPr>
          <p:cNvPr id="1" name="TextBox 3"/>
          <p:cNvSpPr txBox="1"/>
          <p:nvPr/>
        </p:nvSpPr>
        <p:spPr>
          <a:xfrm>
            <a:off x="6223000" y="5334000"/>
            <a:ext cx="5041900" cy="508000"/>
          </a:xfrm>
          <a:prstGeom prst="rect">
            <a:avLst/>
          </a:prstGeom>
          <a:noFill/>
        </p:spPr>
        <p:txBody>
          <a:bodyPr/>
          <a:lstStyle/>
          <a:p>
            <a:pPr lvl="0" indent="0" marL="0" algn="ctr">
              <a:buNone/>
            </a:pPr>
            <a:r>
              <a:rPr/>
              <a:t>Example of CIA analysis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Aggregating impacts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Where for each impact measure there were 2 or more general and acute hospitals, a meta-analysis was conducted. The specialist hospital sites were excluded from this analysis as it is felt the effects at these sites may not be generalisable when considering future building of general acute hospitals.</a:t>
            </a:r>
          </a:p>
          <a:p>
            <a:pPr lvl="0" indent="0" marL="0">
              <a:buNone/>
            </a:pPr>
            <a:r>
              <a:rPr/>
              <a:t>A random-effects meta-analysis was conducted using the metafor R package (Viechtbauer 2024) and with the relative effects for each site weighted using the inverse variance, as used for meta-analysis of causal impact models by Schmitt et al. (Schmitt, Tull, and Atwater 2017).</a:t>
            </a:r>
          </a:p>
        </p:txBody>
      </p:sp>
      <p:pic>
        <p:nvPicPr>
          <p:cNvPr descr="fig:  images/meta_example.png" id="0" name="Picture 1"/>
          <p:cNvPicPr>
            <a:picLocks noGrp="1" noChangeAspect="1"/>
          </p:cNvPicPr>
          <p:nvPr/>
        </p:nvPicPr>
        <p:blipFill>
          <a:blip r:embed="rId2"/>
          <a:stretch>
            <a:fillRect/>
          </a:stretch>
        </p:blipFill>
        <p:spPr bwMode="auto">
          <a:xfrm>
            <a:off x="6223000" y="2743200"/>
            <a:ext cx="5041900" cy="1447800"/>
          </a:xfrm>
          <a:prstGeom prst="rect">
            <a:avLst/>
          </a:prstGeom>
          <a:noFill/>
          <a:ln w="9525">
            <a:noFill/>
            <a:headEnd/>
            <a:tailEnd/>
          </a:ln>
        </p:spPr>
      </p:pic>
      <p:sp>
        <p:nvSpPr>
          <p:cNvPr id="1" name="TextBox 3"/>
          <p:cNvSpPr txBox="1"/>
          <p:nvPr/>
        </p:nvSpPr>
        <p:spPr>
          <a:xfrm>
            <a:off x="6223000" y="5334000"/>
            <a:ext cx="5041900" cy="508000"/>
          </a:xfrm>
          <a:prstGeom prst="rect">
            <a:avLst/>
          </a:prstGeom>
          <a:noFill/>
        </p:spPr>
        <p:txBody>
          <a:bodyPr/>
          <a:lstStyle/>
          <a:p>
            <a:pPr lvl="0" indent="0" marL="0" algn="ctr">
              <a:buNone/>
            </a:pPr>
            <a:r>
              <a:rPr/>
              <a:t>Example of meta-analysis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755350"/>
            <a:ext cx="7772400" cy="1218369"/>
          </a:xfrm>
        </p:spPr>
        <p:txBody>
          <a:bodyPr/>
          <a:lstStyle/>
          <a:p>
            <a:pPr lvl="0" indent="0" marL="0">
              <a:buNone/>
            </a:pPr>
            <a:r>
              <a:rPr/>
              <a:t>Main results</a:t>
            </a:r>
          </a:p>
        </p:txBody>
      </p:sp>
    </p:spTree>
  </p:cSld>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NHP Colour Theme">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FEFFFE"/>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{8C70326D-9F1C-1842-B973-7199098CBC5F}tf10001061</Template>
  <TotalTime>158</TotalTime>
  <Words>451</Words>
  <Application>Microsoft Office PowerPoint</Application>
  <PresentationFormat>Widescreen</PresentationFormat>
  <Paragraphs>51</Paragraphs>
  <Slides>13</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Aptos ExtraBold</vt:lpstr>
      <vt:lpstr>Arial</vt:lpstr>
      <vt:lpstr>Calibri</vt:lpstr>
      <vt:lpstr>Calibri Light</vt:lpstr>
      <vt:lpstr>Tw Cen MT</vt:lpstr>
      <vt:lpstr>Wingdings 3</vt:lpstr>
      <vt:lpstr>Integral</vt:lpstr>
      <vt:lpstr>All decks should start with this slide</vt:lpstr>
      <vt:lpstr>PowerPoint Presentation</vt:lpstr>
      <vt:lpstr>Content slide with picture</vt:lpstr>
      <vt:lpstr>Content slide with picture</vt:lpstr>
      <vt:lpstr>Alternative divider slide</vt:lpstr>
      <vt:lpstr>PowerPoint Presentation</vt:lpstr>
      <vt:lpstr>PowerPoint Presentation</vt:lpstr>
      <vt:lpstr>PowerPoint Presentation</vt:lpstr>
      <vt:lpstr>Useful slides / graphics</vt:lpstr>
      <vt:lpstr> Health and Social Care Planning: Update </vt:lpstr>
      <vt:lpstr>[Example]</vt:lpstr>
      <vt:lpstr>The New Hospital Programme</vt:lpstr>
      <vt:lpstr>Useful icons / graphics  (copy &amp; paste)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Quantifying the impacts of hospitals increasing single bed room provision</dc:title>
  <dc:creator>Andy Hood | Analytics Manager | Strategy Unit | 14th May 2024</dc:creator>
  <cp:keywords/>
  <dcterms:created xsi:type="dcterms:W3CDTF">2024-05-20T14:16:52Z</dcterms:created>
  <dcterms:modified xsi:type="dcterms:W3CDTF">2024-05-20T14:16:52Z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