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Default Extension="PNG" ContentType="image/png"/>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x="12192000" cy="6858000"/>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A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26341"/>
    <p:restoredTop sz="95809"/>
  </p:normalViewPr>
  <p:slideViewPr>
    <p:cSldViewPr snapToGrid="0">
      <p:cViewPr varScale="1">
        <p:scale>
          <a:sx d="100" n="103"/>
          <a:sy d="100" n="103"/>
        </p:scale>
        <p:origin x="180" y="114"/>
      </p:cViewPr>
      <p:guideLst/>
    </p:cSldViewPr>
  </p:slideViewPr>
  <p:notesTextViewPr>
    <p:cViewPr>
      <p:scale>
        <a:sx d="2" n="3"/>
        <a:sy d="2" n="3"/>
      </p:scale>
      <p:origin x="0" y="0"/>
    </p:cViewPr>
  </p:notesTextViewPr>
  <p:gridSpacing cx="72008" cy="72008"/>
</p:viewPr>
</file>

<file path=ppt/_rels/presentation.xml.rels><?xml version="1.0" encoding="UTF-8"?><Relationships xmlns="http://schemas.openxmlformats.org/package/2006/relationships"><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slide" Target="slides/slide29.xml" /><Relationship Id="rId34" Type="http://schemas.openxmlformats.org/officeDocument/2006/relationships/slide" Target="slides/slide30.xml" /><Relationship Id="rId35" Type="http://schemas.openxmlformats.org/officeDocument/2006/relationships/slide" Target="slides/slide31.xml" /><Relationship Id="rId36" Type="http://schemas.openxmlformats.org/officeDocument/2006/relationships/slide" Target="slides/slide32.xml" /><Relationship Id="rId37" Type="http://schemas.openxmlformats.org/officeDocument/2006/relationships/slide" Target="slides/slide33.xml" /><Relationship Id="rId38" Type="http://schemas.openxmlformats.org/officeDocument/2006/relationships/slide" Target="slides/slide34.xml" /><Relationship Id="rId39" Type="http://schemas.openxmlformats.org/officeDocument/2006/relationships/slide" Target="slides/slide35.xml" /><Relationship Id="rId40" Type="http://schemas.openxmlformats.org/officeDocument/2006/relationships/slide" Target="slides/slide36.xml" /><Relationship Id="rId41" Type="http://schemas.openxmlformats.org/officeDocument/2006/relationships/slide" Target="slides/slide37.xml" /><Relationship Id="rId42" Type="http://schemas.openxmlformats.org/officeDocument/2006/relationships/slide" Target="slides/slide38.xml" /><Relationship Id="rId43" Type="http://schemas.openxmlformats.org/officeDocument/2006/relationships/slide" Target="slides/slide39.xml" /><Relationship Id="rId44" Type="http://schemas.openxmlformats.org/officeDocument/2006/relationships/slide" Target="slides/slide40.xml" /><Relationship Id="rId45" Type="http://schemas.openxmlformats.org/officeDocument/2006/relationships/slide" Target="slides/slide41.xml" /><Relationship Id="rId3" Type="http://schemas.openxmlformats.org/officeDocument/2006/relationships/customXml" Target="../customXml/item3.xml" /><Relationship Id="rId48" Type="http://schemas.openxmlformats.org/officeDocument/2006/relationships/theme" Target="theme/theme1.xml" /><Relationship Id="rId2" Type="http://schemas.openxmlformats.org/officeDocument/2006/relationships/customXml" Target="../customXml/item2.xml" /><Relationship Id="rId47" Type="http://schemas.openxmlformats.org/officeDocument/2006/relationships/viewProps" Target="viewProps.xml" /><Relationship Id="rId1" Type="http://schemas.openxmlformats.org/officeDocument/2006/relationships/customXml" Target="../customXml/item1.xml" /><Relationship Id="rId51" Type="http://schemas.microsoft.com/office/2015/10/relationships/revisionInfo" Target="revisionInfo.xml" /><Relationship Id="rId50" Type="http://schemas.microsoft.com/office/2016/11/relationships/changesInfo" Target="changesInfos/changesInfo1.xml" /><Relationship Id="rId46" Type="http://schemas.openxmlformats.org/officeDocument/2006/relationships/presProps" Target="presProps.xml" /><Relationship Id="rId4" Type="http://schemas.openxmlformats.org/officeDocument/2006/relationships/slideMaster" Target="slideMasters/slideMaster1.xml" /><Relationship Id="rId49"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userDrawn="1"/>
        </p:nvSpPr>
        <p:spPr>
          <a:xfrm>
            <a:off x="0" y="0"/>
            <a:ext cx="12192000" cy="4572001"/>
          </a:xfrm>
          <a:prstGeom prst="rect">
            <a:avLst/>
          </a:prstGeom>
          <a:solidFill>
            <a:srgbClr val="046AA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457198" y="4624736"/>
            <a:ext cx="8406375" cy="1348983"/>
          </a:xfrm>
        </p:spPr>
        <p:txBody>
          <a:bodyPr anchor="ctr">
            <a:normAutofit/>
          </a:bodyPr>
          <a:lstStyle>
            <a:lvl1pPr algn="l">
              <a:defRPr sz="3600" spc="200" baseline="0"/>
            </a:lvl1pPr>
          </a:lstStyle>
          <a:p>
            <a:r>
              <a:rPr lang="en-GB" dirty="0"/>
              <a:t>Click to edit heading</a:t>
            </a:r>
            <a:endParaRPr lang="en-US" dirty="0"/>
          </a:p>
        </p:txBody>
      </p:sp>
      <p:sp>
        <p:nvSpPr>
          <p:cNvPr id="3" name="Subtitle 2"/>
          <p:cNvSpPr>
            <a:spLocks noGrp="1"/>
          </p:cNvSpPr>
          <p:nvPr>
            <p:ph type="subTitle" idx="1" hasCustomPrompt="1"/>
          </p:nvPr>
        </p:nvSpPr>
        <p:spPr>
          <a:xfrm>
            <a:off x="457199" y="6020353"/>
            <a:ext cx="8406374" cy="674129"/>
          </a:xfrm>
          <a:prstGeom prst="rect">
            <a:avLst/>
          </a:prstGeom>
        </p:spPr>
        <p:txBody>
          <a:bodyPr lIns="91440" rIns="91440" anchor="ctr">
            <a:normAutofit/>
          </a:bodyPr>
          <a:lstStyle>
            <a:lvl1pPr marL="0" indent="0" algn="l">
              <a:lnSpc>
                <a:spcPct val="100000"/>
              </a:lnSpc>
              <a:spcBef>
                <a:spcPts val="0"/>
              </a:spcBef>
              <a:buNone/>
              <a:defRPr sz="24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dirty="0"/>
              <a:t>Click to edit subtitle</a:t>
            </a:r>
            <a:endParaRPr lang="en-US" dirty="0"/>
          </a:p>
        </p:txBody>
      </p:sp>
      <p:cxnSp>
        <p:nvCxnSpPr>
          <p:cNvPr id="8" name="Straight Connector 7"/>
          <p:cNvCxnSpPr/>
          <p:nvPr/>
        </p:nvCxnSpPr>
        <p:spPr>
          <a:xfrm flipV="1">
            <a:off x="334673" y="4870528"/>
            <a:ext cx="0" cy="914400"/>
          </a:xfrm>
          <a:prstGeom prst="line">
            <a:avLst/>
          </a:prstGeom>
          <a:ln w="60325">
            <a:solidFill>
              <a:srgbClr val="046AAA"/>
            </a:solidFill>
          </a:ln>
        </p:spPr>
        <p:style>
          <a:lnRef idx="1">
            <a:schemeClr val="accent1"/>
          </a:lnRef>
          <a:fillRef idx="0">
            <a:schemeClr val="accent1"/>
          </a:fillRef>
          <a:effectRef idx="0">
            <a:schemeClr val="accent1"/>
          </a:effectRef>
          <a:fontRef idx="minor">
            <a:schemeClr val="tx1"/>
          </a:fontRef>
        </p:style>
      </p:cxnSp>
      <p:pic>
        <p:nvPicPr>
          <p:cNvPr id="9" name="Picture 8" descr="Diagram, engineering drawing&#10;&#10;Description automatically generated">
            <a:extLst>
              <a:ext uri="{FF2B5EF4-FFF2-40B4-BE49-F238E27FC236}">
                <a16:creationId xmlns:a16="http://schemas.microsoft.com/office/drawing/2014/main" id="{AEC535E7-05A1-3106-03CA-FE81CE89F91B}"/>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14541" r="6031"/>
          <a:stretch/>
        </p:blipFill>
        <p:spPr>
          <a:xfrm>
            <a:off x="0" y="18784"/>
            <a:ext cx="12192000" cy="4572000"/>
          </a:xfrm>
          <a:prstGeom prst="rect">
            <a:avLst/>
          </a:prstGeom>
        </p:spPr>
      </p:pic>
      <p:pic>
        <p:nvPicPr>
          <p:cNvPr id="4" name="Picture 3" descr="A blue and white logo&#10;&#10;Description automatically generated">
            <a:extLst>
              <a:ext uri="{FF2B5EF4-FFF2-40B4-BE49-F238E27FC236}">
                <a16:creationId xmlns:a16="http://schemas.microsoft.com/office/drawing/2014/main" id="{E20BC1E3-5F30-6B91-A98C-EEDFAD08A1B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75648" y="5001144"/>
            <a:ext cx="2237233" cy="1348984"/>
          </a:xfrm>
          <a:prstGeom prst="rect">
            <a:avLst/>
          </a:prstGeom>
        </p:spPr>
      </p:pic>
    </p:spTree>
    <p:extLst>
      <p:ext uri="{BB962C8B-B14F-4D97-AF65-F5344CB8AC3E}">
        <p14:creationId xmlns:p14="http://schemas.microsoft.com/office/powerpoint/2010/main" val="270838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10" name="Rectangle 9"/>
          <p:cNvSpPr/>
          <p:nvPr userDrawn="1"/>
        </p:nvSpPr>
        <p:spPr>
          <a:xfrm>
            <a:off x="0" y="0"/>
            <a:ext cx="12192000" cy="4572001"/>
          </a:xfrm>
          <a:prstGeom prst="rect">
            <a:avLst/>
          </a:prstGeom>
          <a:solidFill>
            <a:srgbClr val="046AA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457199" y="4665306"/>
            <a:ext cx="7772400" cy="1308413"/>
          </a:xfrm>
        </p:spPr>
        <p:txBody>
          <a:bodyPr anchor="ctr">
            <a:normAutofit/>
          </a:bodyPr>
          <a:lstStyle>
            <a:lvl1pPr algn="l">
              <a:defRPr sz="3600" spc="200" baseline="0"/>
            </a:lvl1pPr>
          </a:lstStyle>
          <a:p>
            <a:r>
              <a:rPr lang="en-GB" dirty="0"/>
              <a:t>Click to edit heading</a:t>
            </a:r>
            <a:endParaRPr lang="en-US" dirty="0"/>
          </a:p>
        </p:txBody>
      </p:sp>
      <p:sp>
        <p:nvSpPr>
          <p:cNvPr id="3" name="Subtitle 2"/>
          <p:cNvSpPr>
            <a:spLocks noGrp="1"/>
          </p:cNvSpPr>
          <p:nvPr>
            <p:ph type="subTitle" idx="1" hasCustomPrompt="1"/>
          </p:nvPr>
        </p:nvSpPr>
        <p:spPr>
          <a:xfrm>
            <a:off x="457199" y="6020353"/>
            <a:ext cx="7772399" cy="674129"/>
          </a:xfrm>
          <a:prstGeom prst="rect">
            <a:avLst/>
          </a:prstGeom>
        </p:spPr>
        <p:txBody>
          <a:bodyPr lIns="91440" rIns="91440" anchor="ctr">
            <a:normAutofit/>
          </a:bodyPr>
          <a:lstStyle>
            <a:lvl1pPr marL="0" indent="0" algn="l">
              <a:lnSpc>
                <a:spcPct val="100000"/>
              </a:lnSpc>
              <a:spcBef>
                <a:spcPts val="0"/>
              </a:spcBef>
              <a:buNone/>
              <a:defRPr sz="24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dirty="0"/>
              <a:t>Click to edit subtitle</a:t>
            </a:r>
            <a:endParaRPr lang="en-US" dirty="0"/>
          </a:p>
        </p:txBody>
      </p:sp>
      <p:cxnSp>
        <p:nvCxnSpPr>
          <p:cNvPr id="8" name="Straight Connector 7"/>
          <p:cNvCxnSpPr/>
          <p:nvPr/>
        </p:nvCxnSpPr>
        <p:spPr>
          <a:xfrm flipV="1">
            <a:off x="228348" y="4870528"/>
            <a:ext cx="0" cy="914400"/>
          </a:xfrm>
          <a:prstGeom prst="line">
            <a:avLst/>
          </a:prstGeom>
          <a:ln w="44450">
            <a:solidFill>
              <a:srgbClr val="046AAA"/>
            </a:solidFill>
          </a:ln>
        </p:spPr>
        <p:style>
          <a:lnRef idx="1">
            <a:schemeClr val="accent1"/>
          </a:lnRef>
          <a:fillRef idx="0">
            <a:schemeClr val="accent1"/>
          </a:fillRef>
          <a:effectRef idx="0">
            <a:schemeClr val="accent1"/>
          </a:effectRef>
          <a:fontRef idx="minor">
            <a:schemeClr val="tx1"/>
          </a:fontRef>
        </p:style>
      </p:cxnSp>
      <p:pic>
        <p:nvPicPr>
          <p:cNvPr id="12" name="Picture 11" descr="A blue and white logo&#10;&#10;Description automatically generated">
            <a:extLst>
              <a:ext uri="{FF2B5EF4-FFF2-40B4-BE49-F238E27FC236}">
                <a16:creationId xmlns:a16="http://schemas.microsoft.com/office/drawing/2014/main" id="{73FDA91B-6B8D-6C56-06AE-FDAAB237A5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7670" y="4870528"/>
            <a:ext cx="2472059" cy="1490577"/>
          </a:xfrm>
          <a:prstGeom prst="rect">
            <a:avLst/>
          </a:prstGeom>
        </p:spPr>
      </p:pic>
    </p:spTree>
    <p:extLst>
      <p:ext uri="{BB962C8B-B14F-4D97-AF65-F5344CB8AC3E}">
        <p14:creationId xmlns:p14="http://schemas.microsoft.com/office/powerpoint/2010/main" val="2868002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normAutofit/>
          </a:bodyPr>
          <a:lstStyle>
            <a:lvl1pPr>
              <a:defRPr sz="3600"/>
            </a:lvl1pPr>
          </a:lstStyle>
          <a:p>
            <a:r>
              <a:rPr lang="en-GB" dirty="0"/>
              <a:t>Click to edit Master title style</a:t>
            </a:r>
            <a:endParaRPr lang="en-US" dirty="0"/>
          </a:p>
        </p:txBody>
      </p:sp>
      <p:sp>
        <p:nvSpPr>
          <p:cNvPr id="5" name="Slide Number Placeholder 5">
            <a:extLst>
              <a:ext uri="{FF2B5EF4-FFF2-40B4-BE49-F238E27FC236}">
                <a16:creationId xmlns:a16="http://schemas.microsoft.com/office/drawing/2014/main" id="{9EB7D868-2676-D940-84A9-1D62048C5842}"/>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a:xfrm>
            <a:off x="909829" y="1619249"/>
            <a:ext cx="5046518" cy="4233439"/>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a:xfrm>
            <a:off x="6235653" y="1619248"/>
            <a:ext cx="5046518" cy="4233439"/>
          </a:xfrm>
          <a:prstGeom prst="rect">
            <a:avLst/>
          </a:prstGeo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85444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603747" y="1619250"/>
            <a:ext cx="5678424" cy="4233439"/>
          </a:xfrm>
          <a:prstGeom prst="rect">
            <a:avLst/>
          </a:prstGeom>
        </p:spPr>
        <p:txBody>
          <a:bodyPr anchor="ct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Title 9">
            <a:extLst>
              <a:ext uri="{FF2B5EF4-FFF2-40B4-BE49-F238E27FC236}">
                <a16:creationId xmlns:a16="http://schemas.microsoft.com/office/drawing/2014/main" id="{576BF1A0-1B30-B080-929D-2D4F0124B1B7}"/>
              </a:ext>
            </a:extLst>
          </p:cNvPr>
          <p:cNvSpPr>
            <a:spLocks noGrp="1"/>
          </p:cNvSpPr>
          <p:nvPr>
            <p:ph type="title" hasCustomPrompt="1"/>
          </p:nvPr>
        </p:nvSpPr>
        <p:spPr>
          <a:xfrm>
            <a:off x="909829" y="428624"/>
            <a:ext cx="8434196" cy="914401"/>
          </a:xfrm>
        </p:spPr>
        <p:txBody>
          <a:bodyPr>
            <a:normAutofit/>
          </a:bodyPr>
          <a:lstStyle>
            <a:lvl1pPr>
              <a:defRPr sz="3600"/>
            </a:lvl1pPr>
          </a:lstStyle>
          <a:p>
            <a:r>
              <a:rPr lang="en-GB" dirty="0"/>
              <a:t>Click to edit title</a:t>
            </a:r>
            <a:endParaRPr lang="en-US" dirty="0"/>
          </a:p>
        </p:txBody>
      </p:sp>
      <p:sp>
        <p:nvSpPr>
          <p:cNvPr id="5" name="Slide Number Placeholder 5">
            <a:extLst>
              <a:ext uri="{FF2B5EF4-FFF2-40B4-BE49-F238E27FC236}">
                <a16:creationId xmlns:a16="http://schemas.microsoft.com/office/drawing/2014/main" id="{0BD18B8C-3B03-E70C-8B8E-166B7859E097}"/>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DF61A5FC-3684-1BAC-1114-63C491ABAD76}"/>
              </a:ext>
            </a:extLst>
          </p:cNvPr>
          <p:cNvSpPr>
            <a:spLocks noGrp="1"/>
          </p:cNvSpPr>
          <p:nvPr>
            <p:ph idx="10"/>
          </p:nvPr>
        </p:nvSpPr>
        <p:spPr>
          <a:xfrm>
            <a:off x="909829" y="1619249"/>
            <a:ext cx="4405121" cy="4233439"/>
          </a:xfrm>
          <a:prstGeom prst="rect">
            <a:avLst/>
          </a:prstGeom>
        </p:spPr>
        <p:txBody>
          <a:bodyPr anchor="ct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161346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38150"/>
            <a:ext cx="8434196" cy="914400"/>
          </a:xfrm>
        </p:spPr>
        <p:txBody>
          <a:bodyPr>
            <a:normAutofit/>
          </a:bodyPr>
          <a:lstStyle>
            <a:lvl1pPr>
              <a:defRPr sz="3600"/>
            </a:lvl1pPr>
          </a:lstStyle>
          <a:p>
            <a:r>
              <a:rPr lang="en-GB" dirty="0"/>
              <a:t>Click to edit title</a:t>
            </a:r>
            <a:endParaRPr lang="en-US" dirty="0"/>
          </a:p>
        </p:txBody>
      </p:sp>
      <p:sp>
        <p:nvSpPr>
          <p:cNvPr id="5" name="Footer Placeholder 4"/>
          <p:cNvSpPr>
            <a:spLocks noGrp="1"/>
          </p:cNvSpPr>
          <p:nvPr>
            <p:ph type="ftr" sz="quarter" idx="11"/>
          </p:nvPr>
        </p:nvSpPr>
        <p:spPr>
          <a:xfrm>
            <a:off x="1571093" y="6583680"/>
            <a:ext cx="9023755" cy="274320"/>
          </a:xfrm>
        </p:spPr>
        <p:txBody>
          <a:bodyPr/>
          <a:lstStyle/>
          <a:p>
            <a:r>
              <a:rPr lang="en-US" dirty="0"/>
              <a:t>Add sensitivity if needed</a:t>
            </a:r>
          </a:p>
        </p:txBody>
      </p:sp>
      <p:sp>
        <p:nvSpPr>
          <p:cNvPr id="6" name="Slide Number Placeholder 5">
            <a:extLst>
              <a:ext uri="{FF2B5EF4-FFF2-40B4-BE49-F238E27FC236}">
                <a16:creationId xmlns:a16="http://schemas.microsoft.com/office/drawing/2014/main" id="{21A0837A-E153-BAFA-B6F8-647E5E476D7B}"/>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pPr/>
              <a:t>‹#›</a:t>
            </a:fld>
            <a:endParaRPr lang="en-US" sz="900" dirty="0"/>
          </a:p>
        </p:txBody>
      </p:sp>
      <p:sp>
        <p:nvSpPr>
          <p:cNvPr id="8" name="Content Placeholder 7">
            <a:extLst>
              <a:ext uri="{FF2B5EF4-FFF2-40B4-BE49-F238E27FC236}">
                <a16:creationId xmlns:a16="http://schemas.microsoft.com/office/drawing/2014/main" id="{E661F691-68A2-ACF8-5D27-3F5571B6FD79}"/>
              </a:ext>
            </a:extLst>
          </p:cNvPr>
          <p:cNvSpPr>
            <a:spLocks noGrp="1"/>
          </p:cNvSpPr>
          <p:nvPr>
            <p:ph sz="quarter" idx="12"/>
          </p:nvPr>
        </p:nvSpPr>
        <p:spPr>
          <a:xfrm>
            <a:off x="4138613" y="1550608"/>
            <a:ext cx="7015162" cy="4263106"/>
          </a:xfrm>
          <a:prstGeom prst="rect">
            <a:avLst/>
          </a:prstGeom>
        </p:spPr>
        <p:txBody>
          <a:bodyPr anchor="ct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DE622849-4EA7-24AE-DD96-E693EAA81594}"/>
              </a:ext>
            </a:extLst>
          </p:cNvPr>
          <p:cNvSpPr>
            <a:spLocks noGrp="1"/>
          </p:cNvSpPr>
          <p:nvPr>
            <p:ph type="body" sz="quarter" idx="13"/>
          </p:nvPr>
        </p:nvSpPr>
        <p:spPr>
          <a:xfrm>
            <a:off x="909638" y="1550988"/>
            <a:ext cx="2997200" cy="4262437"/>
          </a:xfrm>
        </p:spPr>
        <p:txBody>
          <a:bodyPr anchor="ct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40479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72376C-BD00-0C21-7B68-8BAE977B9504}"/>
              </a:ext>
            </a:extLst>
          </p:cNvPr>
          <p:cNvSpPr>
            <a:spLocks noGrp="1"/>
          </p:cNvSpPr>
          <p:nvPr>
            <p:ph type="dt" sz="half" idx="10"/>
          </p:nvPr>
        </p:nvSpPr>
        <p:spPr/>
        <p:txBody>
          <a:bodyPr/>
          <a:lstStyle/>
          <a:p>
            <a:fld id="{0EB35C0E-E263-0848-A698-EE526CA39358}" type="datetimeFigureOut">
              <a:rPr lang="en-US" smtClean="0"/>
              <a:t>5/21/2024</a:t>
            </a:fld>
            <a:endParaRPr lang="en-US" dirty="0"/>
          </a:p>
        </p:txBody>
      </p:sp>
      <p:sp>
        <p:nvSpPr>
          <p:cNvPr id="3" name="Footer Placeholder 2">
            <a:extLst>
              <a:ext uri="{FF2B5EF4-FFF2-40B4-BE49-F238E27FC236}">
                <a16:creationId xmlns:a16="http://schemas.microsoft.com/office/drawing/2014/main" id="{E1864193-C369-71B1-B4FE-84F03344DB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2168E-40A1-A3C5-5A84-C324B159CB54}"/>
              </a:ext>
            </a:extLst>
          </p:cNvPr>
          <p:cNvSpPr>
            <a:spLocks noGrp="1"/>
          </p:cNvSpPr>
          <p:nvPr>
            <p:ph type="sldNum" sz="quarter" idx="12"/>
          </p:nvPr>
        </p:nvSpPr>
        <p:spPr/>
        <p:txBody>
          <a:bodyPr/>
          <a:lstStyle/>
          <a:p>
            <a:fld id="{E3393662-164E-B74F-8D60-B4DF4EEC9759}" type="slidenum">
              <a:rPr lang="en-US" smtClean="0"/>
              <a:t>‹#›</a:t>
            </a:fld>
            <a:endParaRPr lang="en-US"/>
          </a:p>
        </p:txBody>
      </p:sp>
    </p:spTree>
    <p:extLst>
      <p:ext uri="{BB962C8B-B14F-4D97-AF65-F5344CB8AC3E}">
        <p14:creationId xmlns:p14="http://schemas.microsoft.com/office/powerpoint/2010/main" val="3850935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09829" y="403765"/>
            <a:ext cx="8434196" cy="976056"/>
          </a:xfrm>
        </p:spPr>
        <p:txBody>
          <a:bodyPr>
            <a:normAutofit/>
          </a:bodyPr>
          <a:lstStyle>
            <a:lvl1pPr>
              <a:defRPr sz="3600"/>
            </a:lvl1pPr>
          </a:lstStyle>
          <a:p>
            <a:r>
              <a:rPr lang="en-GB" dirty="0"/>
              <a:t>Click to edit title</a:t>
            </a:r>
            <a:endParaRPr lang="en-US" dirty="0"/>
          </a:p>
        </p:txBody>
      </p:sp>
      <p:sp>
        <p:nvSpPr>
          <p:cNvPr id="3" name="Content Placeholder 2"/>
          <p:cNvSpPr>
            <a:spLocks noGrp="1"/>
          </p:cNvSpPr>
          <p:nvPr>
            <p:ph idx="1"/>
          </p:nvPr>
        </p:nvSpPr>
        <p:spPr>
          <a:xfrm>
            <a:off x="909828" y="1737360"/>
            <a:ext cx="10420160" cy="4089281"/>
          </a:xfrm>
          <a:prstGeom prst="rect">
            <a:avLst/>
          </a:prstGeom>
        </p:spPr>
        <p:txBody>
          <a:bodyPr>
            <a:normAutofit/>
          </a:bodyPr>
          <a:lstStyle>
            <a:lvl1pPr>
              <a:defRPr sz="1800"/>
            </a:lvl1pPr>
            <a:lvl2pPr>
              <a:defRPr sz="1800"/>
            </a:lvl2pPr>
            <a:lvl3pPr>
              <a:defRPr sz="1800"/>
            </a:lvl3pPr>
            <a:lvl4pPr>
              <a:defRPr sz="1800"/>
            </a:lvl4pPr>
            <a:lvl5pPr>
              <a:defRPr sz="18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Slide Number Placeholder 5">
            <a:extLst>
              <a:ext uri="{FF2B5EF4-FFF2-40B4-BE49-F238E27FC236}">
                <a16:creationId xmlns:a16="http://schemas.microsoft.com/office/drawing/2014/main" id="{EF6E56E1-9EDB-5EE5-A17D-D1CA9626D67B}"/>
              </a:ext>
            </a:extLst>
          </p:cNvPr>
          <p:cNvSpPr txBox="1">
            <a:spLocks/>
          </p:cNvSpPr>
          <p:nvPr userDrawn="1"/>
        </p:nvSpPr>
        <p:spPr>
          <a:xfrm>
            <a:off x="5926093" y="6358128"/>
            <a:ext cx="338137" cy="27432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95000"/>
                    <a:lumOff val="5000"/>
                  </a:schemeClr>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20FAE58-AEA8-F047-B98D-7B2B3D014012}" type="slidenum">
              <a:rPr lang="en-US" sz="900" smtClean="0">
                <a:latin typeface="Arial" panose="020B0604020202020204" pitchFamily="34" charset="0"/>
                <a:cs typeface="Arial" panose="020B0604020202020204" pitchFamily="34" charset="0"/>
              </a:rPr>
              <a:pPr/>
              <a:t>‹#›</a:t>
            </a:fld>
            <a:endParaRPr lang="en-US" sz="9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AE104E18-8379-D7A8-EB57-3A892E5A1EC5}"/>
              </a:ext>
            </a:extLst>
          </p:cNvPr>
          <p:cNvSpPr/>
          <p:nvPr userDrawn="1"/>
        </p:nvSpPr>
        <p:spPr>
          <a:xfrm>
            <a:off x="9818655" y="237744"/>
            <a:ext cx="2043115" cy="14996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white logo&#10;&#10;Description automatically generated">
            <a:extLst>
              <a:ext uri="{FF2B5EF4-FFF2-40B4-BE49-F238E27FC236}">
                <a16:creationId xmlns:a16="http://schemas.microsoft.com/office/drawing/2014/main" id="{F56D429E-DF34-7BA9-913A-6A66F93118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15575" y="403765"/>
            <a:ext cx="1478709" cy="891617"/>
          </a:xfrm>
          <a:prstGeom prst="rect">
            <a:avLst/>
          </a:prstGeom>
        </p:spPr>
      </p:pic>
    </p:spTree>
    <p:extLst>
      <p:ext uri="{BB962C8B-B14F-4D97-AF65-F5344CB8AC3E}">
        <p14:creationId xmlns:p14="http://schemas.microsoft.com/office/powerpoint/2010/main" val="246832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theme/theme1.xml" Type="http://schemas.openxmlformats.org/officeDocument/2006/relationships/theme" /><Relationship Id="rId3" Target="../slideLayouts/slideLayout3.xml" Type="http://schemas.openxmlformats.org/officeDocument/2006/relationships/slideLayout" /><Relationship Id="rId7" Target="../slideLayouts/slideLayout7.xml" Type="http://schemas.openxmlformats.org/officeDocument/2006/relationships/slideLayout"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5" Target="../slideLayouts/slideLayout5.xml" Type="http://schemas.openxmlformats.org/officeDocument/2006/relationships/slideLayout" /><Relationship Id="rId4" Target="../slideLayouts/slideLayout4.xml" Type="http://schemas.openxmlformats.org/officeDocument/2006/relationships/slideLayout" /><Relationship Id="rId9" Target="../media/image2.PN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456AE61C-CB53-A51B-2E3D-419A782B4757}"/>
              </a:ext>
            </a:extLst>
          </p:cNvPr>
          <p:cNvSpPr txBox="1">
            <a:spLocks/>
          </p:cNvSpPr>
          <p:nvPr userDrawn="1"/>
        </p:nvSpPr>
        <p:spPr>
          <a:xfrm>
            <a:off x="909828" y="1619249"/>
            <a:ext cx="10420159" cy="4233439"/>
          </a:xfrm>
          <a:prstGeom prst="rect">
            <a:avLst/>
          </a:prstGeom>
        </p:spPr>
        <p:txBody>
          <a:bodyPr>
            <a:normAutofit/>
          </a:bodyPr>
          <a:lstStyle>
            <a:lvl1pPr algn="l" defTabSz="914400" eaLnBrk="1" hangingPunct="1" indent="-91440" latinLnBrk="0" marL="91440" rtl="0">
              <a:lnSpc>
                <a:spcPct val="90000"/>
              </a:lnSpc>
              <a:spcBef>
                <a:spcPts val="1200"/>
              </a:spcBef>
              <a:spcAft>
                <a:spcPts val="200"/>
              </a:spcAft>
              <a:buClr>
                <a:schemeClr val="accent1"/>
              </a:buClr>
              <a:buSzPct val="100000"/>
              <a:buFont charset="0" panose="020B0602020104020603" pitchFamily="34" typeface="Tw Cen MT"/>
              <a:buChar char=" "/>
              <a:defRPr kern="1200" sz="1800">
                <a:solidFill>
                  <a:schemeClr val="tx1"/>
                </a:solidFill>
                <a:latin charset="0" panose="020B0004020202020204" pitchFamily="34" typeface="Aptos"/>
                <a:ea typeface="+mn-ea"/>
                <a:cs charset="0" panose="020B0604020202020204" pitchFamily="34" typeface="Arial"/>
              </a:defRPr>
            </a:lvl1pPr>
            <a:lvl2pPr algn="l" defTabSz="914400" eaLnBrk="1" hangingPunct="1" indent="-137160" latinLnBrk="0" marL="265176"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2pPr>
            <a:lvl3pPr algn="l" defTabSz="914400" eaLnBrk="1" hangingPunct="1" indent="-137160" latinLnBrk="0" marL="448056"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3pPr>
            <a:lvl4pPr algn="l" defTabSz="914400" eaLnBrk="1" hangingPunct="1" indent="-137160" latinLnBrk="0" marL="594360"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4pPr>
            <a:lvl5pPr algn="l" defTabSz="914400" eaLnBrk="1" hangingPunct="1" indent="-137160" latinLnBrk="0" marL="777240"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5pPr>
            <a:lvl6pPr algn="l" defTabSz="914400" eaLnBrk="1" hangingPunct="1" indent="-137160" latinLnBrk="0" marL="914400"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6pPr>
            <a:lvl7pPr algn="l" defTabSz="914400" eaLnBrk="1" hangingPunct="1" indent="-137160" latinLnBrk="0" marL="1060704"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7pPr>
            <a:lvl8pPr algn="l" defTabSz="914400" eaLnBrk="1" hangingPunct="1" indent="-137160" latinLnBrk="0" marL="1216152"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8pPr>
            <a:lvl9pPr algn="l" defTabSz="914400" eaLnBrk="1" hangingPunct="1" indent="-137160" latinLnBrk="0" marL="1362456" rtl="0">
              <a:lnSpc>
                <a:spcPct val="90000"/>
              </a:lnSpc>
              <a:spcBef>
                <a:spcPts val="200"/>
              </a:spcBef>
              <a:spcAft>
                <a:spcPts val="400"/>
              </a:spcAft>
              <a:buClr>
                <a:schemeClr val="accent1"/>
              </a:buClr>
              <a:buFont charset="2" pitchFamily="18" typeface="Wingdings 3"/>
              <a:buChar char=""/>
              <a:defRPr kern="1200" sz="1600">
                <a:solidFill>
                  <a:schemeClr val="tx1"/>
                </a:solidFill>
                <a:latin typeface="+mn-lt"/>
                <a:ea typeface="+mn-ea"/>
                <a:cs typeface="+mn-cs"/>
              </a:defRPr>
            </a:lvl9pPr>
          </a:lstStyle>
          <a:p>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lang="en-US"/>
          </a:p>
        </p:txBody>
      </p:sp>
      <p:pic>
        <p:nvPicPr>
          <p:cNvPr descr="A blue line with a white background" id="8" name="Picture 7">
            <a:extLst>
              <a:ext uri="{FF2B5EF4-FFF2-40B4-BE49-F238E27FC236}">
                <a16:creationId xmlns:a16="http://schemas.microsoft.com/office/drawing/2014/main" id="{F5E63812-AC84-AA97-7086-F862611574A6}"/>
              </a:ext>
            </a:extLst>
          </p:cNvPr>
          <p:cNvPicPr>
            <a:picLocks noChangeAspect="1"/>
          </p:cNvPicPr>
          <p:nvPr userDrawn="1"/>
        </p:nvPicPr>
        <p:blipFill rotWithShape="1">
          <a:blip r:embed="rId9"/>
          <a:srcRect r="942"/>
          <a:stretch/>
        </p:blipFill>
        <p:spPr>
          <a:xfrm>
            <a:off x="11875" y="11875"/>
            <a:ext cx="12259269" cy="6858000"/>
          </a:xfrm>
          <a:prstGeom prst="rect">
            <a:avLst/>
          </a:prstGeom>
        </p:spPr>
      </p:pic>
      <p:sp>
        <p:nvSpPr>
          <p:cNvPr id="2" name="Title Placeholder 1"/>
          <p:cNvSpPr>
            <a:spLocks noGrp="1"/>
          </p:cNvSpPr>
          <p:nvPr>
            <p:ph type="title"/>
          </p:nvPr>
        </p:nvSpPr>
        <p:spPr>
          <a:xfrm>
            <a:off x="909829" y="429900"/>
            <a:ext cx="8434196" cy="914400"/>
          </a:xfrm>
          <a:prstGeom prst="rect">
            <a:avLst/>
          </a:prstGeom>
        </p:spPr>
        <p:txBody>
          <a:bodyPr anchor="ctr" bIns="45720" lIns="91440" rIns="91440" rtlCol="0" tIns="45720" vert="horz">
            <a:normAutofit/>
          </a:bodyPr>
          <a:lstStyle/>
          <a:p>
            <a:r>
              <a:rPr dirty="0" lang="en-GB"/>
              <a:t>Click to edit title</a:t>
            </a:r>
            <a:endParaRPr dirty="0" lang="en-US"/>
          </a:p>
        </p:txBody>
      </p:sp>
      <p:sp>
        <p:nvSpPr>
          <p:cNvPr id="3" name="Text Placeholder 2"/>
          <p:cNvSpPr>
            <a:spLocks noGrp="1"/>
          </p:cNvSpPr>
          <p:nvPr>
            <p:ph idx="1" type="body"/>
          </p:nvPr>
        </p:nvSpPr>
        <p:spPr>
          <a:xfrm>
            <a:off x="909828" y="1695450"/>
            <a:ext cx="10420160" cy="4033838"/>
          </a:xfrm>
          <a:prstGeom prst="rect">
            <a:avLst/>
          </a:prstGeom>
        </p:spPr>
        <p:txBody>
          <a:bodyPr bIns="45720" lIns="45720" rIns="45720" rtlCol="0" tIns="45720" vert="horz">
            <a:normAutofit/>
          </a:bodyPr>
          <a:lstStyle/>
          <a:p>
            <a:pPr lvl="0"/>
            <a:r>
              <a:rPr dirty="0" lang="en-GB"/>
              <a:t>Click to edit Master text styles</a:t>
            </a:r>
          </a:p>
          <a:p>
            <a:pPr lvl="1"/>
            <a:r>
              <a:rPr dirty="0" lang="en-GB"/>
              <a:t>Second level</a:t>
            </a:r>
          </a:p>
          <a:p>
            <a:pPr lvl="2"/>
            <a:r>
              <a:rPr dirty="0" lang="en-GB"/>
              <a:t>Third level</a:t>
            </a:r>
          </a:p>
          <a:p>
            <a:pPr lvl="3"/>
            <a:r>
              <a:rPr dirty="0" lang="en-GB"/>
              <a:t>Fourth level</a:t>
            </a:r>
          </a:p>
          <a:p>
            <a:pPr lvl="4"/>
            <a:r>
              <a:rPr dirty="0" lang="en-GB"/>
              <a:t>Fifth level</a:t>
            </a:r>
            <a:endParaRPr dirty="0" lang="en-US"/>
          </a:p>
        </p:txBody>
      </p:sp>
      <p:sp>
        <p:nvSpPr>
          <p:cNvPr id="5" name="Footer Placeholder 4"/>
          <p:cNvSpPr>
            <a:spLocks noGrp="1"/>
          </p:cNvSpPr>
          <p:nvPr>
            <p:ph idx="3" sz="quarter" type="ftr"/>
          </p:nvPr>
        </p:nvSpPr>
        <p:spPr>
          <a:xfrm>
            <a:off x="1571093" y="6583680"/>
            <a:ext cx="8430155" cy="274320"/>
          </a:xfrm>
          <a:prstGeom prst="rect">
            <a:avLst/>
          </a:prstGeom>
        </p:spPr>
        <p:txBody>
          <a:bodyPr anchor="ctr" bIns="45720" lIns="91440" rIns="91440" rtlCol="0" tIns="45720" vert="horz"/>
          <a:lstStyle>
            <a:lvl1pPr algn="ctr">
              <a:defRPr baseline="0" cap="none" sz="1000">
                <a:solidFill>
                  <a:schemeClr val="tx1"/>
                </a:solidFill>
                <a:latin charset="0" panose="020F0502020204030204" pitchFamily="34" typeface="Calibri"/>
                <a:cs charset="0" panose="020F0502020204030204" pitchFamily="34" typeface="Calibri"/>
              </a:defRPr>
            </a:lvl1pPr>
          </a:lstStyle>
          <a:p>
            <a:r>
              <a:rPr dirty="0" lang="en-US"/>
              <a:t>Add sensitivity level here if required</a:t>
            </a:r>
          </a:p>
        </p:txBody>
      </p:sp>
      <p:sp>
        <p:nvSpPr>
          <p:cNvPr id="6" name="Slide Number Placeholder 5"/>
          <p:cNvSpPr>
            <a:spLocks noGrp="1"/>
          </p:cNvSpPr>
          <p:nvPr>
            <p:ph idx="4" sz="quarter" type="sldNum"/>
          </p:nvPr>
        </p:nvSpPr>
        <p:spPr>
          <a:xfrm>
            <a:off x="5740641" y="6309360"/>
            <a:ext cx="338137" cy="274320"/>
          </a:xfrm>
          <a:prstGeom prst="rect">
            <a:avLst/>
          </a:prstGeom>
        </p:spPr>
        <p:txBody>
          <a:bodyPr anchor="ctr" bIns="45720" lIns="91440" rIns="91440" rtlCol="0" tIns="45720" vert="horz"/>
          <a:lstStyle>
            <a:lvl1pPr algn="l">
              <a:defRPr sz="900">
                <a:solidFill>
                  <a:schemeClr val="tx1">
                    <a:lumMod val="95000"/>
                    <a:lumOff val="5000"/>
                  </a:schemeClr>
                </a:solidFill>
                <a:latin charset="0" panose="020B0604020202020204" pitchFamily="34" typeface="Arial"/>
                <a:cs charset="0" panose="020B0604020202020204" pitchFamily="34" typeface="Arial"/>
              </a:defRPr>
            </a:lvl1pPr>
          </a:lstStyle>
          <a:p>
            <a:fld id="{520FAE58-AEA8-F047-B98D-7B2B3D014012}" type="slidenum">
              <a:rPr lang="en-US" smtClean="0"/>
              <a:pPr/>
              <a:t>‹#›</a:t>
            </a:fld>
            <a:endParaRPr dirty="0" lang="en-US"/>
          </a:p>
        </p:txBody>
      </p:sp>
      <p:cxnSp>
        <p:nvCxnSpPr>
          <p:cNvPr id="7" name="Straight Connector 6"/>
          <p:cNvCxnSpPr/>
          <p:nvPr/>
        </p:nvCxnSpPr>
        <p:spPr>
          <a:xfrm flipV="1">
            <a:off x="539373" y="429900"/>
            <a:ext cx="0" cy="914400"/>
          </a:xfrm>
          <a:prstGeom prst="line">
            <a:avLst/>
          </a:prstGeom>
          <a:ln w="44450">
            <a:solidFill>
              <a:srgbClr val="046AA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0655971"/>
      </p:ext>
    </p:extLst>
  </p:cSld>
  <p:clrMap accent1="accent1" accent2="accent2" accent3="accent3" accent4="accent4" accent5="accent5" accent6="accent6" bg1="lt1" bg2="lt2" folHlink="folHlink" hlink="hlink" tx1="dk1" tx2="dk2"/>
  <p:sldLayoutIdLst>
    <p:sldLayoutId id="2147483661" r:id="rId1"/>
    <p:sldLayoutId id="2147483672" r:id="rId2"/>
    <p:sldLayoutId id="2147483664" r:id="rId3"/>
    <p:sldLayoutId id="2147483668" r:id="rId4"/>
    <p:sldLayoutId id="2147483673" r:id="rId5"/>
    <p:sldLayoutId id="2147483736" r:id="rId6"/>
    <p:sldLayoutId id="2147483662" r:id="rId7"/>
  </p:sldLayoutIdLst>
  <p:txStyles>
    <p:titleStyle>
      <a:lvl1pPr algn="l" defTabSz="914400" eaLnBrk="1" hangingPunct="1" latinLnBrk="0" rtl="0">
        <a:lnSpc>
          <a:spcPct val="80000"/>
        </a:lnSpc>
        <a:spcBef>
          <a:spcPct val="0"/>
        </a:spcBef>
        <a:buNone/>
        <a:defRPr b="1" baseline="0" cap="none" kern="1200" spc="100" sz="3600">
          <a:solidFill>
            <a:schemeClr val="tx1">
              <a:lumMod val="95000"/>
              <a:lumOff val="5000"/>
            </a:schemeClr>
          </a:solidFill>
          <a:latin charset="0" panose="020F0502020204030204" pitchFamily="34" typeface="Aptos ExtraBold"/>
          <a:ea typeface="+mj-ea"/>
          <a:cs charset="0" panose="020B0604020202020204" pitchFamily="34" typeface="Arial"/>
        </a:defRPr>
      </a:lvl1pPr>
    </p:titleStyle>
    <p:bodyStyle>
      <a:lvl1pPr algn="l" defTabSz="914400" eaLnBrk="1" hangingPunct="1" indent="-91440" latinLnBrk="0" marL="91440" rtl="0">
        <a:lnSpc>
          <a:spcPct val="90000"/>
        </a:lnSpc>
        <a:spcBef>
          <a:spcPts val="1200"/>
        </a:spcBef>
        <a:spcAft>
          <a:spcPts val="200"/>
        </a:spcAft>
        <a:buClr>
          <a:schemeClr val="accent1"/>
        </a:buClr>
        <a:buSzPct val="100000"/>
        <a:buFont charset="0" panose="020B0602020104020603" pitchFamily="34" typeface="Tw Cen MT"/>
        <a:buChar char=" "/>
        <a:defRPr kern="1200" sz="2200">
          <a:solidFill>
            <a:schemeClr val="tx1"/>
          </a:solidFill>
          <a:latin charset="0" panose="020B0004020202020204" pitchFamily="34" typeface="Aptos"/>
          <a:ea typeface="+mn-ea"/>
          <a:cs charset="0" panose="020B0604020202020204" pitchFamily="34" typeface="Arial"/>
        </a:defRPr>
      </a:lvl1pPr>
      <a:lvl2pPr algn="l" defTabSz="914400" eaLnBrk="1" hangingPunct="1" indent="-137160" latinLnBrk="0" marL="265176" rtl="0">
        <a:lnSpc>
          <a:spcPct val="90000"/>
        </a:lnSpc>
        <a:spcBef>
          <a:spcPts val="200"/>
        </a:spcBef>
        <a:spcAft>
          <a:spcPts val="400"/>
        </a:spcAft>
        <a:buClr>
          <a:schemeClr val="accent1"/>
        </a:buClr>
        <a:buFont charset="2" pitchFamily="18" typeface="Wingdings 3"/>
        <a:buChar char=""/>
        <a:defRPr kern="1200" sz="1800">
          <a:solidFill>
            <a:schemeClr val="tx1"/>
          </a:solidFill>
          <a:latin charset="0" panose="020B0004020202020204" pitchFamily="34" typeface="Aptos"/>
          <a:ea typeface="+mn-ea"/>
          <a:cs charset="0" panose="020B0604020202020204" pitchFamily="34" typeface="Arial"/>
        </a:defRPr>
      </a:lvl2pPr>
      <a:lvl3pPr algn="l" defTabSz="914400" eaLnBrk="1" hangingPunct="1" indent="-137160" latinLnBrk="0" marL="448056" rtl="0">
        <a:lnSpc>
          <a:spcPct val="90000"/>
        </a:lnSpc>
        <a:spcBef>
          <a:spcPts val="200"/>
        </a:spcBef>
        <a:spcAft>
          <a:spcPts val="400"/>
        </a:spcAft>
        <a:buClr>
          <a:schemeClr val="accent1"/>
        </a:buClr>
        <a:buFont charset="2" pitchFamily="18" typeface="Wingdings 3"/>
        <a:buChar char=""/>
        <a:defRPr kern="1200" sz="1400">
          <a:solidFill>
            <a:schemeClr val="tx1"/>
          </a:solidFill>
          <a:latin charset="0" panose="020B0004020202020204" pitchFamily="34" typeface="Aptos"/>
          <a:ea typeface="+mn-ea"/>
          <a:cs charset="0" panose="020B0604020202020204" pitchFamily="34" typeface="Arial"/>
        </a:defRPr>
      </a:lvl3pPr>
      <a:lvl4pPr algn="l" defTabSz="914400" eaLnBrk="1" hangingPunct="1" indent="-137160" latinLnBrk="0" marL="594360" rtl="0">
        <a:lnSpc>
          <a:spcPct val="90000"/>
        </a:lnSpc>
        <a:spcBef>
          <a:spcPts val="200"/>
        </a:spcBef>
        <a:spcAft>
          <a:spcPts val="400"/>
        </a:spcAft>
        <a:buClr>
          <a:schemeClr val="accent1"/>
        </a:buClr>
        <a:buFont charset="2" pitchFamily="18" typeface="Wingdings 3"/>
        <a:buChar char=""/>
        <a:defRPr kern="1200" sz="1400">
          <a:solidFill>
            <a:schemeClr val="tx1"/>
          </a:solidFill>
          <a:latin charset="0" panose="020B0004020202020204" pitchFamily="34" typeface="Aptos"/>
          <a:ea typeface="+mn-ea"/>
          <a:cs charset="0" panose="020B0604020202020204" pitchFamily="34" typeface="Arial"/>
        </a:defRPr>
      </a:lvl4pPr>
      <a:lvl5pPr algn="l" defTabSz="914400" eaLnBrk="1" hangingPunct="1" indent="-137160" latinLnBrk="0" marL="777240" rtl="0">
        <a:lnSpc>
          <a:spcPct val="90000"/>
        </a:lnSpc>
        <a:spcBef>
          <a:spcPts val="200"/>
        </a:spcBef>
        <a:spcAft>
          <a:spcPts val="400"/>
        </a:spcAft>
        <a:buClr>
          <a:schemeClr val="accent1"/>
        </a:buClr>
        <a:buFont charset="2" pitchFamily="18" typeface="Wingdings 3"/>
        <a:buChar char=""/>
        <a:defRPr kern="1200" sz="1400">
          <a:solidFill>
            <a:schemeClr val="tx1"/>
          </a:solidFill>
          <a:latin charset="0" panose="020B0004020202020204" pitchFamily="34" typeface="Aptos"/>
          <a:ea typeface="+mn-ea"/>
          <a:cs charset="0" panose="020B0604020202020204" pitchFamily="34" typeface="Arial"/>
        </a:defRPr>
      </a:lvl5pPr>
      <a:lvl6pPr algn="l" defTabSz="914400" eaLnBrk="1" hangingPunct="1" indent="-137160" latinLnBrk="0" marL="914400"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6pPr>
      <a:lvl7pPr algn="l" defTabSz="914400" eaLnBrk="1" hangingPunct="1" indent="-137160" latinLnBrk="0" marL="1060704"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7pPr>
      <a:lvl8pPr algn="l" defTabSz="914400" eaLnBrk="1" hangingPunct="1" indent="-137160" latinLnBrk="0" marL="1216152"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8pPr>
      <a:lvl9pPr algn="l" defTabSz="914400" eaLnBrk="1" hangingPunct="1" indent="-137160" latinLnBrk="0" marL="1362456" rtl="0">
        <a:lnSpc>
          <a:spcPct val="90000"/>
        </a:lnSpc>
        <a:spcBef>
          <a:spcPts val="200"/>
        </a:spcBef>
        <a:spcAft>
          <a:spcPts val="400"/>
        </a:spcAft>
        <a:buClr>
          <a:schemeClr val="accent1"/>
        </a:buClr>
        <a:buFont charset="2" pitchFamily="18" typeface="Wingdings 3"/>
        <a:buChar char=""/>
        <a:defRPr kern="1200" sz="14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6.jpg" /></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7.jpg" /></Relationships>
</file>

<file path=ppt/slides/_rels/slide15.xml.rels><?xml version="1.0" encoding="UTF-8"?><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9.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3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3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image" Target="../media/image3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3.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4.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5.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6.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7.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8.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9.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0.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1.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2.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3.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4.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8" y="4624736"/>
            <a:ext cx="8406375" cy="1348983"/>
          </a:xfrm>
        </p:spPr>
        <p:txBody>
          <a:bodyPr/>
          <a:lstStyle/>
          <a:p>
            <a:pPr lvl="0" indent="0" marL="0">
              <a:buNone/>
            </a:pPr>
            <a:r>
              <a:rPr/>
              <a:t>Quantifying the impacts of hospitals increasing single bed room provision</a:t>
            </a:r>
          </a:p>
        </p:txBody>
      </p:sp>
      <p:sp>
        <p:nvSpPr>
          <p:cNvPr id="3" name="Subtitle 2"/>
          <p:cNvSpPr>
            <a:spLocks noGrp="1"/>
          </p:cNvSpPr>
          <p:nvPr>
            <p:ph hasCustomPrompt="1" idx="1" type="subTitle"/>
          </p:nvPr>
        </p:nvSpPr>
        <p:spPr>
          <a:xfrm>
            <a:off x="457199" y="6020353"/>
            <a:ext cx="8406374" cy="674129"/>
          </a:xfrm>
          <a:prstGeom prst="rect">
            <a:avLst/>
          </a:prstGeom>
        </p:spPr>
        <p:txBody>
          <a:bodyPr/>
          <a:lstStyle/>
          <a:p>
            <a:pPr lvl="0" indent="0" marL="0">
              <a:buNone/>
            </a:pPr>
            <a:br/>
            <a:br/>
            <a:r>
              <a:rPr/>
              <a:t>Andy Hood | Analytics Manager | Strategy Unit | May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1. Executive Summary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1.1 (1)</a:t>
            </a:r>
          </a:p>
        </p:txBody>
      </p:sp>
      <p:sp>
        <p:nvSpPr>
          <p:cNvPr id="3" name="Content Placeholder 2"/>
          <p:cNvSpPr>
            <a:spLocks noGrp="1"/>
          </p:cNvSpPr>
          <p:nvPr>
            <p:ph idx="1"/>
          </p:nvPr>
        </p:nvSpPr>
        <p:spPr/>
        <p:txBody>
          <a:bodyPr/>
          <a:lstStyle/>
          <a:p>
            <a:pPr lvl="0"/>
            <a:r>
              <a:rPr/>
              <a:t>The NHP program advocates for a majority single-bedded inpatient room (SBR) design for new hospitals.</a:t>
            </a:r>
          </a:p>
          <a:p>
            <a:pPr lvl="0"/>
            <a:r>
              <a:rPr/>
              <a:t>There is a planning assumption that doing so will reduce average inpatient lengths of stay (circa 12%).</a:t>
            </a:r>
          </a:p>
          <a:p>
            <a:pPr lvl="0"/>
            <a:r>
              <a:rPr/>
              <a:t>Given the absence of strong and consistent evidence to support this, our challenge was to quantify changes in LoS and a range of other potential impacts for 7 natural experiments in SBR between 2010 and 2022.</a:t>
            </a:r>
          </a:p>
          <a:p>
            <a:pPr lvl="0"/>
            <a:r>
              <a:rPr/>
              <a:t>We have identified 12 impact measures from routinely collected or published data to assess for pre-post effects.</a:t>
            </a:r>
          </a:p>
          <a:p>
            <a:pPr lvl="0"/>
            <a:r>
              <a:rPr/>
              <a:t>We used an approach called Causal Impact Analysis (CIA) to detect and quantify those pre-post changes in trend.</a:t>
            </a:r>
          </a:p>
          <a:p>
            <a:pPr lvl="0"/>
            <a:r>
              <a:rPr/>
              <a:t>The results of our analysis, much like the published literature, are mixed.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1.2 (2)</a:t>
            </a:r>
          </a:p>
        </p:txBody>
      </p:sp>
      <p:sp>
        <p:nvSpPr>
          <p:cNvPr id="3" name="Content Placeholder 2"/>
          <p:cNvSpPr>
            <a:spLocks noGrp="1"/>
          </p:cNvSpPr>
          <p:nvPr>
            <p:ph idx="1"/>
          </p:nvPr>
        </p:nvSpPr>
        <p:spPr/>
        <p:txBody>
          <a:bodyPr/>
          <a:lstStyle/>
          <a:p>
            <a:pPr lvl="0" indent="0" marL="0">
              <a:buNone/>
            </a:pPr>
            <a:r>
              <a:rPr/>
              <a:t>There were no overall significant findings in relation to impacts of changes to SBR provision, although there were instances of significant impact on some measures at individual sites. There are contextual factors not accounted for within our analysis which will likely have exacerbated or mitigated the effects.</a:t>
            </a:r>
          </a:p>
          <a:p>
            <a:pPr lvl="0" indent="0" marL="0">
              <a:buNone/>
            </a:pPr>
            <a:r>
              <a:rPr/>
              <a:t>For bed occupancy, emergency readmissions, cleaning costs and all health and safety measures there were either positive effects or no significant change. However, positive, negative and no effects were seen for length of stay, waiting time, patient experience, and staff experience measures. Where there were immediate positive or negative impacts on a metric, these often regressed back towards prior levels over the longer-term (2 years).</a:t>
            </a:r>
          </a:p>
          <a:p>
            <a:pPr lvl="0" indent="0" marL="0">
              <a:buNone/>
            </a:pPr>
            <a:r>
              <a:rPr/>
              <a:t>Reduced length of stay could potentially help offset additional costs associated with single room hospitals, however, at general acute hospitals there was no significant change in length of stay (7% reduction (-17% to 2% 95% CI)). At general acute hospitals the proportion of staff recommending their trust as a place to work significantly decreased by 15% (-23% to -6% 95% CI) and staff sickness absences increased by 6% (1% to 12% 95% CI).</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1.3 (3)</a:t>
            </a:r>
          </a:p>
        </p:txBody>
      </p:sp>
      <p:sp>
        <p:nvSpPr>
          <p:cNvPr id="3" name="Content Placeholder 2"/>
          <p:cNvSpPr>
            <a:spLocks noGrp="1"/>
          </p:cNvSpPr>
          <p:nvPr>
            <p:ph idx="1"/>
          </p:nvPr>
        </p:nvSpPr>
        <p:spPr/>
        <p:txBody>
          <a:bodyPr/>
          <a:lstStyle/>
          <a:p>
            <a:pPr lvl="0" indent="0" marL="0">
              <a:buNone/>
            </a:pPr>
            <a:r>
              <a:rPr/>
              <a:t>For planning purposes, the NHP may want to take a more conservative approach to modelling the impact on LoS of SBR but also consider other potential efficiency gains i.e. reduced waiting times, reduction in falls/injuries and infections. Additionally, acknowledging the potential adverse impacts on staff experiences, qualitative monitoring of impacts would aid in implementation and mitigation strategies.</a:t>
            </a:r>
          </a:p>
          <a:p>
            <a:pPr lvl="0" indent="0" marL="0">
              <a:buNone/>
            </a:pPr>
            <a:r>
              <a:rPr/>
              <a:t>For both SBR impacts and broader programme evaluation, a prospective monitoring framework of these indicators and more would support and develop the evidence-base for hospital design and builds in the future.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2. Introduction, approach, summary and recommendations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2.1 Introduction</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Since it’s inception, the New Hospital Programme (NHP) has advocated for single bedded inpatient rooms (SBR). The grounds for this are based on a range of guidance, evidence and previous policy statements of intent. Whilst that position is unequivocal, there is uncertainty around the quantification of impacts of such a change and thus the assumptions that feed into demand and capacity models and economic business cases for current and future new hospital developments.</a:t>
            </a:r>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p:txBody>
          <a:bodyPr/>
          <a:lstStyle/>
          <a:p>
            <a:pPr lvl="0" indent="0" marL="0">
              <a:buNone/>
            </a:pPr>
            <a:r>
              <a:rPr/>
              <a:t>Specifically, a starting assumption was that a length of stay reduction of 12% was likely for all new SBR facilities compared to prior trends. This assumption was criticised by the national audit office (NAO) (Office 2023) in the face of a mixed evidence base.</a:t>
            </a:r>
          </a:p>
          <a:p>
            <a:pPr lvl="0" indent="0" marL="0">
              <a:buNone/>
            </a:pPr>
            <a:r>
              <a:rPr/>
              <a:t>It is the express aim of this analysis therefore to quantify the range of likely impacts for length of stay and a basket of other measures across patient &amp; staff experience, productivity and health &amp; safety.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2.2 Approach</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a:r>
              <a:rPr/>
              <a:t>Previous literature reviews and general searches were undertaken to identify potential impact factors.</a:t>
            </a:r>
          </a:p>
          <a:p>
            <a:pPr lvl="0"/>
            <a:r>
              <a:rPr/>
              <a:t>Identified relevant measures or proxy measures from publicly available data and routine data sources.</a:t>
            </a:r>
          </a:p>
          <a:p>
            <a:pPr lvl="0"/>
            <a:r>
              <a:rPr/>
              <a:t>Included only those with sufficient time series and of acceptable data quality into final impact framework.</a:t>
            </a:r>
          </a:p>
          <a:p>
            <a:pPr lvl="0"/>
            <a:r>
              <a:rPr/>
              <a:t>Cleansed and compiled all the data into time series format.</a:t>
            </a:r>
          </a:p>
        </p:txBody>
      </p:sp>
      <p:sp>
        <p:nvSpPr>
          <p:cNvPr id="4" name="Content Placeholder 2">
            <a:extLst>
              <a:ext uri="{FF2B5EF4-FFF2-40B4-BE49-F238E27FC236}">
                <a16:creationId xmlns:a16="http://schemas.microsoft.com/office/drawing/2014/main" id="{D1BAB7DA-EC53-0103-E362-83F86BDB6BC4}"/>
              </a:ext>
            </a:extLst>
          </p:cNvPr>
          <p:cNvSpPr>
            <a:spLocks noGrp="1"/>
          </p:cNvSpPr>
          <p:nvPr>
            <p:ph idx="11"/>
          </p:nvPr>
        </p:nvSpPr>
        <p:spPr/>
        <p:txBody>
          <a:bodyPr/>
          <a:lstStyle/>
          <a:p>
            <a:pPr lvl="0"/>
            <a:r>
              <a:rPr/>
              <a:t>Identified ‘control’ sites and providers to compare to our natural experiment sites - matching according to hospital function, size, case-mix and admission ratio’s.</a:t>
            </a:r>
          </a:p>
          <a:p>
            <a:pPr lvl="0"/>
            <a:r>
              <a:rPr/>
              <a:t>Performed causal impact analysis on the pre and post intervention periods to detect the nature and scale of impacts for each natural experiment.</a:t>
            </a:r>
          </a:p>
          <a:p>
            <a:pPr lvl="0"/>
            <a:r>
              <a:rPr/>
              <a:t>Aggregated findings for the non-specialist hospitals.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2.3 Summary of key findings (1)</a:t>
            </a:r>
          </a:p>
        </p:txBody>
      </p:sp>
      <p:sp>
        <p:nvSpPr>
          <p:cNvPr id="3" name="Content Placeholder 2"/>
          <p:cNvSpPr>
            <a:spLocks noGrp="1"/>
          </p:cNvSpPr>
          <p:nvPr>
            <p:ph idx="1"/>
          </p:nvPr>
        </p:nvSpPr>
        <p:spPr/>
        <p:txBody>
          <a:bodyPr/>
          <a:lstStyle/>
          <a:p>
            <a:pPr lvl="0" indent="0" marL="0">
              <a:buNone/>
            </a:pPr>
            <a:r>
              <a:rPr/>
              <a:t>Our results are generally not consistent within indicators and across hospital sites. This inconsistency is reflective of the findings from published literature. Only one impact measure moved in the same direction across all (eligible) sites - </a:t>
            </a:r>
            <a:r>
              <a:rPr b="1"/>
              <a:t>staff turnover decreasing</a:t>
            </a:r>
            <a:r>
              <a:rPr/>
              <a:t> and two measures were significant at the pooled general-acute hospital level - </a:t>
            </a:r>
            <a:r>
              <a:rPr b="1"/>
              <a:t>staff sickness increasing</a:t>
            </a:r>
            <a:r>
              <a:rPr/>
              <a:t> and </a:t>
            </a:r>
            <a:r>
              <a:rPr b="1"/>
              <a:t>staff satisfaction decreasing</a:t>
            </a:r>
            <a:r>
              <a:rPr/>
              <a:t>.</a:t>
            </a:r>
          </a:p>
          <a:p>
            <a:pPr lvl="0" indent="0" marL="0">
              <a:buNone/>
            </a:pPr>
            <a:r>
              <a:rPr/>
              <a:t>This suggests that there are many factors in the hospital design, systems, policies and cultures that are important. </a:t>
            </a:r>
            <a:r>
              <a:rPr i="1"/>
              <a:t>Responses to a qualitative look-back exercise are still being explored to identify those critical factors that are likely to have exacerbated success or failure</a:t>
            </a:r>
            <a:r>
              <a:rPr/>
              <a:t>.</a:t>
            </a:r>
          </a:p>
          <a:p>
            <a:pPr lvl="0" indent="0" marL="0">
              <a:buNone/>
            </a:pPr>
            <a:r>
              <a:rPr/>
              <a:t>Switching to single bedroom hospitals without considering these other factors would not necessarily have a positive effect on outcomes nor mitigate any likely risks.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2.4 Summary of key findings (2)</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The table across demonstrates the range of impacts across all new hospital sites for each impact measure as well as point estimates for pooled general acute sites.</a:t>
            </a:r>
          </a:p>
        </p:txBody>
      </p:sp>
      <p:pic>
        <p:nvPicPr>
          <p:cNvPr descr="images/impact_range.jpeg" id="0" name="Picture 1"/>
          <p:cNvPicPr>
            <a:picLocks noGrp="1" noChangeAspect="1"/>
          </p:cNvPicPr>
          <p:nvPr/>
        </p:nvPicPr>
        <p:blipFill>
          <a:blip r:embed="rId2"/>
          <a:stretch>
            <a:fillRect/>
          </a:stretch>
        </p:blipFill>
        <p:spPr bwMode="auto">
          <a:xfrm>
            <a:off x="4127500" y="2374900"/>
            <a:ext cx="7010400" cy="2616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2.5 Limitations</a:t>
            </a:r>
          </a:p>
        </p:txBody>
      </p:sp>
      <p:sp>
        <p:nvSpPr>
          <p:cNvPr id="3" name="Content Placeholder 2"/>
          <p:cNvSpPr>
            <a:spLocks noGrp="1"/>
          </p:cNvSpPr>
          <p:nvPr>
            <p:ph idx="1"/>
          </p:nvPr>
        </p:nvSpPr>
        <p:spPr/>
        <p:txBody>
          <a:bodyPr/>
          <a:lstStyle/>
          <a:p>
            <a:pPr lvl="0"/>
            <a:r>
              <a:rPr/>
              <a:t>Data quality and consistency issues over time</a:t>
            </a:r>
          </a:p>
          <a:p>
            <a:pPr lvl="0"/>
            <a:r>
              <a:rPr/>
              <a:t>No below site-level analysis possible (e.g. treatment specialty/service)</a:t>
            </a:r>
          </a:p>
          <a:p>
            <a:pPr lvl="0"/>
            <a:r>
              <a:rPr/>
              <a:t>Poor sensitivity/specificity of some of the proxy measures</a:t>
            </a:r>
          </a:p>
          <a:p>
            <a:pPr lvl="0"/>
            <a:r>
              <a:rPr/>
              <a:t>Dose-response effects are not possible to ascertain (e.g. an x% change in SBR leads to a y% change in impact A)</a:t>
            </a:r>
          </a:p>
          <a:p>
            <a:pPr lvl="0"/>
            <a:r>
              <a:rPr/>
              <a:t>Covid 19 bias in some of the pre and post trends</a:t>
            </a:r>
          </a:p>
          <a:p>
            <a:pPr lvl="0"/>
            <a:r>
              <a:rPr/>
              <a:t>Small pool of control sites and lack of comparability (specialist sites)</a:t>
            </a:r>
          </a:p>
          <a:p>
            <a:pPr lvl="0"/>
            <a:r>
              <a:rPr/>
              <a:t>Model fit and large credible intervals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2.6 Recommendations</a:t>
            </a:r>
          </a:p>
        </p:txBody>
      </p:sp>
      <p:sp>
        <p:nvSpPr>
          <p:cNvPr id="3" name="Content Placeholder 2"/>
          <p:cNvSpPr>
            <a:spLocks noGrp="1"/>
          </p:cNvSpPr>
          <p:nvPr>
            <p:ph idx="1"/>
          </p:nvPr>
        </p:nvSpPr>
        <p:spPr/>
        <p:txBody>
          <a:bodyPr/>
          <a:lstStyle/>
          <a:p>
            <a:pPr lvl="0"/>
            <a:r>
              <a:rPr/>
              <a:t>Exercise caution when accounting for these impacts in business planning - use a range and suitable benchmark.</a:t>
            </a:r>
          </a:p>
          <a:p>
            <a:pPr lvl="0"/>
            <a:r>
              <a:rPr/>
              <a:t>Develop an evaluation framework from (some of) these measures, process indicators and wider evidence (logic model).</a:t>
            </a:r>
          </a:p>
          <a:p>
            <a:pPr lvl="0"/>
            <a:r>
              <a:rPr/>
              <a:t>Include qualitative survey measures for patients and staff (free text for thematic analysis).</a:t>
            </a:r>
          </a:p>
          <a:p>
            <a:pPr lvl="0"/>
            <a:r>
              <a:rPr/>
              <a:t>Capture information on design, systemic and cultural factors that may also have bearing on these impacts.</a:t>
            </a:r>
          </a:p>
          <a:p>
            <a:pPr lvl="0"/>
            <a:r>
              <a:rPr/>
              <a:t>Start collecting data well before the change in bed provision and at least monthly!</a:t>
            </a:r>
          </a:p>
          <a:p>
            <a:pPr lvl="0"/>
            <a:r>
              <a:rPr/>
              <a:t>System dynamics modelling would aid understanding of multi-factorial productivity impacts (i.e. waiting lists, length of stay and bed occupancy).</a:t>
            </a:r>
          </a:p>
          <a:p>
            <a:pPr lvl="0"/>
            <a:r>
              <a:rPr/>
              <a:t>Undertake length of stay sub-group analysis i.e. by clinical and patient groups.</a:t>
            </a:r>
          </a:p>
          <a:p>
            <a:pPr lvl="0"/>
            <a:r>
              <a:rPr/>
              <a:t>Mitigation strategies for staff well-being and retention.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3. The impact framework</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3.1 Overview</a:t>
            </a:r>
          </a:p>
        </p:txBody>
      </p:sp>
      <p:pic>
        <p:nvPicPr>
          <p:cNvPr descr="images/indicators.jpeg" id="0" name="Picture 1"/>
          <p:cNvPicPr>
            <a:picLocks noGrp="1" noChangeAspect="1"/>
          </p:cNvPicPr>
          <p:nvPr/>
        </p:nvPicPr>
        <p:blipFill>
          <a:blip r:embed="rId2"/>
          <a:stretch>
            <a:fillRect/>
          </a:stretch>
        </p:blipFill>
        <p:spPr bwMode="auto">
          <a:xfrm>
            <a:off x="901700" y="2032000"/>
            <a:ext cx="10414000" cy="34544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3.2 Indicator availability and time of SBR changes by site</a:t>
            </a:r>
          </a:p>
        </p:txBody>
      </p:sp>
      <p:pic>
        <p:nvPicPr>
          <p:cNvPr descr="NHP_SBR-impacts_2024_summaryfinal_files/figure-pptx/ind_timeline-1.png" id="0" name="Picture 1"/>
          <p:cNvPicPr>
            <a:picLocks noGrp="1" noChangeAspect="1"/>
          </p:cNvPicPr>
          <p:nvPr/>
        </p:nvPicPr>
        <p:blipFill>
          <a:blip r:embed="rId2"/>
          <a:stretch>
            <a:fillRect/>
          </a:stretch>
        </p:blipFill>
        <p:spPr bwMode="auto">
          <a:xfrm>
            <a:off x="2032000" y="1727200"/>
            <a:ext cx="8153400" cy="40767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4. The hospitals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4.1 Seven natural experiments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a:r>
              <a:rPr/>
              <a:t>Royal Liverpool (Oct 2022)</a:t>
            </a:r>
          </a:p>
          <a:p>
            <a:pPr lvl="0"/>
            <a:r>
              <a:rPr/>
              <a:t>Clatterbridge Cancer Centre (June 2020)</a:t>
            </a:r>
          </a:p>
          <a:p>
            <a:pPr lvl="0"/>
            <a:r>
              <a:rPr/>
              <a:t>Royal Papworth Hospital (May 2019)</a:t>
            </a:r>
          </a:p>
          <a:p>
            <a:pPr lvl="0"/>
            <a:r>
              <a:rPr/>
              <a:t>Chase Farm Hospital (Sept 2018)</a:t>
            </a:r>
          </a:p>
          <a:p>
            <a:pPr lvl="0"/>
            <a:r>
              <a:rPr/>
              <a:t>Southmead Hospital (May 2014)</a:t>
            </a:r>
          </a:p>
          <a:p>
            <a:pPr lvl="0"/>
            <a:r>
              <a:rPr/>
              <a:t>Tunbridge Wells (Jan/Sept 2011)</a:t>
            </a:r>
          </a:p>
          <a:p>
            <a:pPr lvl="0"/>
            <a:r>
              <a:rPr/>
              <a:t>Peterborough Hospital (Nov 2010)</a:t>
            </a:r>
          </a:p>
        </p:txBody>
      </p:sp>
      <p:pic>
        <p:nvPicPr>
          <p:cNvPr descr="images/hospitals_map.png" id="0" name="Picture 1"/>
          <p:cNvPicPr>
            <a:picLocks noGrp="1" noChangeAspect="1"/>
          </p:cNvPicPr>
          <p:nvPr/>
        </p:nvPicPr>
        <p:blipFill>
          <a:blip r:embed="rId2"/>
          <a:stretch>
            <a:fillRect/>
          </a:stretch>
        </p:blipFill>
        <p:spPr bwMode="auto">
          <a:xfrm>
            <a:off x="4406900" y="1549400"/>
            <a:ext cx="6438900" cy="42545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4.2 Heterogeneity</a:t>
            </a:r>
          </a:p>
        </p:txBody>
      </p:sp>
      <p:sp>
        <p:nvSpPr>
          <p:cNvPr id="3" name="Content Placeholder 2"/>
          <p:cNvSpPr>
            <a:spLocks noGrp="1"/>
          </p:cNvSpPr>
          <p:nvPr>
            <p:ph idx="1"/>
          </p:nvPr>
        </p:nvSpPr>
        <p:spPr/>
        <p:txBody>
          <a:bodyPr/>
          <a:lstStyle/>
          <a:p>
            <a:pPr lvl="0" indent="0" marL="0">
              <a:buNone/>
            </a:pPr>
            <a:r>
              <a:rPr/>
              <a:t>No hospital site is the same as another. This is no more true than for our 7 natural experiments. The sites are a mixture of general acute hospitals and specialist ones. They vary in size and function and there are many possible confounding factors in the input-output logic model for our impacts that we can not identify nor account for.</a:t>
            </a:r>
          </a:p>
          <a:p>
            <a:pPr lvl="0" indent="0" marL="0">
              <a:buNone/>
            </a:pPr>
            <a:r>
              <a:rPr/>
              <a:t>In aggregating some of the findings in this analysis, we have grouped the general acute sites together for indicative purposes. However; the nature of those hospital systems and the social and cultural circumstance should be considerations when both interpreting our findings and also in considering single-bed provision within new hospital developments.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5. Summary of methods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5.1 Selecting control sites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Before including control sites into the calculation of the post-intervention counterfactual, we must ensure they’re similar to the site under study. We do this in several consecutive steps:</a:t>
            </a:r>
          </a:p>
          <a:p>
            <a:pPr lvl="0" indent="-457200" marL="457200">
              <a:buAutoNum type="arabicPeriod"/>
            </a:pPr>
            <a:r>
              <a:rPr/>
              <a:t>Filter on similar site types e.g. General Acute, Tertiary Centre</a:t>
            </a:r>
          </a:p>
          <a:p>
            <a:pPr lvl="0" indent="-457200" marL="457200">
              <a:buAutoNum type="arabicPeriod"/>
            </a:pPr>
            <a:r>
              <a:rPr/>
              <a:t>Exclude those with dissimilar single bed %‘s at the point of ’intervention’</a:t>
            </a:r>
          </a:p>
          <a:p>
            <a:pPr lvl="0" indent="-457200" marL="457200">
              <a:buAutoNum type="arabicPeriod"/>
            </a:pPr>
            <a:r>
              <a:rPr/>
              <a:t>Match (on the closest 20) according to the following variables:</a:t>
            </a:r>
          </a:p>
          <a:p>
            <a:pPr lvl="0"/>
            <a:r>
              <a:rPr/>
              <a:t>Hospital size (m2)</a:t>
            </a:r>
          </a:p>
          <a:p>
            <a:pPr lvl="0"/>
            <a:r>
              <a:rPr/>
              <a:t>Patient case-mix (median age)</a:t>
            </a:r>
          </a:p>
          <a:p>
            <a:pPr lvl="0"/>
            <a:r>
              <a:rPr/>
              <a:t>Elective:Non-elective spell ratio</a:t>
            </a:r>
          </a:p>
        </p:txBody>
      </p:sp>
      <p:pic>
        <p:nvPicPr>
          <p:cNvPr descr="images/control_flowchart.png" id="0" name="Picture 1"/>
          <p:cNvPicPr>
            <a:picLocks noGrp="1" noChangeAspect="1"/>
          </p:cNvPicPr>
          <p:nvPr/>
        </p:nvPicPr>
        <p:blipFill>
          <a:blip r:embed="rId2"/>
          <a:stretch>
            <a:fillRect/>
          </a:stretch>
        </p:blipFill>
        <p:spPr bwMode="auto">
          <a:xfrm>
            <a:off x="6223000" y="1993900"/>
            <a:ext cx="5041900" cy="34671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5.2 Causal Impact Analysis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Causal Impact Analysis (CIA), developed by K. Broderson in 2014, explicitly uses prior trends and ‘market-matched’ control analysis to predict a future time series. The observed values for the study site are compared to this prediction to determine the direction, magnitude and significance of impacts as a result of the intervention.</a:t>
            </a:r>
          </a:p>
          <a:p>
            <a:pPr lvl="0" indent="0" marL="0">
              <a:buNone/>
            </a:pPr>
            <a:r>
              <a:rPr/>
              <a:t>All our analysis has been performed in R software (v4.3.2+) with the following packages - CausalImpact, MarketMatching, dtw, metafor.</a:t>
            </a:r>
          </a:p>
        </p:txBody>
      </p:sp>
      <p:pic>
        <p:nvPicPr>
          <p:cNvPr descr="fig:  images/cia_example.png" id="0" name="Picture 1"/>
          <p:cNvPicPr>
            <a:picLocks noGrp="1" noChangeAspect="1"/>
          </p:cNvPicPr>
          <p:nvPr/>
        </p:nvPicPr>
        <p:blipFill>
          <a:blip r:embed="rId2"/>
          <a:stretch>
            <a:fillRect/>
          </a:stretch>
        </p:blipFill>
        <p:spPr bwMode="auto">
          <a:xfrm>
            <a:off x="7188200" y="1612900"/>
            <a:ext cx="3098800" cy="3721100"/>
          </a:xfrm>
          <a:prstGeom prst="rect">
            <a:avLst/>
          </a:prstGeom>
          <a:noFill/>
          <a:ln w="9525">
            <a:noFill/>
            <a:headEnd/>
            <a:tailEnd/>
          </a:ln>
        </p:spPr>
      </p:pic>
      <p:sp>
        <p:nvSpPr>
          <p:cNvPr id="1" name="TextBox 3"/>
          <p:cNvSpPr txBox="1"/>
          <p:nvPr/>
        </p:nvSpPr>
        <p:spPr>
          <a:xfrm>
            <a:off x="6223000" y="5334000"/>
            <a:ext cx="5041900" cy="508000"/>
          </a:xfrm>
          <a:prstGeom prst="rect">
            <a:avLst/>
          </a:prstGeom>
          <a:noFill/>
        </p:spPr>
        <p:txBody>
          <a:bodyPr/>
          <a:lstStyle/>
          <a:p>
            <a:pPr lvl="0" indent="0" marL="0" algn="ctr">
              <a:buNone/>
            </a:pPr>
            <a:r>
              <a:rPr/>
              <a:t>Example of CIA analysis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352" y="419100"/>
            <a:ext cx="9720072" cy="933450"/>
          </a:xfrm>
        </p:spPr>
        <p:txBody>
          <a:bodyPr/>
          <a:lstStyle/>
          <a:p>
            <a:pPr lvl="0" indent="0" marL="0">
              <a:buNone/>
            </a:pPr>
            <a:r>
              <a:rPr/>
              <a:t>5.3 Aggregating impacts</a:t>
            </a:r>
          </a:p>
        </p:txBody>
      </p:sp>
      <p:sp>
        <p:nvSpPr>
          <p:cNvPr id="3" name="Content Placeholder 2">
            <a:extLst>
              <a:ext uri="{FF2B5EF4-FFF2-40B4-BE49-F238E27FC236}">
                <a16:creationId xmlns:a16="http://schemas.microsoft.com/office/drawing/2014/main" id="{D2592819-5C80-B996-F823-F8B9F9EAD6C9}"/>
              </a:ext>
            </a:extLst>
          </p:cNvPr>
          <p:cNvSpPr>
            <a:spLocks noGrp="1"/>
          </p:cNvSpPr>
          <p:nvPr>
            <p:ph idx="10"/>
          </p:nvPr>
        </p:nvSpPr>
        <p:spPr/>
        <p:txBody>
          <a:bodyPr/>
          <a:lstStyle/>
          <a:p>
            <a:pPr lvl="0" indent="0" marL="0">
              <a:buNone/>
            </a:pPr>
            <a:r>
              <a:rPr/>
              <a:t>Where for each impact measure there were 2 or more general and acute hospitals, a meta-analysis was conducted. The specialist hospital sites were excluded from this analysis as it is felt the effects at these sites may not be generalisable when considering future building of general acute hospitals.</a:t>
            </a:r>
          </a:p>
          <a:p>
            <a:pPr lvl="0" indent="0" marL="0">
              <a:buNone/>
            </a:pPr>
            <a:r>
              <a:rPr/>
              <a:t>A random-effects meta-analysis was conducted using the metafor R package (Viechtbauer 2024) and with the relative effects for each site weighted using the inverse variance, as used for meta-analysis of causal impact models by Schmitt et al. (Schmitt, Tull, and Atwater 2017).</a:t>
            </a:r>
          </a:p>
        </p:txBody>
      </p:sp>
      <p:pic>
        <p:nvPicPr>
          <p:cNvPr descr="fig:  images/meta_example.png" id="0" name="Picture 1"/>
          <p:cNvPicPr>
            <a:picLocks noGrp="1" noChangeAspect="1"/>
          </p:cNvPicPr>
          <p:nvPr/>
        </p:nvPicPr>
        <p:blipFill>
          <a:blip r:embed="rId2"/>
          <a:stretch>
            <a:fillRect/>
          </a:stretch>
        </p:blipFill>
        <p:spPr bwMode="auto">
          <a:xfrm>
            <a:off x="6223000" y="2743200"/>
            <a:ext cx="5041900" cy="1447800"/>
          </a:xfrm>
          <a:prstGeom prst="rect">
            <a:avLst/>
          </a:prstGeom>
          <a:noFill/>
          <a:ln w="9525">
            <a:noFill/>
            <a:headEnd/>
            <a:tailEnd/>
          </a:ln>
        </p:spPr>
      </p:pic>
      <p:sp>
        <p:nvSpPr>
          <p:cNvPr id="1" name="TextBox 3"/>
          <p:cNvSpPr txBox="1"/>
          <p:nvPr/>
        </p:nvSpPr>
        <p:spPr>
          <a:xfrm>
            <a:off x="6223000" y="5334000"/>
            <a:ext cx="5041900" cy="508000"/>
          </a:xfrm>
          <a:prstGeom prst="rect">
            <a:avLst/>
          </a:prstGeom>
          <a:noFill/>
        </p:spPr>
        <p:txBody>
          <a:bodyPr/>
          <a:lstStyle/>
          <a:p>
            <a:pPr lvl="0" indent="0" marL="0" algn="ctr">
              <a:buNone/>
            </a:pPr>
            <a:r>
              <a:rPr/>
              <a:t>Example of meta-analysis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6. Main results - Productivity and Efficiency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6.1 Length of stay</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the Secondary Uses Service (SUS) admitted patients care spells.</a:t>
            </a:r>
          </a:p>
          <a:p>
            <a:pPr lvl="0" indent="0" marL="0">
              <a:buNone/>
            </a:pPr>
            <a:r>
              <a:rPr/>
              <a:t>Mean length of stay (in days) significantly decreased at 3/6 sites (Southmead, Peterborough and Chase Farm), was unchanged at 2/6 sites (Royal Liverpool and Tunbridge Wells), but significantly increased at Clatterbridge.</a:t>
            </a:r>
          </a:p>
        </p:txBody>
      </p:sp>
      <p:pic>
        <p:nvPicPr>
          <p:cNvPr descr="NHP_SBR-impacts_2024_summaryfinal_files/figure-pptx/cia_los-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6.2 Waiting times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from published RTT waiting times dataset (via UDAL).</a:t>
            </a:r>
          </a:p>
          <a:p>
            <a:pPr lvl="0" indent="0" marL="0">
              <a:buNone/>
            </a:pPr>
            <a:r>
              <a:rPr/>
              <a:t>The median referral to treatment waiting time (in weeks) significantly decreased at 2/5 sites (Royal Liverpool and Peterborough) and was unchanged at 2/5 sites (Papworth and Clatterbridge) and increased at Tunbridge Wells.</a:t>
            </a:r>
          </a:p>
        </p:txBody>
      </p:sp>
      <p:pic>
        <p:nvPicPr>
          <p:cNvPr descr="NHP_SBR-impacts_2024_summaryfinal_files/figure-pptx/cia_wait-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6.3 Bed Occupancy</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quarterly</a:t>
            </a:r>
            <a:r>
              <a:rPr/>
              <a:t> data at </a:t>
            </a:r>
            <a:r>
              <a:rPr b="1"/>
              <a:t>provider level</a:t>
            </a:r>
            <a:r>
              <a:rPr/>
              <a:t> is from published KH03 bed returns (via UDAL).</a:t>
            </a:r>
          </a:p>
          <a:p>
            <a:pPr lvl="0" indent="0" marL="0">
              <a:buNone/>
            </a:pPr>
            <a:r>
              <a:rPr/>
              <a:t>Bed occupancy is measured quarterly and is only available at a Provider level. The percentage of available beds occupied significantly increased at 2/4 sites (Clatterbridge and Southmead) and was unchanged at 2/4 (Royal Liverpool and and Chase Farm).</a:t>
            </a:r>
          </a:p>
        </p:txBody>
      </p:sp>
      <p:pic>
        <p:nvPicPr>
          <p:cNvPr descr="NHP_SBR-impacts_2024_summaryfinal_files/figure-pptx/cia_bedocc-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6.4 Emergency readmissions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SUS admitted patient care records.</a:t>
            </a:r>
          </a:p>
          <a:p>
            <a:pPr lvl="0" indent="0" marL="0">
              <a:buNone/>
            </a:pPr>
            <a:r>
              <a:rPr/>
              <a:t>The percentage of admissions that are emergency readmissions &lt; 30 days of discharge significantly decreased at 3/7 sites (Tunbridge Wells, Peterborough and Clatterbridge) and was unchanged at the remaining 4/7 sites.</a:t>
            </a:r>
          </a:p>
        </p:txBody>
      </p:sp>
      <p:pic>
        <p:nvPicPr>
          <p:cNvPr descr="NHP_SBR-impacts_2024_summaryfinal_files/figure-pptx/cia_emergreadm-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6.5 Cleaning costs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annual</a:t>
            </a:r>
            <a:r>
              <a:rPr/>
              <a:t> data at </a:t>
            </a:r>
            <a:r>
              <a:rPr b="1"/>
              <a:t>site level</a:t>
            </a:r>
            <a:r>
              <a:rPr/>
              <a:t> is taken from published Estates Return Information Collection (ERIC) datasets.</a:t>
            </a:r>
          </a:p>
          <a:p>
            <a:pPr lvl="0" indent="0" marL="0">
              <a:buNone/>
            </a:pPr>
            <a:r>
              <a:rPr/>
              <a:t>The cleaning costs (in £) per square metre of occupied floor space significantly increased at 1/3 sites (Royal Liverpool) but decreased at 2/3 sites (Clatterbridge and Papworth).</a:t>
            </a:r>
          </a:p>
        </p:txBody>
      </p:sp>
      <p:pic>
        <p:nvPicPr>
          <p:cNvPr descr="NHP_SBR-impacts_2024_summaryfinal_files/figure-pptx/cia_cleaning-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7. Main results - Health and Safety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7.1 In-hospital deaths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SUS admitted patient care records.</a:t>
            </a:r>
          </a:p>
          <a:p>
            <a:pPr lvl="0" indent="0" marL="0">
              <a:buNone/>
            </a:pPr>
            <a:r>
              <a:rPr/>
              <a:t>The rate of in-hospital deaths (number per 1,000 discharges) significantly decreased at 1/5 sites (Peterborough), and was unchanged at 4/5 sites (Royal Liverpool, Tunbridge Wells, Clatterbridge and Southmead).</a:t>
            </a:r>
          </a:p>
        </p:txBody>
      </p:sp>
      <p:pic>
        <p:nvPicPr>
          <p:cNvPr descr="NHP_SBR-impacts_2024_summaryfinal_files/figure-pptx/cia_mort-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7.2 In-hospital falls and injuries</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derived from SUS admitted patient care records.</a:t>
            </a:r>
          </a:p>
          <a:p>
            <a:pPr lvl="0" indent="0" marL="0">
              <a:buNone/>
            </a:pPr>
            <a:r>
              <a:rPr/>
              <a:t>The rate of in-hospital falls and injuries (% of spells) significantly decreased at 1/4 sites (Peterborough), and was unchanged at 3/4 sites (Royal Liverpool, Tunbridge Wells and Southmead).</a:t>
            </a:r>
          </a:p>
        </p:txBody>
      </p:sp>
      <p:pic>
        <p:nvPicPr>
          <p:cNvPr descr="NHP_SBR-impacts_2024_summaryfinal_files/figure-pptx/cia_falls-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7.3 Healthcare Acquired Infections (HCAI) - clostridium dificile</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UKHSA surveillance data (via UDAL).</a:t>
            </a:r>
          </a:p>
          <a:p>
            <a:pPr lvl="0" indent="0" marL="0">
              <a:buNone/>
            </a:pPr>
            <a:r>
              <a:rPr/>
              <a:t>The rate of healthcare acquired C. difficile infections (cases per 10,000 bed days) decreased at 2/3 sites (Chase Farm and Southmead) but was unchanged at Royal Liverpool.</a:t>
            </a:r>
          </a:p>
        </p:txBody>
      </p:sp>
      <p:pic>
        <p:nvPicPr>
          <p:cNvPr descr="NHP_SBR-impacts_2024_summaryfinal_files/figure-pptx/cia_hcai-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8. Main results - Patient and Staff Experience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8.1 Family and Friends test</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site level</a:t>
            </a:r>
            <a:r>
              <a:rPr/>
              <a:t> is taken from published NHS England data (via UDAL).</a:t>
            </a:r>
          </a:p>
          <a:p>
            <a:pPr lvl="0" indent="0" marL="0">
              <a:buNone/>
            </a:pPr>
            <a:r>
              <a:rPr/>
              <a:t>The percentage of positive responses significantly decreased at 1/5 sites (Clatterbridge), increased at 1/5 sites (Papworth) and was unchanged at the other 3/5 sites (Royal Liverpool, Southmead and Chase Farm).</a:t>
            </a:r>
          </a:p>
        </p:txBody>
      </p:sp>
      <p:pic>
        <p:nvPicPr>
          <p:cNvPr descr="NHP_SBR-impacts_2024_summaryfinal_files/figure-pptx/cia_famfriend-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8.2 Staff sickness absence</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NHS England data (via UDAL).</a:t>
            </a:r>
          </a:p>
          <a:p>
            <a:pPr lvl="0" indent="0" marL="0">
              <a:buNone/>
            </a:pPr>
            <a:r>
              <a:rPr/>
              <a:t>The percentage of available days taken off sick by staff significantly increased at 2/7 sites (Southmead and Tunbridge Wells) and was unchanged at the remaining 5 sites.</a:t>
            </a:r>
          </a:p>
        </p:txBody>
      </p:sp>
      <p:pic>
        <p:nvPicPr>
          <p:cNvPr descr="NHP_SBR-impacts_2024_summaryfinal_files/figure-pptx/cia_sick-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8.3 Staff turnover</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NHS England data (via UDAL).</a:t>
            </a:r>
          </a:p>
          <a:p>
            <a:pPr lvl="0" indent="0" marL="0">
              <a:buNone/>
            </a:pPr>
            <a:r>
              <a:rPr/>
              <a:t>Staff turnover measured as percentage of staff leaving was not significantly changed at any of the 3 sites where data was available.</a:t>
            </a:r>
          </a:p>
        </p:txBody>
      </p:sp>
      <p:pic>
        <p:nvPicPr>
          <p:cNvPr descr="NHP_SBR-impacts_2024_summaryfinal_files/figure-pptx/cia_turnover-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38150"/>
            <a:ext cx="8434196" cy="914400"/>
          </a:xfrm>
        </p:spPr>
        <p:txBody>
          <a:bodyPr/>
          <a:lstStyle/>
          <a:p>
            <a:pPr lvl="0" indent="0" marL="0">
              <a:buNone/>
            </a:pPr>
            <a:r>
              <a:rPr/>
              <a:t>8.4 Staff survey - recommending place to work</a:t>
            </a:r>
          </a:p>
        </p:txBody>
      </p:sp>
      <p:sp>
        <p:nvSpPr>
          <p:cNvPr id="7" name="Text Placeholder 6">
            <a:extLst>
              <a:ext uri="{FF2B5EF4-FFF2-40B4-BE49-F238E27FC236}">
                <a16:creationId xmlns:a16="http://schemas.microsoft.com/office/drawing/2014/main" id="{DE622849-4EA7-24AE-DD96-E693EAA81594}"/>
              </a:ext>
            </a:extLst>
          </p:cNvPr>
          <p:cNvSpPr>
            <a:spLocks noGrp="1"/>
          </p:cNvSpPr>
          <p:nvPr>
            <p:ph idx="13" sz="quarter" type="body"/>
          </p:nvPr>
        </p:nvSpPr>
        <p:spPr/>
        <p:txBody>
          <a:bodyPr/>
          <a:lstStyle/>
          <a:p>
            <a:pPr lvl="0" indent="0" marL="0">
              <a:buNone/>
            </a:pPr>
            <a:r>
              <a:rPr/>
              <a:t>This </a:t>
            </a:r>
            <a:r>
              <a:rPr b="1"/>
              <a:t>monthly</a:t>
            </a:r>
            <a:r>
              <a:rPr/>
              <a:t> data at </a:t>
            </a:r>
            <a:r>
              <a:rPr b="1"/>
              <a:t>provider level</a:t>
            </a:r>
            <a:r>
              <a:rPr/>
              <a:t> is taken from published NHS England data (via UDAL).</a:t>
            </a:r>
          </a:p>
          <a:p>
            <a:pPr lvl="0" indent="0" marL="0">
              <a:buNone/>
            </a:pPr>
            <a:r>
              <a:rPr/>
              <a:t>The percentage of staff that would recommend their trust as a place to work significantly increased at 1/6 sites (Papworth), and was unchanged at 3/6 (Chase Farm, Royal Liverpool and Tunbridge Wells). At 2/6 sites (Southmead and Clatterbridge) there was a significant decrease in the percentage that would recommend their trust as a place to work.</a:t>
            </a:r>
          </a:p>
        </p:txBody>
      </p:sp>
      <p:pic>
        <p:nvPicPr>
          <p:cNvPr descr="NHP_SBR-impacts_2024_summaryfinal_files/figure-pptx/cia_survey-1.png" id="0" name="Picture 1"/>
          <p:cNvPicPr>
            <a:picLocks noGrp="1" noChangeAspect="1"/>
          </p:cNvPicPr>
          <p:nvPr/>
        </p:nvPicPr>
        <p:blipFill>
          <a:blip r:embed="rId2"/>
          <a:stretch>
            <a:fillRect/>
          </a:stretch>
        </p:blipFill>
        <p:spPr bwMode="auto">
          <a:xfrm>
            <a:off x="4127500" y="1930400"/>
            <a:ext cx="7010400" cy="35052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9. Next steps and actions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9.1 Ongoing and related activities</a:t>
            </a:r>
          </a:p>
        </p:txBody>
      </p:sp>
      <p:sp>
        <p:nvSpPr>
          <p:cNvPr id="3" name="Content Placeholder 2"/>
          <p:cNvSpPr>
            <a:spLocks noGrp="1"/>
          </p:cNvSpPr>
          <p:nvPr>
            <p:ph idx="1"/>
          </p:nvPr>
        </p:nvSpPr>
        <p:spPr/>
        <p:txBody>
          <a:bodyPr/>
          <a:lstStyle/>
          <a:p>
            <a:pPr lvl="0"/>
            <a:r>
              <a:rPr/>
              <a:t>Discussing the NHP response to these findings (today’s session)</a:t>
            </a:r>
          </a:p>
          <a:p>
            <a:pPr lvl="0"/>
            <a:r>
              <a:rPr/>
              <a:t>NHP planning and modelling teams consider findings for inclusion in assumptions and demand &amp; capacity inflation and mitigation.</a:t>
            </a:r>
          </a:p>
          <a:p>
            <a:pPr lvl="0"/>
            <a:r>
              <a:rPr/>
              <a:t>Supporting development of monitoring and evaluation framework for NHP/SBR.</a:t>
            </a:r>
          </a:p>
          <a:p>
            <a:pPr lvl="0"/>
            <a:r>
              <a:rPr/>
              <a:t>Engage with the 7 providers in the study in terms of sharing of these findings in the public domain?</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457199" y="4665306"/>
            <a:ext cx="7772400" cy="1308413"/>
          </a:xfrm>
        </p:spPr>
        <p:txBody>
          <a:bodyPr/>
          <a:lstStyle/>
          <a:p>
            <a:pPr lvl="0" indent="0" marL="0">
              <a:buNone/>
            </a:pPr>
            <a:r>
              <a:rPr/>
              <a:t>10. Acknowledgements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title"/>
          </p:nvPr>
        </p:nvSpPr>
        <p:spPr>
          <a:xfrm>
            <a:off x="909829" y="403765"/>
            <a:ext cx="8434196" cy="976056"/>
          </a:xfrm>
        </p:spPr>
        <p:txBody>
          <a:bodyPr/>
          <a:lstStyle/>
          <a:p>
            <a:pPr lvl="0" indent="0" marL="0">
              <a:buNone/>
            </a:pPr>
            <a:r>
              <a:rPr/>
              <a:t>10.1 Acknowledgements</a:t>
            </a:r>
          </a:p>
        </p:txBody>
      </p:sp>
      <p:sp>
        <p:nvSpPr>
          <p:cNvPr id="3" name="Content Placeholder 2"/>
          <p:cNvSpPr>
            <a:spLocks noGrp="1"/>
          </p:cNvSpPr>
          <p:nvPr>
            <p:ph idx="1"/>
          </p:nvPr>
        </p:nvSpPr>
        <p:spPr/>
        <p:txBody>
          <a:bodyPr/>
          <a:lstStyle/>
          <a:p>
            <a:pPr lvl="0" indent="0" marL="0">
              <a:buNone/>
            </a:pPr>
            <a:r>
              <a:rPr b="1"/>
              <a:t>NHP programme</a:t>
            </a:r>
            <a:r>
              <a:rPr/>
              <a:t>: Cheryl Riotto, Anne White, Joanna Wood, Carolyn Akyil, Michael Weinbren</a:t>
            </a:r>
          </a:p>
          <a:p>
            <a:pPr lvl="0" indent="0" marL="0">
              <a:buNone/>
            </a:pPr>
            <a:r>
              <a:rPr b="1"/>
              <a:t>NHS England</a:t>
            </a:r>
            <a:r>
              <a:rPr/>
              <a:t>: Joshua Igbineweka, Paul Smith</a:t>
            </a:r>
          </a:p>
          <a:p>
            <a:pPr lvl="0" indent="0" marL="0">
              <a:buNone/>
            </a:pPr>
            <a:r>
              <a:rPr b="1"/>
              <a:t>Strategy Unit</a:t>
            </a:r>
            <a:r>
              <a:rPr/>
              <a:t>: Andy Hood, Sarah Lucas, Anya Ferguson, Peter Spilsbury, Simon Bourne, Jennifer Wood</a:t>
            </a:r>
          </a:p>
        </p:txBody>
      </p:sp>
    </p:spTree>
  </p:cSl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NHP Colour Them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FEFFFE"/>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{8C70326D-9F1C-1842-B973-7199098CBC5F}tf10001061</Template>
  <TotalTime>162</TotalTime>
  <Words>471</Words>
  <Application>Microsoft Office PowerPoint</Application>
  <PresentationFormat>Widescreen</PresentationFormat>
  <Paragraphs>58</Paragraphs>
  <Slides>13</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Aptos ExtraBold</vt:lpstr>
      <vt:lpstr>Arial</vt:lpstr>
      <vt:lpstr>Calibri</vt:lpstr>
      <vt:lpstr>Calibri Light</vt:lpstr>
      <vt:lpstr>Tw Cen MT</vt:lpstr>
      <vt:lpstr>Wingdings 3</vt:lpstr>
      <vt:lpstr>Integral</vt:lpstr>
      <vt:lpstr>All decks should start with this slide</vt:lpstr>
      <vt:lpstr>PowerPoint Presentation</vt:lpstr>
      <vt:lpstr>Content slide with picture</vt:lpstr>
      <vt:lpstr>Content slide with picture</vt:lpstr>
      <vt:lpstr>Alternative divider slide</vt:lpstr>
      <vt:lpstr>PowerPoint Presentation</vt:lpstr>
      <vt:lpstr>PowerPoint Presentation</vt:lpstr>
      <vt:lpstr>PowerPoint Presentation</vt:lpstr>
      <vt:lpstr>Useful slides / graphics</vt:lpstr>
      <vt:lpstr> Health and Social Care Planning: Update </vt:lpstr>
      <vt:lpstr>[Example]</vt:lpstr>
      <vt:lpstr>The New Hospital Programme</vt:lpstr>
      <vt:lpstr>Useful icons / graphics  (copy &amp; paste)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Quantifying the impacts of hospitals increasing single bed room provision</dc:title>
  <dc:creator>Andy Hood | Analytics Manager | Strategy Unit | May 2025</dc:creator>
  <cp:keywords/>
  <dcterms:created xsi:type="dcterms:W3CDTF">2025-06-10T14:47:53Z</dcterms:created>
  <dcterms:modified xsi:type="dcterms:W3CDTF">2025-06-10T14:47:53Z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source</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